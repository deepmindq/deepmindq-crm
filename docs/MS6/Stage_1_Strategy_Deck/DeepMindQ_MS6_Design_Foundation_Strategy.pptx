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MS6 Design Foundation Strategy Deck. MS6 is not a coding milestone — it is the design DNA, UX architecture, and experience foundation that will govern all development from MS7 through MS11. Everything in this deck represents locked decisions that shape the entire product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8 key areas. We will establish the experience promise, define the VP Sales mental model as our north star, articulate the Intelligence as Executive Briefing philosophy, introduce the 5-Question Framework, detail the new information architecture, establish trust visualization principles, lock in emotional design DNA, and show the transformation from current state to future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MS6 exists because we have a critical gap. We have powerful intelligence engines, sophisticated data pipelines, and advanced AI capabilities — but the experience layer does not serve the user. MS6 bridges that gap between capability and usability.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Experience Promise is our contract with the user. It is not a feature list. It is the outcome we guarantee. Every design decision in MS6 is measured against this promise. If a component, interaction, or flow does not serve this promise, it does not belong in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intelligence gap is the distance between our technical capability and the user experience. We have the data, the engines, the algorithms — but the current experience dumps information without context, priority, or actionability. MS6 closes this gap fundamentally.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UX decision in DeepMindQ passes through one filter: Would a VP Sales trust this? Would they use this every morning? The VP Sales is not a demographic — it is a decision-making mindset that represents our primary user archetype.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VP Sales mental model is not about demographics or job titles. It is about cognitive patterns. This persona represents anyone who is time-scarce, trust-sensitive, and action-oriented. If we serve this mindset, we serve all power users. The 5 morning questions become the structural backbone of the entire Intelligence 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design principle in MS6. Intelligence as Executive Briefing is not a feature — it is the fundamental paradigm shift that differentiates DeepMindQ from every other CRM intelligence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Design Pattern #1 and it overrides everything else. The distinction between briefing and direction is subtle but critical. An executive briefing gives the reader context, analysis, and recommendations — but the executive makes the decision. This is the relationship DeepMindQ must have with its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5-Question Framework is the structural backbone of the Intelligence Hub. It is not a feature — it is an information architecture constraint. Every card, signal, recommendation, and action in the Hub must map to one of these five questions. This prevents the Hub from becoming an overloaded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Chapters 4 and 5 cover the structural architecture of the experience — how users navigate, how information reveals itself, and how trust is visualized. These three pillars form the interaction model that makes the Intelligence Hub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 IA. The Intelligence Hub is the primary experience. It is the Executive Briefing Room. The other 6 experiences are deeper intelligence environments. The 75+ screens that exist today remain — they are accessible through progressive disclosure within each experience, not as navigation items. This reduces cognitive load from 76 choices to 7, with depth available on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disclosure is the mechanism that makes Intelligence as Executive Briefing work. Not every user needs the same depth. A VP Sales who trusts the system after weeks of use may never drill past Level 1. A new user or a skeptic will want Level 3 evidence. The key insight: each level is independently accessible and answers a specific cognitive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all 6 existing Intelligence OS components against MS6 principles. Three components — ConfidenceIndicator, EvidenceChain, and InlineReasoning — align well and will be incorporated with refinements. Three components — IntelligenceNarrative, ProgressiveDisclosure, and RecommendationCard — have the right conceptual patterns but need significant redesign to meet cognitive load reduction and premium enterprise standards. The key takeaway: we are not throwing away existing work. We are unifying it into one consistent experience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Chapters 6 and 7 establish the emotional and visual DNA of the product. Enterprise software does not have to feel cold. Emotional design principles and a premium visual language work together to create trust, reduce anxiety, and make the experience feel like a high-value tool worthy of an executive's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Chapters 6 and 7 establish the emotional and visual DNA of the product. Enterprise software does not have to feel cold. Emotional design principles and a premium visual language work together to create trust, reduce anxiety, and make the experience feel like a high-value tool worthy of an executive's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emotional design patterns are selected from the 72-point behavioral psychology checklist. They are the first to be implemented because they have the highest impact on trust and engagement. Loss aversion motivates action. Emotional copywriting reduces friction. The endowment effect increases retention. Compassionate error handling prevents abandonment. Together, they make the experience feel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visual language follows three principles: premium dark enterprise aesthetic, confidence-coded color system, and atomic component architecture. Every visual element serves the intelligence briefing paradigm. The component system follows atomic design — tokens, atoms, molecules, organisms — ensuring consistency and composability across all 7 experiences.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It shows the transformation visually and concretely. The current Executive Dashboard has 12 KPI cards, activity feeds, pipeline stages, and audit logs — but a VP Sales looking at it cannot immediately answer: what matters? What changed? What should I do? Why trust this? The Intelligence Hub transforms this from a data display into an executive briefing. The same intelligence exists — but it is now structured, prioritized, and actionable. We are not removing intelligence. We are making intelligence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MS6 does not build screens. MS6 builds the foundation that governs how screens are built. Each subsequent milestone extends the design DNA. The 5-question gate ensures consistency: before any screen is developed in MS7-MS11, it must answer these five questions. This prevents scope creep and design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15 patterns are locked for MS6. They represent the intersection of our 72-point behavioral psychology checklist and the most impactful design interventions. Each pattern will be implemented across the Intelligence Hub and all 7 experiences. The remaining patterns from the 72-point checklist will be applied progressively through MS7–MS11 as specific screens are developed.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6 decisions are locked. They were made through extensive discussion and represent fundamental choices about the product direction. Changing any of these decisions after MS6 approval requires a formal review process. They are the guardrails that keep the product consistent through MS7–MS11.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this deck is approved, we proceed through three phases. Phase 1 produces the supporting documentation — the detailed specs behind the strategic decisions in this deck. Phase 2 builds the design system foundation — unified tokens, component library, and interaction patterns. Phase 3 prepares for MS7 — wireframes, validated layouts, and the development plan. MS6 does not produce production code. MS6 produces the design DNA that makes production code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735025" y="620725"/>
            <a:ext cx="1993106" cy="1993106"/>
          </a:xfrm>
          <a:prstGeom prst="ellipse">
            <a:avLst/>
          </a:prstGeom>
          <a:noFill/>
          <a:ln w="7144">
            <a:solidFill>
              <a:srgbClr val="3B82F6"/>
            </a:solidFill>
            <a:prstDash val="solid"/>
          </a:ln>
        </p:spPr>
        <p:txBody>
          <a:bodyPr wrap="square" rtlCol="0" anchor="ctr"/>
          <a:lstStyle/>
          <a:p>
            <a:pPr indent="0" marL="0">
              <a:buNone/>
            </a:pPr>
            <a:endParaRPr lang="en-US" dirty="0"/>
          </a:p>
        </p:txBody>
      </p:sp>
      <p:sp>
        <p:nvSpPr>
          <p:cNvPr id="5" name="Text 1"/>
          <p:cNvSpPr/>
          <p:nvPr/>
        </p:nvSpPr>
        <p:spPr>
          <a:xfrm>
            <a:off x="6947297" y="3089672"/>
            <a:ext cx="1278731" cy="1278731"/>
          </a:xfrm>
          <a:prstGeom prst="ellipse">
            <a:avLst/>
          </a:prstGeom>
          <a:noFill/>
          <a:ln w="7144">
            <a:solidFill>
              <a:srgbClr val="8B5CF6"/>
            </a:solidFill>
            <a:prstDash val="solid"/>
          </a:ln>
        </p:spPr>
        <p:txBody>
          <a:bodyPr wrap="square" rtlCol="0" anchor="ctr"/>
          <a:lstStyle/>
          <a:p>
            <a:pPr indent="0" marL="0">
              <a:buNone/>
            </a:pPr>
            <a:endParaRPr lang="en-US" dirty="0"/>
          </a:p>
        </p:txBody>
      </p:sp>
      <p:pic>
        <p:nvPicPr>
          <p:cNvPr id="6" name="Image 2" descr="preencoded.png">    </p:cNvPr>
          <p:cNvPicPr>
            <a:picLocks noChangeAspect="1"/>
          </p:cNvPicPr>
          <p:nvPr/>
        </p:nvPicPr>
        <p:blipFill>
          <a:blip r:embed="rId3"/>
          <a:stretch>
            <a:fillRect/>
          </a:stretch>
        </p:blipFill>
        <p:spPr>
          <a:xfrm>
            <a:off x="7765256" y="0"/>
            <a:ext cx="7144" cy="5143500"/>
          </a:xfrm>
          <a:prstGeom prst="rect">
            <a:avLst/>
          </a:prstGeom>
        </p:spPr>
      </p:pic>
      <p:pic>
        <p:nvPicPr>
          <p:cNvPr id="7" name="Image 3" descr="preencoded.png">    </p:cNvPr>
          <p:cNvPicPr>
            <a:picLocks noChangeAspect="1"/>
          </p:cNvPicPr>
          <p:nvPr/>
        </p:nvPicPr>
        <p:blipFill>
          <a:blip r:embed="rId4"/>
          <a:stretch>
            <a:fillRect/>
          </a:stretch>
        </p:blipFill>
        <p:spPr>
          <a:xfrm>
            <a:off x="0" y="1800225"/>
            <a:ext cx="9144000" cy="7144"/>
          </a:xfrm>
          <a:prstGeom prst="rect">
            <a:avLst/>
          </a:prstGeom>
        </p:spPr>
      </p:pic>
      <p:sp>
        <p:nvSpPr>
          <p:cNvPr id="8" name="Text 2"/>
          <p:cNvSpPr/>
          <p:nvPr/>
        </p:nvSpPr>
        <p:spPr>
          <a:xfrm>
            <a:off x="3158430" y="1026244"/>
            <a:ext cx="2827027" cy="201364"/>
          </a:xfrm>
          <a:prstGeom prst="roundRect">
            <a:avLst>
              <a:gd name="adj" fmla="val 47297667"/>
            </a:avLst>
          </a:prstGeom>
          <a:solidFill>
            <a:srgbClr val="3B82F6">
              <a:alpha val="15000"/>
            </a:srgbClr>
          </a:solidFill>
          <a:ln w="7144">
            <a:solidFill>
              <a:srgbClr val="3B82F6"/>
            </a:solidFill>
            <a:prstDash val="solid"/>
          </a:ln>
        </p:spPr>
        <p:txBody>
          <a:bodyPr wrap="square" rtlCol="0" anchor="ctr"/>
          <a:lstStyle/>
          <a:p>
            <a:pPr indent="0" marL="0">
              <a:buNone/>
            </a:pPr>
            <a:endParaRPr lang="en-US" dirty="0"/>
          </a:p>
        </p:txBody>
      </p:sp>
      <p:sp>
        <p:nvSpPr>
          <p:cNvPr id="9" name="Text 3"/>
          <p:cNvSpPr/>
          <p:nvPr/>
        </p:nvSpPr>
        <p:spPr>
          <a:xfrm>
            <a:off x="3390602" y="1072679"/>
            <a:ext cx="2505559" cy="128588"/>
          </a:xfrm>
          <a:prstGeom prst="rect">
            <a:avLst/>
          </a:prstGeom>
          <a:noFill/>
          <a:ln/>
        </p:spPr>
        <p:txBody>
          <a:bodyPr wrap="square" lIns="85725" tIns="28575" rIns="85725" bIns="28575" rtlCol="0" anchor="t"/>
          <a:lstStyle/>
          <a:p>
            <a:pPr algn="ctr" indent="0" marL="0">
              <a:lnSpc>
                <a:spcPts val="1080"/>
              </a:lnSpc>
              <a:buNone/>
            </a:pPr>
            <a:r>
              <a:rPr lang="en-US" sz="800" spc="36" kern="0" dirty="0">
                <a:solidFill>
                  <a:srgbClr val="60A5FA"/>
                </a:solidFill>
                <a:latin typeface="Carlito" pitchFamily="34" charset="0"/>
                <a:ea typeface="Carlito" pitchFamily="34" charset="-122"/>
                <a:cs typeface="Carlito" pitchFamily="34" charset="-120"/>
              </a:rPr>
              <a:t>DEEPMINDQ CRM · MS6 DESIGN FOUNDATION</a:t>
            </a:r>
            <a:endParaRPr lang="en-US" sz="800" dirty="0"/>
          </a:p>
        </p:txBody>
      </p:sp>
      <p:sp>
        <p:nvSpPr>
          <p:cNvPr id="10" name="Text 4"/>
          <p:cNvSpPr/>
          <p:nvPr/>
        </p:nvSpPr>
        <p:spPr>
          <a:xfrm>
            <a:off x="3247727" y="1076920"/>
            <a:ext cx="100013" cy="100013"/>
          </a:xfrm>
          <a:prstGeom prst="rect">
            <a:avLst/>
          </a:prstGeom>
          <a:noFill/>
          <a:ln/>
        </p:spPr>
        <p:txBody>
          <a:bodyPr wrap="none" lIns="0" tIns="0" rIns="0" bIns="0" rtlCol="0" anchor="ctr"/>
          <a:lstStyle/>
          <a:p>
            <a:pPr algn="ctr" indent="0" marL="0">
              <a:buNone/>
            </a:pPr>
            <a:r>
              <a:rPr lang="en-US" sz="984" dirty="0">
                <a:solidFill>
                  <a:srgbClr val="60A5FA"/>
                </a:solidFill>
                <a:latin typeface="Segoe UI Symbol" pitchFamily="34" charset="0"/>
                <a:ea typeface="Segoe UI Symbol" pitchFamily="34" charset="-122"/>
                <a:cs typeface="Segoe UI Symbol" pitchFamily="34" charset="-120"/>
              </a:rPr>
              <a:t>✦</a:t>
            </a:r>
            <a:endParaRPr lang="en-US" sz="984" dirty="0"/>
          </a:p>
        </p:txBody>
      </p:sp>
      <p:sp>
        <p:nvSpPr>
          <p:cNvPr id="11" name="Text 5"/>
          <p:cNvSpPr/>
          <p:nvPr/>
        </p:nvSpPr>
        <p:spPr>
          <a:xfrm>
            <a:off x="274320" y="1459781"/>
            <a:ext cx="8595360" cy="740664"/>
          </a:xfrm>
          <a:prstGeom prst="rect">
            <a:avLst/>
          </a:prstGeom>
          <a:noFill/>
          <a:ln/>
        </p:spPr>
        <p:txBody>
          <a:bodyPr wrap="none" lIns="0" tIns="0" rIns="0" bIns="0" rtlCol="0" anchor="t"/>
          <a:lstStyle/>
          <a:p>
            <a:pPr algn="ctr" indent="0" marL="0">
              <a:lnSpc>
                <a:spcPts val="5400"/>
              </a:lnSpc>
              <a:buNone/>
            </a:pPr>
            <a:r>
              <a:rPr lang="en-US" sz="5400" b="1" spc="-162" kern="0" dirty="0">
                <a:solidFill>
                  <a:srgbClr val="E8ECF4"/>
                </a:solidFill>
                <a:latin typeface="Liberation Sans Narrow" pitchFamily="34" charset="0"/>
                <a:ea typeface="Liberation Sans Narrow" pitchFamily="34" charset="-122"/>
                <a:cs typeface="Liberation Sans Narrow" pitchFamily="34" charset="-120"/>
              </a:rPr>
              <a:t>MS6</a:t>
            </a:r>
            <a:endParaRPr lang="en-US" sz="5400" dirty="0"/>
          </a:p>
        </p:txBody>
      </p:sp>
      <p:sp>
        <p:nvSpPr>
          <p:cNvPr id="12" name="Text 6"/>
          <p:cNvSpPr/>
          <p:nvPr/>
        </p:nvSpPr>
        <p:spPr>
          <a:xfrm>
            <a:off x="2431862" y="2231306"/>
            <a:ext cx="4280276" cy="300895"/>
          </a:xfrm>
          <a:prstGeom prst="rect">
            <a:avLst/>
          </a:prstGeom>
          <a:noFill/>
          <a:ln/>
        </p:spPr>
        <p:txBody>
          <a:bodyPr wrap="square" lIns="0" tIns="0" rIns="0" bIns="0" rtlCol="0" anchor="t"/>
          <a:lstStyle/>
          <a:p>
            <a:pPr algn="ctr" indent="0" marL="0">
              <a:lnSpc>
                <a:spcPts val="2194"/>
              </a:lnSpc>
              <a:buNone/>
            </a:pPr>
            <a:r>
              <a:rPr lang="en-US" sz="1463" spc="15" kern="0" dirty="0">
                <a:solidFill>
                  <a:srgbClr val="8B95AD"/>
                </a:solidFill>
                <a:latin typeface="Carlito" pitchFamily="34" charset="0"/>
                <a:ea typeface="Carlito" pitchFamily="34" charset="-122"/>
                <a:cs typeface="Carlito" pitchFamily="34" charset="-120"/>
              </a:rPr>
              <a:t>Design Foundation &amp; Experience Strategy</a:t>
            </a:r>
            <a:endParaRPr lang="en-US" sz="1463" dirty="0"/>
          </a:p>
        </p:txBody>
      </p:sp>
      <p:sp>
        <p:nvSpPr>
          <p:cNvPr id="13" name="Text 7"/>
          <p:cNvSpPr/>
          <p:nvPr/>
        </p:nvSpPr>
        <p:spPr>
          <a:xfrm>
            <a:off x="4286250" y="2709937"/>
            <a:ext cx="5715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14" name="Text 8"/>
          <p:cNvSpPr/>
          <p:nvPr/>
        </p:nvSpPr>
        <p:spPr>
          <a:xfrm>
            <a:off x="3300792" y="2931393"/>
            <a:ext cx="2542416" cy="219885"/>
          </a:xfrm>
          <a:prstGeom prst="rect">
            <a:avLst/>
          </a:prstGeom>
          <a:noFill/>
          <a:ln/>
        </p:spPr>
        <p:txBody>
          <a:bodyPr wrap="square" lIns="0" tIns="0" rIns="0" bIns="0" rtlCol="0" anchor="t"/>
          <a:lstStyle/>
          <a:p>
            <a:pPr algn="ctr" indent="0" marL="0">
              <a:lnSpc>
                <a:spcPts val="1603"/>
              </a:lnSpc>
              <a:buNone/>
            </a:pPr>
            <a:r>
              <a:rPr lang="en-US" sz="1069" i="1" spc="21" kern="0" dirty="0">
                <a:solidFill>
                  <a:srgbClr val="3B82F6"/>
                </a:solidFill>
                <a:latin typeface="Carlito" pitchFamily="34" charset="0"/>
                <a:ea typeface="Carlito" pitchFamily="34" charset="-122"/>
                <a:cs typeface="Carlito" pitchFamily="34" charset="-120"/>
              </a:rPr>
              <a:t>Intelligence as Executive Briefing</a:t>
            </a:r>
            <a:endParaRPr lang="en-US" sz="1069" dirty="0"/>
          </a:p>
        </p:txBody>
      </p:sp>
      <p:sp>
        <p:nvSpPr>
          <p:cNvPr id="15" name="Text 9"/>
          <p:cNvSpPr/>
          <p:nvPr/>
        </p:nvSpPr>
        <p:spPr>
          <a:xfrm>
            <a:off x="2289123" y="3500438"/>
            <a:ext cx="1706468" cy="164485"/>
          </a:xfrm>
          <a:prstGeom prst="rect">
            <a:avLst/>
          </a:prstGeom>
          <a:noFill/>
          <a:ln/>
        </p:spPr>
        <p:txBody>
          <a:bodyPr wrap="none" lIns="0" tIns="0" rIns="0" bIns="0" rtlCol="0" anchor="t"/>
          <a:lstStyle/>
          <a:p>
            <a:pPr algn="ctr" indent="0" marL="0">
              <a:lnSpc>
                <a:spcPts val="1080"/>
              </a:lnSpc>
              <a:buNone/>
            </a:pPr>
            <a:r>
              <a:rPr lang="en-US" sz="800" spc="36" kern="0" dirty="0">
                <a:solidFill>
                  <a:srgbClr val="8B95AD"/>
                </a:solidFill>
                <a:latin typeface="Liberation Sans Narrow" pitchFamily="34" charset="0"/>
                <a:ea typeface="Liberation Sans Narrow" pitchFamily="34" charset="-122"/>
                <a:cs typeface="Liberation Sans Narrow" pitchFamily="34" charset="-120"/>
              </a:rPr>
              <a:t>Stage 1 — UX Architecture</a:t>
            </a:r>
            <a:endParaRPr lang="en-US" sz="800" dirty="0"/>
          </a:p>
        </p:txBody>
      </p:sp>
      <p:sp>
        <p:nvSpPr>
          <p:cNvPr id="16" name="Text 10"/>
          <p:cNvSpPr/>
          <p:nvPr/>
        </p:nvSpPr>
        <p:spPr>
          <a:xfrm>
            <a:off x="3990253" y="3477890"/>
            <a:ext cx="91440" cy="196739"/>
          </a:xfrm>
          <a:prstGeom prst="rect">
            <a:avLst/>
          </a:prstGeom>
          <a:noFill/>
          <a:ln/>
        </p:spPr>
        <p:txBody>
          <a:bodyPr wrap="none" lIns="0" tIns="0" rIns="0" bIns="0" rtlCol="0" anchor="t"/>
          <a:lstStyle/>
          <a:p>
            <a:pPr algn="ctr" indent="0" marL="0">
              <a:lnSpc>
                <a:spcPts val="1434"/>
              </a:lnSpc>
              <a:buNone/>
            </a:pPr>
            <a:r>
              <a:rPr lang="en-US" sz="956" dirty="0">
                <a:solidFill>
                  <a:srgbClr val="2D3854"/>
                </a:solidFill>
                <a:latin typeface="Carlito" pitchFamily="34" charset="0"/>
                <a:ea typeface="Carlito" pitchFamily="34" charset="-122"/>
                <a:cs typeface="Carlito" pitchFamily="34" charset="-120"/>
              </a:rPr>
              <a:t>·</a:t>
            </a:r>
            <a:endParaRPr lang="en-US" sz="956" dirty="0"/>
          </a:p>
        </p:txBody>
      </p:sp>
      <p:sp>
        <p:nvSpPr>
          <p:cNvPr id="17" name="Text 11"/>
          <p:cNvSpPr/>
          <p:nvPr/>
        </p:nvSpPr>
        <p:spPr>
          <a:xfrm>
            <a:off x="4055360" y="3500438"/>
            <a:ext cx="1569843" cy="164485"/>
          </a:xfrm>
          <a:prstGeom prst="rect">
            <a:avLst/>
          </a:prstGeom>
          <a:noFill/>
          <a:ln/>
        </p:spPr>
        <p:txBody>
          <a:bodyPr wrap="none" lIns="0" tIns="0" rIns="0" bIns="0" rtlCol="0" anchor="t"/>
          <a:lstStyle/>
          <a:p>
            <a:pPr algn="ctr" indent="0" marL="0">
              <a:lnSpc>
                <a:spcPts val="1080"/>
              </a:lnSpc>
              <a:buNone/>
            </a:pPr>
            <a:r>
              <a:rPr lang="en-US" sz="800" spc="36" kern="0" dirty="0">
                <a:solidFill>
                  <a:srgbClr val="8B95AD"/>
                </a:solidFill>
                <a:latin typeface="Liberation Sans Narrow" pitchFamily="34" charset="0"/>
                <a:ea typeface="Liberation Sans Narrow" pitchFamily="34" charset="-122"/>
                <a:cs typeface="Liberation Sans Narrow" pitchFamily="34" charset="-120"/>
              </a:rPr>
              <a:t>15 Core Design Patterns</a:t>
            </a:r>
            <a:endParaRPr lang="en-US" sz="800" dirty="0"/>
          </a:p>
        </p:txBody>
      </p:sp>
      <p:sp>
        <p:nvSpPr>
          <p:cNvPr id="18" name="Text 12"/>
          <p:cNvSpPr/>
          <p:nvPr/>
        </p:nvSpPr>
        <p:spPr>
          <a:xfrm>
            <a:off x="5628516" y="3477890"/>
            <a:ext cx="91440" cy="196739"/>
          </a:xfrm>
          <a:prstGeom prst="rect">
            <a:avLst/>
          </a:prstGeom>
          <a:noFill/>
          <a:ln/>
        </p:spPr>
        <p:txBody>
          <a:bodyPr wrap="none" lIns="0" tIns="0" rIns="0" bIns="0" rtlCol="0" anchor="t"/>
          <a:lstStyle/>
          <a:p>
            <a:pPr algn="ctr" indent="0" marL="0">
              <a:lnSpc>
                <a:spcPts val="1434"/>
              </a:lnSpc>
              <a:buNone/>
            </a:pPr>
            <a:r>
              <a:rPr lang="en-US" sz="956" dirty="0">
                <a:solidFill>
                  <a:srgbClr val="2D3854"/>
                </a:solidFill>
                <a:latin typeface="Carlito" pitchFamily="34" charset="0"/>
                <a:ea typeface="Carlito" pitchFamily="34" charset="-122"/>
                <a:cs typeface="Carlito" pitchFamily="34" charset="-120"/>
              </a:rPr>
              <a:t>·</a:t>
            </a:r>
            <a:endParaRPr lang="en-US" sz="956" dirty="0"/>
          </a:p>
        </p:txBody>
      </p:sp>
      <p:sp>
        <p:nvSpPr>
          <p:cNvPr id="19" name="Text 13"/>
          <p:cNvSpPr/>
          <p:nvPr/>
        </p:nvSpPr>
        <p:spPr>
          <a:xfrm>
            <a:off x="5689536" y="3500438"/>
            <a:ext cx="1160777" cy="164485"/>
          </a:xfrm>
          <a:prstGeom prst="rect">
            <a:avLst/>
          </a:prstGeom>
          <a:noFill/>
          <a:ln/>
        </p:spPr>
        <p:txBody>
          <a:bodyPr wrap="none" lIns="0" tIns="0" rIns="0" bIns="0" rtlCol="0" anchor="t"/>
          <a:lstStyle/>
          <a:p>
            <a:pPr algn="ctr" indent="0" marL="0">
              <a:lnSpc>
                <a:spcPts val="1080"/>
              </a:lnSpc>
              <a:buNone/>
            </a:pPr>
            <a:r>
              <a:rPr lang="en-US" sz="800" spc="36" kern="0" dirty="0">
                <a:solidFill>
                  <a:srgbClr val="8B95AD"/>
                </a:solidFill>
                <a:latin typeface="Courier New" pitchFamily="34" charset="0"/>
                <a:ea typeface="Courier New" pitchFamily="34" charset="-122"/>
                <a:cs typeface="Courier New" pitchFamily="34" charset="-120"/>
              </a:rPr>
              <a:t>Locked Decisions</a:t>
            </a:r>
            <a:endParaRPr lang="en-US" sz="800" dirty="0"/>
          </a:p>
        </p:txBody>
      </p:sp>
      <p:sp>
        <p:nvSpPr>
          <p:cNvPr id="20" name="Text 14"/>
          <p:cNvSpPr/>
          <p:nvPr/>
        </p:nvSpPr>
        <p:spPr>
          <a:xfrm>
            <a:off x="3274456" y="4002956"/>
            <a:ext cx="2595087" cy="164592"/>
          </a:xfrm>
          <a:prstGeom prst="rect">
            <a:avLst/>
          </a:prstGeom>
          <a:noFill/>
          <a:ln/>
        </p:spPr>
        <p:txBody>
          <a:bodyPr wrap="square" lIns="0" tIns="0" rIns="0" bIns="0" rtlCol="0" anchor="t"/>
          <a:lstStyle/>
          <a:p>
            <a:pPr algn="ctr" indent="0" marL="0">
              <a:lnSpc>
                <a:spcPts val="928"/>
              </a:lnSpc>
              <a:buNone/>
            </a:pPr>
            <a:r>
              <a:rPr lang="en-US" sz="800" spc="93" kern="0" dirty="0">
                <a:solidFill>
                  <a:srgbClr val="8B95AD">
                    <a:alpha val="50000"/>
                  </a:srgbClr>
                </a:solidFill>
                <a:latin typeface="Carlito" pitchFamily="34" charset="0"/>
                <a:ea typeface="Carlito" pitchFamily="34" charset="-122"/>
                <a:cs typeface="Carlito" pitchFamily="34" charset="-120"/>
              </a:rPr>
              <a:t>CONFIDENTIAL · FOR INTERNAL REVIEW ONLY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457200" y="457200"/>
            <a:ext cx="8636000" cy="416624"/>
          </a:xfrm>
          <a:prstGeom prst="rect">
            <a:avLst/>
          </a:prstGeom>
          <a:noFill/>
          <a:ln/>
        </p:spPr>
        <p:txBody>
          <a:bodyPr wrap="none" lIns="0" tIns="0" rIns="0" bIns="0" rtlCol="0" anchor="t"/>
          <a:lstStyle/>
          <a:p>
            <a:pPr algn="l" indent="0" marL="0">
              <a:lnSpc>
                <a:spcPts val="3038"/>
              </a:lnSpc>
              <a:buNone/>
            </a:pPr>
            <a:r>
              <a:rPr lang="en-US" sz="2025" b="1" dirty="0">
                <a:solidFill>
                  <a:srgbClr val="E8ECF4"/>
                </a:solidFill>
                <a:latin typeface="Carlito" pitchFamily="34" charset="0"/>
                <a:ea typeface="Carlito" pitchFamily="34" charset="-122"/>
                <a:cs typeface="Carlito" pitchFamily="34" charset="-120"/>
              </a:rPr>
              <a:t>Agenda</a:t>
            </a:r>
            <a:endParaRPr lang="en-US" sz="2025" dirty="0"/>
          </a:p>
        </p:txBody>
      </p:sp>
      <p:sp>
        <p:nvSpPr>
          <p:cNvPr id="3" name="Text 1"/>
          <p:cNvSpPr/>
          <p:nvPr/>
        </p:nvSpPr>
        <p:spPr>
          <a:xfrm>
            <a:off x="457200" y="928688"/>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4" name="Text 2"/>
          <p:cNvSpPr/>
          <p:nvPr/>
        </p:nvSpPr>
        <p:spPr>
          <a:xfrm>
            <a:off x="628650" y="1478756"/>
            <a:ext cx="548640" cy="246888"/>
          </a:xfrm>
          <a:prstGeom prst="rect">
            <a:avLst/>
          </a:prstGeom>
          <a:noFill/>
          <a:ln/>
        </p:spPr>
        <p:txBody>
          <a:bodyPr wrap="none" lIns="0" tIns="14288" rIns="0" bIns="0" rtlCol="0" anchor="t"/>
          <a:lstStyle/>
          <a:p>
            <a:pPr algn="l" indent="0" marL="0">
              <a:lnSpc>
                <a:spcPts val="1688"/>
              </a:lnSpc>
              <a:buNone/>
            </a:pPr>
            <a:r>
              <a:rPr lang="en-US" sz="1688" dirty="0">
                <a:solidFill>
                  <a:srgbClr val="3B82F6"/>
                </a:solidFill>
                <a:latin typeface="Liberation Sans Narrow" pitchFamily="34" charset="0"/>
                <a:ea typeface="Liberation Sans Narrow" pitchFamily="34" charset="-122"/>
                <a:cs typeface="Liberation Sans Narrow" pitchFamily="34" charset="-120"/>
              </a:rPr>
              <a:t>01</a:t>
            </a:r>
            <a:endParaRPr lang="en-US" sz="1688" dirty="0"/>
          </a:p>
        </p:txBody>
      </p:sp>
      <p:sp>
        <p:nvSpPr>
          <p:cNvPr id="5" name="Text 3"/>
          <p:cNvSpPr/>
          <p:nvPr/>
        </p:nvSpPr>
        <p:spPr>
          <a:xfrm>
            <a:off x="1114425" y="1478756"/>
            <a:ext cx="1690875" cy="155627"/>
          </a:xfrm>
          <a:prstGeom prst="rect">
            <a:avLst/>
          </a:prstGeom>
          <a:noFill/>
          <a:ln/>
        </p:spPr>
        <p:txBody>
          <a:bodyPr wrap="none" lIns="0" tIns="0" rIns="0" bIns="0" rtlCol="0" anchor="t">
            <a:normAutofit/>
          </a:bodyPr>
          <a:lstStyle/>
          <a:p>
            <a:pPr algn="l" indent="0" marL="0">
              <a:lnSpc>
                <a:spcPts val="1217"/>
              </a:lnSpc>
              <a:buNone/>
            </a:pPr>
            <a:r>
              <a:rPr lang="en-US" sz="936" dirty="0">
                <a:solidFill>
                  <a:srgbClr val="E8ECF4"/>
                </a:solidFill>
                <a:latin typeface="Carlito" pitchFamily="34" charset="0"/>
                <a:ea typeface="Carlito" pitchFamily="34" charset="-122"/>
                <a:cs typeface="Carlito" pitchFamily="34" charset="-120"/>
              </a:rPr>
              <a:t>The Experience Promise</a:t>
            </a:r>
            <a:endParaRPr lang="en-US" sz="936" dirty="0"/>
          </a:p>
        </p:txBody>
      </p:sp>
      <p:sp>
        <p:nvSpPr>
          <p:cNvPr id="6" name="Text 4"/>
          <p:cNvSpPr/>
          <p:nvPr/>
        </p:nvSpPr>
        <p:spPr>
          <a:xfrm>
            <a:off x="1114425" y="1661815"/>
            <a:ext cx="1690875" cy="150019"/>
          </a:xfrm>
          <a:prstGeom prst="rect">
            <a:avLst/>
          </a:prstGeom>
          <a:noFill/>
          <a:ln/>
        </p:spPr>
        <p:txBody>
          <a:bodyPr wrap="none" lIns="0" tIns="0" rIns="0" bIns="0" rtlCol="0" anchor="t"/>
          <a:lstStyle/>
          <a:p>
            <a:pPr algn="l" indent="0" marL="0">
              <a:lnSpc>
                <a:spcPts val="1181"/>
              </a:lnSpc>
              <a:buNone/>
            </a:pPr>
            <a:r>
              <a:rPr lang="en-US" sz="844" dirty="0">
                <a:solidFill>
                  <a:srgbClr val="8B95AD"/>
                </a:solidFill>
                <a:latin typeface="Liberation Sans Narrow" pitchFamily="34" charset="0"/>
                <a:ea typeface="Liberation Sans Narrow" pitchFamily="34" charset="-122"/>
                <a:cs typeface="Liberation Sans Narrow" pitchFamily="34" charset="-120"/>
              </a:rPr>
              <a:t>Why MS6 Exists</a:t>
            </a:r>
            <a:endParaRPr lang="en-US" sz="844" dirty="0"/>
          </a:p>
        </p:txBody>
      </p:sp>
      <p:sp>
        <p:nvSpPr>
          <p:cNvPr id="7" name="Text 5"/>
          <p:cNvSpPr/>
          <p:nvPr/>
        </p:nvSpPr>
        <p:spPr>
          <a:xfrm>
            <a:off x="628650" y="1940421"/>
            <a:ext cx="3629025" cy="7144"/>
          </a:xfrm>
          <a:prstGeom prst="rect">
            <a:avLst/>
          </a:prstGeom>
          <a:solidFill>
            <a:srgbClr val="252E42"/>
          </a:solidFill>
          <a:ln/>
        </p:spPr>
        <p:txBody>
          <a:bodyPr wrap="square" rtlCol="0" anchor="ctr"/>
          <a:lstStyle/>
          <a:p>
            <a:pPr indent="0" marL="0">
              <a:buNone/>
            </a:pPr>
            <a:endParaRPr lang="en-US" dirty="0"/>
          </a:p>
        </p:txBody>
      </p:sp>
      <p:sp>
        <p:nvSpPr>
          <p:cNvPr id="8" name="Text 6"/>
          <p:cNvSpPr/>
          <p:nvPr/>
        </p:nvSpPr>
        <p:spPr>
          <a:xfrm>
            <a:off x="628650" y="2076152"/>
            <a:ext cx="548640" cy="246888"/>
          </a:xfrm>
          <a:prstGeom prst="rect">
            <a:avLst/>
          </a:prstGeom>
          <a:noFill/>
          <a:ln/>
        </p:spPr>
        <p:txBody>
          <a:bodyPr wrap="none" lIns="0" tIns="14288" rIns="0" bIns="0" rtlCol="0" anchor="t"/>
          <a:lstStyle/>
          <a:p>
            <a:pPr algn="l" indent="0" marL="0">
              <a:lnSpc>
                <a:spcPts val="1688"/>
              </a:lnSpc>
              <a:buNone/>
            </a:pPr>
            <a:r>
              <a:rPr lang="en-US" sz="1688" dirty="0">
                <a:solidFill>
                  <a:srgbClr val="3B82F6"/>
                </a:solidFill>
                <a:latin typeface="Liberation Sans Narrow" pitchFamily="34" charset="0"/>
                <a:ea typeface="Liberation Sans Narrow" pitchFamily="34" charset="-122"/>
                <a:cs typeface="Liberation Sans Narrow" pitchFamily="34" charset="-120"/>
              </a:rPr>
              <a:t>02</a:t>
            </a:r>
            <a:endParaRPr lang="en-US" sz="1688" dirty="0"/>
          </a:p>
        </p:txBody>
      </p:sp>
      <p:sp>
        <p:nvSpPr>
          <p:cNvPr id="9" name="Text 7"/>
          <p:cNvSpPr/>
          <p:nvPr/>
        </p:nvSpPr>
        <p:spPr>
          <a:xfrm>
            <a:off x="1114425" y="2076152"/>
            <a:ext cx="1604029" cy="155627"/>
          </a:xfrm>
          <a:prstGeom prst="rect">
            <a:avLst/>
          </a:prstGeom>
          <a:noFill/>
          <a:ln/>
        </p:spPr>
        <p:txBody>
          <a:bodyPr wrap="none" lIns="0" tIns="0" rIns="0" bIns="0" rtlCol="0" anchor="t">
            <a:normAutofit/>
          </a:bodyPr>
          <a:lstStyle/>
          <a:p>
            <a:pPr algn="l" indent="0" marL="0">
              <a:lnSpc>
                <a:spcPts val="1217"/>
              </a:lnSpc>
              <a:buNone/>
            </a:pPr>
            <a:r>
              <a:rPr lang="en-US" sz="936" dirty="0">
                <a:solidFill>
                  <a:srgbClr val="E8ECF4"/>
                </a:solidFill>
                <a:latin typeface="Carlito" pitchFamily="34" charset="0"/>
                <a:ea typeface="Carlito" pitchFamily="34" charset="-122"/>
                <a:cs typeface="Carlito" pitchFamily="34" charset="-120"/>
              </a:rPr>
              <a:t>VP Sales Mental Model</a:t>
            </a:r>
            <a:endParaRPr lang="en-US" sz="936" dirty="0"/>
          </a:p>
        </p:txBody>
      </p:sp>
      <p:sp>
        <p:nvSpPr>
          <p:cNvPr id="10" name="Text 8"/>
          <p:cNvSpPr/>
          <p:nvPr/>
        </p:nvSpPr>
        <p:spPr>
          <a:xfrm>
            <a:off x="1114425" y="2259211"/>
            <a:ext cx="1604029" cy="150019"/>
          </a:xfrm>
          <a:prstGeom prst="rect">
            <a:avLst/>
          </a:prstGeom>
          <a:noFill/>
          <a:ln/>
        </p:spPr>
        <p:txBody>
          <a:bodyPr wrap="none" lIns="0" tIns="0" rIns="0" bIns="0" rtlCol="0" anchor="t"/>
          <a:lstStyle/>
          <a:p>
            <a:pPr algn="l" indent="0" marL="0">
              <a:lnSpc>
                <a:spcPts val="1181"/>
              </a:lnSpc>
              <a:buNone/>
            </a:pPr>
            <a:r>
              <a:rPr lang="en-US" sz="844" dirty="0">
                <a:solidFill>
                  <a:srgbClr val="8B95AD"/>
                </a:solidFill>
                <a:latin typeface="Carlito" pitchFamily="34" charset="0"/>
                <a:ea typeface="Carlito" pitchFamily="34" charset="-122"/>
                <a:cs typeface="Carlito" pitchFamily="34" charset="-120"/>
              </a:rPr>
              <a:t>The Design North Star</a:t>
            </a:r>
            <a:endParaRPr lang="en-US" sz="844" dirty="0"/>
          </a:p>
        </p:txBody>
      </p:sp>
      <p:sp>
        <p:nvSpPr>
          <p:cNvPr id="11" name="Text 9"/>
          <p:cNvSpPr/>
          <p:nvPr/>
        </p:nvSpPr>
        <p:spPr>
          <a:xfrm>
            <a:off x="628650" y="2537817"/>
            <a:ext cx="3629025" cy="7144"/>
          </a:xfrm>
          <a:prstGeom prst="rect">
            <a:avLst/>
          </a:prstGeom>
          <a:solidFill>
            <a:srgbClr val="252E42"/>
          </a:solidFill>
          <a:ln/>
        </p:spPr>
        <p:txBody>
          <a:bodyPr wrap="square" rtlCol="0" anchor="ctr"/>
          <a:lstStyle/>
          <a:p>
            <a:pPr indent="0" marL="0">
              <a:buNone/>
            </a:pPr>
            <a:endParaRPr lang="en-US" dirty="0"/>
          </a:p>
        </p:txBody>
      </p:sp>
      <p:sp>
        <p:nvSpPr>
          <p:cNvPr id="12" name="Text 10"/>
          <p:cNvSpPr/>
          <p:nvPr/>
        </p:nvSpPr>
        <p:spPr>
          <a:xfrm>
            <a:off x="628650" y="2673548"/>
            <a:ext cx="548640" cy="246888"/>
          </a:xfrm>
          <a:prstGeom prst="rect">
            <a:avLst/>
          </a:prstGeom>
          <a:noFill/>
          <a:ln/>
        </p:spPr>
        <p:txBody>
          <a:bodyPr wrap="none" lIns="0" tIns="14288" rIns="0" bIns="0" rtlCol="0" anchor="t"/>
          <a:lstStyle/>
          <a:p>
            <a:pPr algn="l" indent="0" marL="0">
              <a:lnSpc>
                <a:spcPts val="1688"/>
              </a:lnSpc>
              <a:buNone/>
            </a:pPr>
            <a:r>
              <a:rPr lang="en-US" sz="1688" dirty="0">
                <a:solidFill>
                  <a:srgbClr val="3B82F6"/>
                </a:solidFill>
                <a:latin typeface="Liberation Sans Narrow" pitchFamily="34" charset="0"/>
                <a:ea typeface="Liberation Sans Narrow" pitchFamily="34" charset="-122"/>
                <a:cs typeface="Liberation Sans Narrow" pitchFamily="34" charset="-120"/>
              </a:rPr>
              <a:t>03</a:t>
            </a:r>
            <a:endParaRPr lang="en-US" sz="1688" dirty="0"/>
          </a:p>
        </p:txBody>
      </p:sp>
      <p:sp>
        <p:nvSpPr>
          <p:cNvPr id="13" name="Text 11"/>
          <p:cNvSpPr/>
          <p:nvPr/>
        </p:nvSpPr>
        <p:spPr>
          <a:xfrm>
            <a:off x="1114425" y="2673548"/>
            <a:ext cx="2420057" cy="155627"/>
          </a:xfrm>
          <a:prstGeom prst="rect">
            <a:avLst/>
          </a:prstGeom>
          <a:noFill/>
          <a:ln/>
        </p:spPr>
        <p:txBody>
          <a:bodyPr wrap="square" lIns="0" tIns="0" rIns="0" bIns="0" rtlCol="0" anchor="t">
            <a:normAutofit/>
          </a:bodyPr>
          <a:lstStyle/>
          <a:p>
            <a:pPr algn="l" indent="0" marL="0">
              <a:lnSpc>
                <a:spcPts val="1217"/>
              </a:lnSpc>
              <a:buNone/>
            </a:pPr>
            <a:r>
              <a:rPr lang="en-US" sz="936" dirty="0">
                <a:solidFill>
                  <a:srgbClr val="E8ECF4"/>
                </a:solidFill>
                <a:latin typeface="Carlito" pitchFamily="34" charset="0"/>
                <a:ea typeface="Carlito" pitchFamily="34" charset="-122"/>
                <a:cs typeface="Carlito" pitchFamily="34" charset="-120"/>
              </a:rPr>
              <a:t>Intelligence as Executive Briefing</a:t>
            </a:r>
            <a:endParaRPr lang="en-US" sz="936" dirty="0"/>
          </a:p>
        </p:txBody>
      </p:sp>
      <p:sp>
        <p:nvSpPr>
          <p:cNvPr id="14" name="Text 12"/>
          <p:cNvSpPr/>
          <p:nvPr/>
        </p:nvSpPr>
        <p:spPr>
          <a:xfrm>
            <a:off x="1114425" y="2856607"/>
            <a:ext cx="2352833" cy="150019"/>
          </a:xfrm>
          <a:prstGeom prst="rect">
            <a:avLst/>
          </a:prstGeom>
          <a:noFill/>
          <a:ln/>
        </p:spPr>
        <p:txBody>
          <a:bodyPr wrap="none" lIns="0" tIns="0" rIns="0" bIns="0" rtlCol="0" anchor="t"/>
          <a:lstStyle/>
          <a:p>
            <a:pPr algn="l" indent="0" marL="0">
              <a:lnSpc>
                <a:spcPts val="1181"/>
              </a:lnSpc>
              <a:buNone/>
            </a:pPr>
            <a:r>
              <a:rPr lang="en-US" sz="844" dirty="0">
                <a:solidFill>
                  <a:srgbClr val="8B95AD"/>
                </a:solidFill>
                <a:latin typeface="Carlito" pitchFamily="34" charset="0"/>
                <a:ea typeface="Carlito" pitchFamily="34" charset="-122"/>
                <a:cs typeface="Carlito" pitchFamily="34" charset="-120"/>
              </a:rPr>
              <a:t>The Core Philosophy</a:t>
            </a:r>
            <a:endParaRPr lang="en-US" sz="844" dirty="0"/>
          </a:p>
        </p:txBody>
      </p:sp>
      <p:sp>
        <p:nvSpPr>
          <p:cNvPr id="15" name="Text 13"/>
          <p:cNvSpPr/>
          <p:nvPr/>
        </p:nvSpPr>
        <p:spPr>
          <a:xfrm>
            <a:off x="628650" y="3135213"/>
            <a:ext cx="3629025" cy="7144"/>
          </a:xfrm>
          <a:prstGeom prst="rect">
            <a:avLst/>
          </a:prstGeom>
          <a:solidFill>
            <a:srgbClr val="252E42"/>
          </a:solidFill>
          <a:ln/>
        </p:spPr>
        <p:txBody>
          <a:bodyPr wrap="square" rtlCol="0" anchor="ctr"/>
          <a:lstStyle/>
          <a:p>
            <a:pPr indent="0" marL="0">
              <a:buNone/>
            </a:pPr>
            <a:endParaRPr lang="en-US" dirty="0"/>
          </a:p>
        </p:txBody>
      </p:sp>
      <p:sp>
        <p:nvSpPr>
          <p:cNvPr id="16" name="Text 14"/>
          <p:cNvSpPr/>
          <p:nvPr/>
        </p:nvSpPr>
        <p:spPr>
          <a:xfrm>
            <a:off x="628650" y="3270945"/>
            <a:ext cx="548640" cy="246888"/>
          </a:xfrm>
          <a:prstGeom prst="rect">
            <a:avLst/>
          </a:prstGeom>
          <a:noFill/>
          <a:ln/>
        </p:spPr>
        <p:txBody>
          <a:bodyPr wrap="none" lIns="0" tIns="14288" rIns="0" bIns="0" rtlCol="0" anchor="t"/>
          <a:lstStyle/>
          <a:p>
            <a:pPr algn="l" indent="0" marL="0">
              <a:lnSpc>
                <a:spcPts val="1688"/>
              </a:lnSpc>
              <a:buNone/>
            </a:pPr>
            <a:r>
              <a:rPr lang="en-US" sz="1688" dirty="0">
                <a:solidFill>
                  <a:srgbClr val="3B82F6"/>
                </a:solidFill>
                <a:latin typeface="Liberation Sans Narrow" pitchFamily="34" charset="0"/>
                <a:ea typeface="Liberation Sans Narrow" pitchFamily="34" charset="-122"/>
                <a:cs typeface="Liberation Sans Narrow" pitchFamily="34" charset="-120"/>
              </a:rPr>
              <a:t>04</a:t>
            </a:r>
            <a:endParaRPr lang="en-US" sz="1688" dirty="0"/>
          </a:p>
        </p:txBody>
      </p:sp>
      <p:sp>
        <p:nvSpPr>
          <p:cNvPr id="17" name="Text 15"/>
          <p:cNvSpPr/>
          <p:nvPr/>
        </p:nvSpPr>
        <p:spPr>
          <a:xfrm>
            <a:off x="1114425" y="3270945"/>
            <a:ext cx="1896917" cy="155627"/>
          </a:xfrm>
          <a:prstGeom prst="rect">
            <a:avLst/>
          </a:prstGeom>
          <a:noFill/>
          <a:ln/>
        </p:spPr>
        <p:txBody>
          <a:bodyPr wrap="none" lIns="0" tIns="0" rIns="0" bIns="0" rtlCol="0" anchor="t">
            <a:normAutofit/>
          </a:bodyPr>
          <a:lstStyle/>
          <a:p>
            <a:pPr algn="l" indent="0" marL="0">
              <a:lnSpc>
                <a:spcPts val="1217"/>
              </a:lnSpc>
              <a:buNone/>
            </a:pPr>
            <a:r>
              <a:rPr lang="en-US" sz="936" dirty="0">
                <a:solidFill>
                  <a:srgbClr val="E8ECF4"/>
                </a:solidFill>
                <a:latin typeface="Liberation Sans Narrow" pitchFamily="34" charset="0"/>
                <a:ea typeface="Liberation Sans Narrow" pitchFamily="34" charset="-122"/>
                <a:cs typeface="Liberation Sans Narrow" pitchFamily="34" charset="-120"/>
              </a:rPr>
              <a:t>The 5-Question Framework</a:t>
            </a:r>
            <a:endParaRPr lang="en-US" sz="936" dirty="0"/>
          </a:p>
        </p:txBody>
      </p:sp>
      <p:sp>
        <p:nvSpPr>
          <p:cNvPr id="18" name="Text 16"/>
          <p:cNvSpPr/>
          <p:nvPr/>
        </p:nvSpPr>
        <p:spPr>
          <a:xfrm>
            <a:off x="1114425" y="3454003"/>
            <a:ext cx="1951114" cy="150019"/>
          </a:xfrm>
          <a:prstGeom prst="rect">
            <a:avLst/>
          </a:prstGeom>
          <a:noFill/>
          <a:ln/>
        </p:spPr>
        <p:txBody>
          <a:bodyPr wrap="square" lIns="0" tIns="0" rIns="0" bIns="0" rtlCol="0" anchor="t"/>
          <a:lstStyle/>
          <a:p>
            <a:pPr algn="l" indent="0" marL="0">
              <a:lnSpc>
                <a:spcPts val="1181"/>
              </a:lnSpc>
              <a:buNone/>
            </a:pPr>
            <a:r>
              <a:rPr lang="en-US" sz="844" dirty="0">
                <a:solidFill>
                  <a:srgbClr val="8B95AD"/>
                </a:solidFill>
                <a:latin typeface="Carlito" pitchFamily="34" charset="0"/>
                <a:ea typeface="Carlito" pitchFamily="34" charset="-122"/>
                <a:cs typeface="Carlito" pitchFamily="34" charset="-120"/>
              </a:rPr>
              <a:t>Morning Intelligence Protocol</a:t>
            </a:r>
            <a:endParaRPr lang="en-US" sz="844" dirty="0"/>
          </a:p>
        </p:txBody>
      </p:sp>
      <p:sp>
        <p:nvSpPr>
          <p:cNvPr id="19" name="Text 17"/>
          <p:cNvSpPr/>
          <p:nvPr/>
        </p:nvSpPr>
        <p:spPr>
          <a:xfrm>
            <a:off x="4886325" y="1478756"/>
            <a:ext cx="548640" cy="246888"/>
          </a:xfrm>
          <a:prstGeom prst="rect">
            <a:avLst/>
          </a:prstGeom>
          <a:noFill/>
          <a:ln/>
        </p:spPr>
        <p:txBody>
          <a:bodyPr wrap="none" lIns="0" tIns="14288" rIns="0" bIns="0" rtlCol="0" anchor="t"/>
          <a:lstStyle/>
          <a:p>
            <a:pPr algn="l" indent="0" marL="0">
              <a:lnSpc>
                <a:spcPts val="1688"/>
              </a:lnSpc>
              <a:buNone/>
            </a:pPr>
            <a:r>
              <a:rPr lang="en-US" sz="1688" dirty="0">
                <a:solidFill>
                  <a:srgbClr val="3B82F6"/>
                </a:solidFill>
                <a:latin typeface="Liberation Sans Narrow" pitchFamily="34" charset="0"/>
                <a:ea typeface="Liberation Sans Narrow" pitchFamily="34" charset="-122"/>
                <a:cs typeface="Liberation Sans Narrow" pitchFamily="34" charset="-120"/>
              </a:rPr>
              <a:t>05</a:t>
            </a:r>
            <a:endParaRPr lang="en-US" sz="1688" dirty="0"/>
          </a:p>
        </p:txBody>
      </p:sp>
      <p:sp>
        <p:nvSpPr>
          <p:cNvPr id="20" name="Text 18"/>
          <p:cNvSpPr/>
          <p:nvPr/>
        </p:nvSpPr>
        <p:spPr>
          <a:xfrm>
            <a:off x="5372100" y="1478756"/>
            <a:ext cx="2088542" cy="155627"/>
          </a:xfrm>
          <a:prstGeom prst="rect">
            <a:avLst/>
          </a:prstGeom>
          <a:noFill/>
          <a:ln/>
        </p:spPr>
        <p:txBody>
          <a:bodyPr wrap="square" lIns="0" tIns="0" rIns="0" bIns="0" rtlCol="0" anchor="t">
            <a:normAutofit/>
          </a:bodyPr>
          <a:lstStyle/>
          <a:p>
            <a:pPr algn="l" indent="0" marL="0">
              <a:lnSpc>
                <a:spcPts val="1217"/>
              </a:lnSpc>
              <a:buNone/>
            </a:pPr>
            <a:r>
              <a:rPr lang="en-US" sz="936" dirty="0">
                <a:solidFill>
                  <a:srgbClr val="E8ECF4"/>
                </a:solidFill>
                <a:latin typeface="Carlito" pitchFamily="34" charset="0"/>
                <a:ea typeface="Carlito" pitchFamily="34" charset="-122"/>
                <a:cs typeface="Carlito" pitchFamily="34" charset="-120"/>
              </a:rPr>
              <a:t>Information Architecture</a:t>
            </a:r>
            <a:endParaRPr lang="en-US" sz="936" dirty="0"/>
          </a:p>
        </p:txBody>
      </p:sp>
      <p:sp>
        <p:nvSpPr>
          <p:cNvPr id="21" name="Text 19"/>
          <p:cNvSpPr/>
          <p:nvPr/>
        </p:nvSpPr>
        <p:spPr>
          <a:xfrm>
            <a:off x="5372100" y="1661815"/>
            <a:ext cx="2088542" cy="150019"/>
          </a:xfrm>
          <a:prstGeom prst="rect">
            <a:avLst/>
          </a:prstGeom>
          <a:noFill/>
          <a:ln/>
        </p:spPr>
        <p:txBody>
          <a:bodyPr wrap="square" lIns="0" tIns="0" rIns="0" bIns="0" rtlCol="0" anchor="t"/>
          <a:lstStyle/>
          <a:p>
            <a:pPr algn="l" indent="0" marL="0">
              <a:lnSpc>
                <a:spcPts val="1181"/>
              </a:lnSpc>
              <a:buNone/>
            </a:pPr>
            <a:r>
              <a:rPr lang="en-US" sz="844" dirty="0">
                <a:solidFill>
                  <a:srgbClr val="8B95AD"/>
                </a:solidFill>
                <a:latin typeface="Carlito" pitchFamily="34" charset="0"/>
                <a:ea typeface="Carlito" pitchFamily="34" charset="-122"/>
                <a:cs typeface="Carlito" pitchFamily="34" charset="-120"/>
              </a:rPr>
              <a:t>Navigation &amp; Progressive Disclosure</a:t>
            </a:r>
            <a:endParaRPr lang="en-US" sz="844" dirty="0"/>
          </a:p>
        </p:txBody>
      </p:sp>
      <p:sp>
        <p:nvSpPr>
          <p:cNvPr id="22" name="Text 20"/>
          <p:cNvSpPr/>
          <p:nvPr/>
        </p:nvSpPr>
        <p:spPr>
          <a:xfrm>
            <a:off x="4886325" y="1940421"/>
            <a:ext cx="3629025" cy="7144"/>
          </a:xfrm>
          <a:prstGeom prst="rect">
            <a:avLst/>
          </a:prstGeom>
          <a:solidFill>
            <a:srgbClr val="252E42"/>
          </a:solidFill>
          <a:ln/>
        </p:spPr>
        <p:txBody>
          <a:bodyPr wrap="square" rtlCol="0" anchor="ctr"/>
          <a:lstStyle/>
          <a:p>
            <a:pPr indent="0" marL="0">
              <a:buNone/>
            </a:pPr>
            <a:endParaRPr lang="en-US" dirty="0"/>
          </a:p>
        </p:txBody>
      </p:sp>
      <p:sp>
        <p:nvSpPr>
          <p:cNvPr id="23" name="Text 21"/>
          <p:cNvSpPr/>
          <p:nvPr/>
        </p:nvSpPr>
        <p:spPr>
          <a:xfrm>
            <a:off x="4886325" y="2076152"/>
            <a:ext cx="548640" cy="246888"/>
          </a:xfrm>
          <a:prstGeom prst="rect">
            <a:avLst/>
          </a:prstGeom>
          <a:noFill/>
          <a:ln/>
        </p:spPr>
        <p:txBody>
          <a:bodyPr wrap="none" lIns="0" tIns="14288" rIns="0" bIns="0" rtlCol="0" anchor="t"/>
          <a:lstStyle/>
          <a:p>
            <a:pPr algn="l" indent="0" marL="0">
              <a:lnSpc>
                <a:spcPts val="1688"/>
              </a:lnSpc>
              <a:buNone/>
            </a:pPr>
            <a:r>
              <a:rPr lang="en-US" sz="1688" dirty="0">
                <a:solidFill>
                  <a:srgbClr val="3B82F6"/>
                </a:solidFill>
                <a:latin typeface="Liberation Sans Narrow" pitchFamily="34" charset="0"/>
                <a:ea typeface="Liberation Sans Narrow" pitchFamily="34" charset="-122"/>
                <a:cs typeface="Liberation Sans Narrow" pitchFamily="34" charset="-120"/>
              </a:rPr>
              <a:t>06</a:t>
            </a:r>
            <a:endParaRPr lang="en-US" sz="1688" dirty="0"/>
          </a:p>
        </p:txBody>
      </p:sp>
      <p:sp>
        <p:nvSpPr>
          <p:cNvPr id="24" name="Text 22"/>
          <p:cNvSpPr/>
          <p:nvPr/>
        </p:nvSpPr>
        <p:spPr>
          <a:xfrm>
            <a:off x="5372100" y="2076152"/>
            <a:ext cx="1970168" cy="155627"/>
          </a:xfrm>
          <a:prstGeom prst="rect">
            <a:avLst/>
          </a:prstGeom>
          <a:noFill/>
          <a:ln/>
        </p:spPr>
        <p:txBody>
          <a:bodyPr wrap="none" lIns="0" tIns="0" rIns="0" bIns="0" rtlCol="0" anchor="t">
            <a:normAutofit/>
          </a:bodyPr>
          <a:lstStyle/>
          <a:p>
            <a:pPr algn="l" indent="0" marL="0">
              <a:lnSpc>
                <a:spcPts val="1217"/>
              </a:lnSpc>
              <a:buNone/>
            </a:pPr>
            <a:r>
              <a:rPr lang="en-US" sz="936" dirty="0">
                <a:solidFill>
                  <a:srgbClr val="E8ECF4"/>
                </a:solidFill>
                <a:latin typeface="Carlito" pitchFamily="34" charset="0"/>
                <a:ea typeface="Carlito" pitchFamily="34" charset="-122"/>
                <a:cs typeface="Carlito" pitchFamily="34" charset="-120"/>
              </a:rPr>
              <a:t>Trust &amp; Evidence</a:t>
            </a:r>
            <a:endParaRPr lang="en-US" sz="936" dirty="0"/>
          </a:p>
        </p:txBody>
      </p:sp>
      <p:sp>
        <p:nvSpPr>
          <p:cNvPr id="25" name="Text 23"/>
          <p:cNvSpPr/>
          <p:nvPr/>
        </p:nvSpPr>
        <p:spPr>
          <a:xfrm>
            <a:off x="5372100" y="2259211"/>
            <a:ext cx="2026459" cy="150019"/>
          </a:xfrm>
          <a:prstGeom prst="rect">
            <a:avLst/>
          </a:prstGeom>
          <a:noFill/>
          <a:ln/>
        </p:spPr>
        <p:txBody>
          <a:bodyPr wrap="square" lIns="0" tIns="0" rIns="0" bIns="0" rtlCol="0" anchor="t"/>
          <a:lstStyle/>
          <a:p>
            <a:pPr algn="l" indent="0" marL="0">
              <a:lnSpc>
                <a:spcPts val="1181"/>
              </a:lnSpc>
              <a:buNone/>
            </a:pPr>
            <a:r>
              <a:rPr lang="en-US" sz="844" dirty="0">
                <a:solidFill>
                  <a:srgbClr val="8B95AD"/>
                </a:solidFill>
                <a:latin typeface="Carlito" pitchFamily="34" charset="0"/>
                <a:ea typeface="Carlito" pitchFamily="34" charset="-122"/>
                <a:cs typeface="Carlito" pitchFamily="34" charset="-120"/>
              </a:rPr>
              <a:t>Confidence Visualization Language</a:t>
            </a:r>
            <a:endParaRPr lang="en-US" sz="844" dirty="0"/>
          </a:p>
        </p:txBody>
      </p:sp>
      <p:sp>
        <p:nvSpPr>
          <p:cNvPr id="26" name="Text 24"/>
          <p:cNvSpPr/>
          <p:nvPr/>
        </p:nvSpPr>
        <p:spPr>
          <a:xfrm>
            <a:off x="4886325" y="2537817"/>
            <a:ext cx="3629025" cy="7144"/>
          </a:xfrm>
          <a:prstGeom prst="rect">
            <a:avLst/>
          </a:prstGeom>
          <a:solidFill>
            <a:srgbClr val="252E42"/>
          </a:solidFill>
          <a:ln/>
        </p:spPr>
        <p:txBody>
          <a:bodyPr wrap="square" rtlCol="0" anchor="ctr"/>
          <a:lstStyle/>
          <a:p>
            <a:pPr indent="0" marL="0">
              <a:buNone/>
            </a:pPr>
            <a:endParaRPr lang="en-US" dirty="0"/>
          </a:p>
        </p:txBody>
      </p:sp>
      <p:sp>
        <p:nvSpPr>
          <p:cNvPr id="27" name="Text 25"/>
          <p:cNvSpPr/>
          <p:nvPr/>
        </p:nvSpPr>
        <p:spPr>
          <a:xfrm>
            <a:off x="4886325" y="2673548"/>
            <a:ext cx="548640" cy="246888"/>
          </a:xfrm>
          <a:prstGeom prst="rect">
            <a:avLst/>
          </a:prstGeom>
          <a:noFill/>
          <a:ln/>
        </p:spPr>
        <p:txBody>
          <a:bodyPr wrap="none" lIns="0" tIns="14288" rIns="0" bIns="0" rtlCol="0" anchor="t"/>
          <a:lstStyle/>
          <a:p>
            <a:pPr algn="l" indent="0" marL="0">
              <a:lnSpc>
                <a:spcPts val="1688"/>
              </a:lnSpc>
              <a:buNone/>
            </a:pPr>
            <a:r>
              <a:rPr lang="en-US" sz="1688" dirty="0">
                <a:solidFill>
                  <a:srgbClr val="3B82F6"/>
                </a:solidFill>
                <a:latin typeface="Liberation Sans Narrow" pitchFamily="34" charset="0"/>
                <a:ea typeface="Liberation Sans Narrow" pitchFamily="34" charset="-122"/>
                <a:cs typeface="Liberation Sans Narrow" pitchFamily="34" charset="-120"/>
              </a:rPr>
              <a:t>07</a:t>
            </a:r>
            <a:endParaRPr lang="en-US" sz="1688" dirty="0"/>
          </a:p>
        </p:txBody>
      </p:sp>
      <p:sp>
        <p:nvSpPr>
          <p:cNvPr id="28" name="Text 26"/>
          <p:cNvSpPr/>
          <p:nvPr/>
        </p:nvSpPr>
        <p:spPr>
          <a:xfrm>
            <a:off x="5372100" y="2673548"/>
            <a:ext cx="1671068" cy="155627"/>
          </a:xfrm>
          <a:prstGeom prst="rect">
            <a:avLst/>
          </a:prstGeom>
          <a:noFill/>
          <a:ln/>
        </p:spPr>
        <p:txBody>
          <a:bodyPr wrap="none" lIns="0" tIns="0" rIns="0" bIns="0" rtlCol="0" anchor="t">
            <a:normAutofit/>
          </a:bodyPr>
          <a:lstStyle/>
          <a:p>
            <a:pPr algn="l" indent="0" marL="0">
              <a:lnSpc>
                <a:spcPts val="1217"/>
              </a:lnSpc>
              <a:buNone/>
            </a:pPr>
            <a:r>
              <a:rPr lang="en-US" sz="936" dirty="0">
                <a:solidFill>
                  <a:srgbClr val="E8ECF4"/>
                </a:solidFill>
                <a:latin typeface="Carlito" pitchFamily="34" charset="0"/>
                <a:ea typeface="Carlito" pitchFamily="34" charset="-122"/>
                <a:cs typeface="Carlito" pitchFamily="34" charset="-120"/>
              </a:rPr>
              <a:t>Emotional Experience</a:t>
            </a:r>
            <a:endParaRPr lang="en-US" sz="936" dirty="0"/>
          </a:p>
        </p:txBody>
      </p:sp>
      <p:sp>
        <p:nvSpPr>
          <p:cNvPr id="29" name="Text 27"/>
          <p:cNvSpPr/>
          <p:nvPr/>
        </p:nvSpPr>
        <p:spPr>
          <a:xfrm>
            <a:off x="5372100" y="2856607"/>
            <a:ext cx="1718813" cy="150019"/>
          </a:xfrm>
          <a:prstGeom prst="rect">
            <a:avLst/>
          </a:prstGeom>
          <a:noFill/>
          <a:ln/>
        </p:spPr>
        <p:txBody>
          <a:bodyPr wrap="square" lIns="0" tIns="0" rIns="0" bIns="0" rtlCol="0" anchor="t"/>
          <a:lstStyle/>
          <a:p>
            <a:pPr algn="l" indent="0" marL="0">
              <a:lnSpc>
                <a:spcPts val="1181"/>
              </a:lnSpc>
              <a:buNone/>
            </a:pPr>
            <a:r>
              <a:rPr lang="en-US" sz="844" dirty="0">
                <a:solidFill>
                  <a:srgbClr val="8B95AD"/>
                </a:solidFill>
                <a:latin typeface="Carlito" pitchFamily="34" charset="0"/>
                <a:ea typeface="Carlito" pitchFamily="34" charset="-122"/>
                <a:cs typeface="Carlito" pitchFamily="34" charset="-120"/>
              </a:rPr>
              <a:t>Human-Centered Design DNA</a:t>
            </a:r>
            <a:endParaRPr lang="en-US" sz="844" dirty="0"/>
          </a:p>
        </p:txBody>
      </p:sp>
      <p:sp>
        <p:nvSpPr>
          <p:cNvPr id="30" name="Text 28"/>
          <p:cNvSpPr/>
          <p:nvPr/>
        </p:nvSpPr>
        <p:spPr>
          <a:xfrm>
            <a:off x="4886325" y="3135213"/>
            <a:ext cx="3629025" cy="7144"/>
          </a:xfrm>
          <a:prstGeom prst="rect">
            <a:avLst/>
          </a:prstGeom>
          <a:solidFill>
            <a:srgbClr val="252E42"/>
          </a:solidFill>
          <a:ln/>
        </p:spPr>
        <p:txBody>
          <a:bodyPr wrap="square" rtlCol="0" anchor="ctr"/>
          <a:lstStyle/>
          <a:p>
            <a:pPr indent="0" marL="0">
              <a:buNone/>
            </a:pPr>
            <a:endParaRPr lang="en-US" dirty="0"/>
          </a:p>
        </p:txBody>
      </p:sp>
      <p:sp>
        <p:nvSpPr>
          <p:cNvPr id="31" name="Text 29"/>
          <p:cNvSpPr/>
          <p:nvPr/>
        </p:nvSpPr>
        <p:spPr>
          <a:xfrm>
            <a:off x="4886325" y="3270945"/>
            <a:ext cx="548640" cy="246888"/>
          </a:xfrm>
          <a:prstGeom prst="rect">
            <a:avLst/>
          </a:prstGeom>
          <a:noFill/>
          <a:ln/>
        </p:spPr>
        <p:txBody>
          <a:bodyPr wrap="none" lIns="0" tIns="14288" rIns="0" bIns="0" rtlCol="0" anchor="t"/>
          <a:lstStyle/>
          <a:p>
            <a:pPr algn="l" indent="0" marL="0">
              <a:lnSpc>
                <a:spcPts val="1688"/>
              </a:lnSpc>
              <a:buNone/>
            </a:pPr>
            <a:r>
              <a:rPr lang="en-US" sz="1688" dirty="0">
                <a:solidFill>
                  <a:srgbClr val="3B82F6"/>
                </a:solidFill>
                <a:latin typeface="Liberation Sans Narrow" pitchFamily="34" charset="0"/>
                <a:ea typeface="Liberation Sans Narrow" pitchFamily="34" charset="-122"/>
                <a:cs typeface="Liberation Sans Narrow" pitchFamily="34" charset="-120"/>
              </a:rPr>
              <a:t>08</a:t>
            </a:r>
            <a:endParaRPr lang="en-US" sz="1688" dirty="0"/>
          </a:p>
        </p:txBody>
      </p:sp>
      <p:sp>
        <p:nvSpPr>
          <p:cNvPr id="32" name="Text 30"/>
          <p:cNvSpPr/>
          <p:nvPr/>
        </p:nvSpPr>
        <p:spPr>
          <a:xfrm>
            <a:off x="5372100" y="3270945"/>
            <a:ext cx="2372523" cy="155627"/>
          </a:xfrm>
          <a:prstGeom prst="rect">
            <a:avLst/>
          </a:prstGeom>
          <a:noFill/>
          <a:ln/>
        </p:spPr>
        <p:txBody>
          <a:bodyPr wrap="none" lIns="0" tIns="0" rIns="0" bIns="0" rtlCol="0" anchor="t">
            <a:normAutofit/>
          </a:bodyPr>
          <a:lstStyle/>
          <a:p>
            <a:pPr algn="l" indent="0" marL="0">
              <a:lnSpc>
                <a:spcPts val="1217"/>
              </a:lnSpc>
              <a:buNone/>
            </a:pPr>
            <a:r>
              <a:rPr lang="en-US" sz="936" dirty="0">
                <a:solidFill>
                  <a:srgbClr val="E8ECF4"/>
                </a:solidFill>
                <a:latin typeface="Carlito" pitchFamily="34" charset="0"/>
                <a:ea typeface="Carlito" pitchFamily="34" charset="-122"/>
                <a:cs typeface="Carlito" pitchFamily="34" charset="-120"/>
              </a:rPr>
              <a:t>From Current to Future</a:t>
            </a:r>
            <a:endParaRPr lang="en-US" sz="936" dirty="0"/>
          </a:p>
        </p:txBody>
      </p:sp>
      <p:sp>
        <p:nvSpPr>
          <p:cNvPr id="33" name="Text 31"/>
          <p:cNvSpPr/>
          <p:nvPr/>
        </p:nvSpPr>
        <p:spPr>
          <a:xfrm>
            <a:off x="5372100" y="3454003"/>
            <a:ext cx="2440309" cy="150019"/>
          </a:xfrm>
          <a:prstGeom prst="rect">
            <a:avLst/>
          </a:prstGeom>
          <a:noFill/>
          <a:ln/>
        </p:spPr>
        <p:txBody>
          <a:bodyPr wrap="square" lIns="0" tIns="0" rIns="0" bIns="0" rtlCol="0" anchor="t"/>
          <a:lstStyle/>
          <a:p>
            <a:pPr algn="l" indent="0" marL="0">
              <a:lnSpc>
                <a:spcPts val="1181"/>
              </a:lnSpc>
              <a:buNone/>
            </a:pPr>
            <a:r>
              <a:rPr lang="en-US" sz="844" dirty="0">
                <a:solidFill>
                  <a:srgbClr val="8B95AD"/>
                </a:solidFill>
                <a:latin typeface="Carlito" pitchFamily="34" charset="0"/>
                <a:ea typeface="Carlito" pitchFamily="34" charset="-122"/>
                <a:cs typeface="Carlito" pitchFamily="34" charset="-120"/>
              </a:rPr>
              <a:t>The Transformation · MS7–MS11 Roadmap</a:t>
            </a:r>
            <a:endParaRPr lang="en-US" sz="84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3"/>
          <a:stretch>
            <a:fillRect/>
          </a:stretch>
        </p:blipFill>
        <p:spPr>
          <a:xfrm>
            <a:off x="1285875" y="2568178"/>
            <a:ext cx="7286625" cy="7144"/>
          </a:xfrm>
          <a:prstGeom prst="rect">
            <a:avLst/>
          </a:prstGeom>
        </p:spPr>
      </p:pic>
      <p:sp>
        <p:nvSpPr>
          <p:cNvPr id="5" name="Shape 0"/>
          <p:cNvSpPr/>
          <p:nvPr/>
        </p:nvSpPr>
        <p:spPr>
          <a:xfrm>
            <a:off x="8565356" y="571500"/>
            <a:ext cx="0" cy="571500"/>
          </a:xfrm>
          <a:prstGeom prst="line">
            <a:avLst/>
          </a:prstGeom>
          <a:noFill/>
          <a:ln w="14288">
            <a:solidFill>
              <a:srgbClr val="3B82F6"/>
            </a:solidFill>
            <a:prstDash val="solid"/>
          </a:ln>
        </p:spPr>
      </p:sp>
      <p:sp>
        <p:nvSpPr>
          <p:cNvPr id="6" name="Shape 1"/>
          <p:cNvSpPr/>
          <p:nvPr/>
        </p:nvSpPr>
        <p:spPr>
          <a:xfrm>
            <a:off x="8001000" y="1135856"/>
            <a:ext cx="571500" cy="0"/>
          </a:xfrm>
          <a:prstGeom prst="line">
            <a:avLst/>
          </a:prstGeom>
          <a:noFill/>
          <a:ln w="14288">
            <a:solidFill>
              <a:srgbClr val="3B82F6"/>
            </a:solidFill>
            <a:prstDash val="solid"/>
          </a:ln>
        </p:spPr>
      </p:sp>
      <p:sp>
        <p:nvSpPr>
          <p:cNvPr id="7" name="Text 2"/>
          <p:cNvSpPr/>
          <p:nvPr/>
        </p:nvSpPr>
        <p:spPr>
          <a:xfrm>
            <a:off x="571500" y="1762385"/>
            <a:ext cx="8572500" cy="555498"/>
          </a:xfrm>
          <a:prstGeom prst="rect">
            <a:avLst/>
          </a:prstGeom>
          <a:noFill/>
          <a:ln/>
        </p:spPr>
        <p:txBody>
          <a:bodyPr wrap="none" lIns="0" tIns="0" rIns="0" bIns="0" rtlCol="0" anchor="t"/>
          <a:lstStyle/>
          <a:p>
            <a:pPr algn="l" indent="0" marL="0">
              <a:lnSpc>
                <a:spcPts val="4050"/>
              </a:lnSpc>
              <a:buNone/>
            </a:pPr>
            <a:r>
              <a:rPr lang="en-US" sz="4050" b="1" dirty="0">
                <a:solidFill>
                  <a:srgbClr val="3B82F6"/>
                </a:solidFill>
                <a:latin typeface="Liberation Sans Narrow" pitchFamily="34" charset="0"/>
                <a:ea typeface="Liberation Sans Narrow" pitchFamily="34" charset="-122"/>
                <a:cs typeface="Liberation Sans Narrow" pitchFamily="34" charset="-120"/>
              </a:rPr>
              <a:t>01</a:t>
            </a:r>
            <a:endParaRPr lang="en-US" sz="4050" dirty="0"/>
          </a:p>
        </p:txBody>
      </p:sp>
      <p:sp>
        <p:nvSpPr>
          <p:cNvPr id="8" name="Text 3"/>
          <p:cNvSpPr/>
          <p:nvPr/>
        </p:nvSpPr>
        <p:spPr>
          <a:xfrm>
            <a:off x="571500" y="2391035"/>
            <a:ext cx="8521065" cy="390343"/>
          </a:xfrm>
          <a:prstGeom prst="rect">
            <a:avLst/>
          </a:prstGeom>
          <a:noFill/>
          <a:ln/>
        </p:spPr>
        <p:txBody>
          <a:bodyPr wrap="none" lIns="0" tIns="0" rIns="0" bIns="0" rtlCol="0" anchor="t"/>
          <a:lstStyle/>
          <a:p>
            <a:pPr algn="l" indent="0" marL="0">
              <a:lnSpc>
                <a:spcPts val="2846"/>
              </a:lnSpc>
              <a:buNone/>
            </a:pPr>
            <a:r>
              <a:rPr lang="en-US" sz="2475" b="1" dirty="0">
                <a:solidFill>
                  <a:srgbClr val="E8ECF4"/>
                </a:solidFill>
                <a:latin typeface="Carlito" pitchFamily="34" charset="0"/>
                <a:ea typeface="Carlito" pitchFamily="34" charset="-122"/>
                <a:cs typeface="Carlito" pitchFamily="34" charset="-120"/>
              </a:rPr>
              <a:t>The Experience Promise</a:t>
            </a:r>
            <a:endParaRPr lang="en-US" sz="2475" dirty="0"/>
          </a:p>
        </p:txBody>
      </p:sp>
      <p:sp>
        <p:nvSpPr>
          <p:cNvPr id="9" name="Text 4"/>
          <p:cNvSpPr/>
          <p:nvPr/>
        </p:nvSpPr>
        <p:spPr>
          <a:xfrm>
            <a:off x="571500" y="2895340"/>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10" name="Text 5"/>
          <p:cNvSpPr/>
          <p:nvPr/>
        </p:nvSpPr>
        <p:spPr>
          <a:xfrm>
            <a:off x="571500" y="3145371"/>
            <a:ext cx="8521065" cy="254603"/>
          </a:xfrm>
          <a:prstGeom prst="rect">
            <a:avLst/>
          </a:prstGeom>
          <a:noFill/>
          <a:ln/>
        </p:spPr>
        <p:txBody>
          <a:bodyPr wrap="none" lIns="0" tIns="0" rIns="0" bIns="0" rtlCol="0" anchor="t"/>
          <a:lstStyle/>
          <a:p>
            <a:pPr algn="l" indent="0" marL="0">
              <a:lnSpc>
                <a:spcPts val="1856"/>
              </a:lnSpc>
              <a:buNone/>
            </a:pPr>
            <a:r>
              <a:rPr lang="en-US" sz="1238" dirty="0">
                <a:solidFill>
                  <a:srgbClr val="8B95AD"/>
                </a:solidFill>
                <a:latin typeface="Liberation Sans Narrow" pitchFamily="34" charset="0"/>
                <a:ea typeface="Liberation Sans Narrow" pitchFamily="34" charset="-122"/>
                <a:cs typeface="Liberation Sans Narrow" pitchFamily="34" charset="-120"/>
              </a:rPr>
              <a:t>Why MS6 Exists</a:t>
            </a:r>
            <a:endParaRPr lang="en-US" sz="1238"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457200" y="457200"/>
            <a:ext cx="8636000" cy="324041"/>
          </a:xfrm>
          <a:prstGeom prst="rect">
            <a:avLst/>
          </a:prstGeom>
          <a:noFill/>
          <a:ln/>
        </p:spPr>
        <p:txBody>
          <a:bodyPr wrap="square" lIns="0" tIns="0" rIns="0" bIns="0" rtlCol="0" anchor="t"/>
          <a:lstStyle/>
          <a:p>
            <a:pPr algn="l" indent="0" marL="0">
              <a:lnSpc>
                <a:spcPts val="2363"/>
              </a:lnSpc>
              <a:buNone/>
            </a:pPr>
            <a:r>
              <a:rPr lang="en-US" sz="1575" b="1" dirty="0">
                <a:solidFill>
                  <a:srgbClr val="E8ECF4"/>
                </a:solidFill>
                <a:latin typeface="Carlito" pitchFamily="34" charset="0"/>
                <a:ea typeface="Carlito" pitchFamily="34" charset="-122"/>
                <a:cs typeface="Carlito" pitchFamily="34" charset="-120"/>
              </a:rPr>
              <a:t>The DeepMindQ Experience Promise</a:t>
            </a:r>
            <a:endParaRPr lang="en-US" sz="1575" dirty="0"/>
          </a:p>
        </p:txBody>
      </p:sp>
      <p:sp>
        <p:nvSpPr>
          <p:cNvPr id="3" name="Text 1"/>
          <p:cNvSpPr/>
          <p:nvPr/>
        </p:nvSpPr>
        <p:spPr>
          <a:xfrm>
            <a:off x="457200" y="842963"/>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pic>
        <p:nvPicPr>
          <p:cNvPr id="4" name="Image 0" descr="preencoded.png">    </p:cNvPr>
          <p:cNvPicPr>
            <a:picLocks noChangeAspect="1"/>
          </p:cNvPicPr>
          <p:nvPr/>
        </p:nvPicPr>
        <p:blipFill>
          <a:blip r:embed="rId1"/>
          <a:stretch>
            <a:fillRect/>
          </a:stretch>
        </p:blipFill>
        <p:spPr>
          <a:xfrm>
            <a:off x="457200" y="1178719"/>
            <a:ext cx="8229600" cy="1209080"/>
          </a:xfrm>
          <a:prstGeom prst="rect">
            <a:avLst/>
          </a:prstGeom>
        </p:spPr>
      </p:pic>
      <p:sp>
        <p:nvSpPr>
          <p:cNvPr id="5" name="Text 2"/>
          <p:cNvSpPr/>
          <p:nvPr/>
        </p:nvSpPr>
        <p:spPr>
          <a:xfrm>
            <a:off x="460772" y="1182291"/>
            <a:ext cx="8222456" cy="1201936"/>
          </a:xfrm>
          <a:prstGeom prst="roundRect">
            <a:avLst>
              <a:gd name="adj" fmla="val 12680"/>
            </a:avLst>
          </a:prstGeom>
          <a:noFill/>
          <a:ln w="7144">
            <a:solidFill>
              <a:srgbClr val="3B82F6"/>
            </a:solidFill>
            <a:prstDash val="solid"/>
          </a:ln>
        </p:spPr>
        <p:txBody>
          <a:bodyPr wrap="square" rtlCol="0" anchor="ctr"/>
          <a:lstStyle/>
          <a:p>
            <a:pPr indent="0" marL="0">
              <a:buNone/>
            </a:pPr>
            <a:endParaRPr lang="en-US" dirty="0"/>
          </a:p>
        </p:txBody>
      </p:sp>
      <p:sp>
        <p:nvSpPr>
          <p:cNvPr id="6" name="Text 3"/>
          <p:cNvSpPr/>
          <p:nvPr/>
        </p:nvSpPr>
        <p:spPr>
          <a:xfrm>
            <a:off x="821531" y="1443038"/>
            <a:ext cx="7500938" cy="680442"/>
          </a:xfrm>
          <a:prstGeom prst="rect">
            <a:avLst/>
          </a:prstGeom>
          <a:noFill/>
          <a:ln/>
        </p:spPr>
        <p:txBody>
          <a:bodyPr wrap="square" lIns="0" tIns="0" rIns="0" bIns="0" rtlCol="0" anchor="t"/>
          <a:lstStyle/>
          <a:p>
            <a:pPr algn="ctr" indent="0" marL="0">
              <a:lnSpc>
                <a:spcPts val="1786"/>
              </a:lnSpc>
              <a:buNone/>
            </a:pPr>
            <a:r>
              <a:rPr lang="en-US" sz="1152" dirty="0">
                <a:solidFill>
                  <a:srgbClr val="E8ECF4"/>
                </a:solidFill>
                <a:latin typeface="Carlito" pitchFamily="34" charset="0"/>
                <a:ea typeface="Carlito" pitchFamily="34" charset="-122"/>
                <a:cs typeface="Carlito" pitchFamily="34" charset="-120"/>
              </a:rPr>
              <a:t>Every morning, a VP Sales opens DeepMindQ and within 3 minutes knows exactly what changed, why it matters, who to engage, what to say, and what to do — with full confidence in the evidence behind every recommendation.</a:t>
            </a:r>
            <a:endParaRPr lang="en-US" sz="1152" dirty="0"/>
          </a:p>
        </p:txBody>
      </p:sp>
      <p:sp>
        <p:nvSpPr>
          <p:cNvPr id="7" name="Text 4"/>
          <p:cNvSpPr/>
          <p:nvPr/>
        </p:nvSpPr>
        <p:spPr>
          <a:xfrm>
            <a:off x="460772" y="2619970"/>
            <a:ext cx="2583582" cy="2151608"/>
          </a:xfrm>
          <a:prstGeom prst="roundRect">
            <a:avLst>
              <a:gd name="adj" fmla="val 7083"/>
            </a:avLst>
          </a:prstGeom>
          <a:solidFill>
            <a:srgbClr val="161C2A">
              <a:alpha val="70000"/>
            </a:srgbClr>
          </a:solidFill>
          <a:ln w="7144">
            <a:solidFill>
              <a:srgbClr val="3B82F6"/>
            </a:solidFill>
            <a:prstDash val="solid"/>
          </a:ln>
        </p:spPr>
        <p:txBody>
          <a:bodyPr wrap="square" rtlCol="0" anchor="ctr"/>
          <a:lstStyle/>
          <a:p>
            <a:pPr indent="0" marL="0">
              <a:buNone/>
            </a:pPr>
            <a:endParaRPr lang="en-US" dirty="0"/>
          </a:p>
        </p:txBody>
      </p:sp>
      <p:sp>
        <p:nvSpPr>
          <p:cNvPr id="8" name="Text 5"/>
          <p:cNvSpPr/>
          <p:nvPr/>
        </p:nvSpPr>
        <p:spPr>
          <a:xfrm>
            <a:off x="635794" y="2823567"/>
            <a:ext cx="314325" cy="314325"/>
          </a:xfrm>
          <a:prstGeom prst="roundRect">
            <a:avLst>
              <a:gd name="adj" fmla="val 30300000"/>
            </a:avLst>
          </a:prstGeom>
          <a:solidFill>
            <a:srgbClr val="3B82F6">
              <a:alpha val="12000"/>
            </a:srgbClr>
          </a:solidFill>
          <a:ln/>
        </p:spPr>
        <p:txBody>
          <a:bodyPr wrap="square" rtlCol="0" anchor="ctr"/>
          <a:lstStyle/>
          <a:p>
            <a:pPr indent="0" marL="0">
              <a:buNone/>
            </a:pPr>
            <a:endParaRPr lang="en-US" dirty="0"/>
          </a:p>
        </p:txBody>
      </p:sp>
      <p:sp>
        <p:nvSpPr>
          <p:cNvPr id="9" name="Text 6"/>
          <p:cNvSpPr/>
          <p:nvPr/>
        </p:nvSpPr>
        <p:spPr>
          <a:xfrm>
            <a:off x="689372" y="2877145"/>
            <a:ext cx="207169" cy="207169"/>
          </a:xfrm>
          <a:prstGeom prst="rect">
            <a:avLst/>
          </a:prstGeom>
          <a:noFill/>
          <a:ln/>
        </p:spPr>
        <p:txBody>
          <a:bodyPr wrap="none" lIns="0" tIns="0" rIns="0" bIns="0" rtlCol="0" anchor="ctr"/>
          <a:lstStyle/>
          <a:p>
            <a:pPr algn="ctr" indent="0" marL="0">
              <a:buNone/>
            </a:pPr>
            <a:r>
              <a:rPr lang="en-US" sz="1406" dirty="0">
                <a:solidFill>
                  <a:srgbClr val="60A5FA"/>
                </a:solidFill>
                <a:latin typeface="Segoe UI Symbol" pitchFamily="34" charset="0"/>
                <a:ea typeface="Segoe UI Symbol" pitchFamily="34" charset="-122"/>
                <a:cs typeface="Segoe UI Symbol" pitchFamily="34" charset="-120"/>
              </a:rPr>
              <a:t>◯</a:t>
            </a:r>
            <a:endParaRPr lang="en-US" sz="1406" dirty="0"/>
          </a:p>
        </p:txBody>
      </p:sp>
      <p:sp>
        <p:nvSpPr>
          <p:cNvPr id="10" name="Text 7"/>
          <p:cNvSpPr/>
          <p:nvPr/>
        </p:nvSpPr>
        <p:spPr>
          <a:xfrm>
            <a:off x="635794" y="3223617"/>
            <a:ext cx="2233538" cy="220608"/>
          </a:xfrm>
          <a:prstGeom prst="rect">
            <a:avLst/>
          </a:prstGeom>
          <a:noFill/>
          <a:ln/>
        </p:spPr>
        <p:txBody>
          <a:bodyPr wrap="none" lIns="0" tIns="0" rIns="0" bIns="0" rtlCol="0" anchor="t"/>
          <a:lstStyle/>
          <a:p>
            <a:pPr algn="l" indent="0" marL="0">
              <a:lnSpc>
                <a:spcPts val="1609"/>
              </a:lnSpc>
              <a:buNone/>
            </a:pPr>
            <a:r>
              <a:rPr lang="en-US" sz="1238" dirty="0">
                <a:solidFill>
                  <a:srgbClr val="E8ECF4"/>
                </a:solidFill>
                <a:latin typeface="Carlito" pitchFamily="34" charset="0"/>
                <a:ea typeface="Carlito" pitchFamily="34" charset="-122"/>
                <a:cs typeface="Carlito" pitchFamily="34" charset="-120"/>
              </a:rPr>
              <a:t>Intelligence, Not Data</a:t>
            </a:r>
            <a:endParaRPr lang="en-US" sz="1238" dirty="0"/>
          </a:p>
        </p:txBody>
      </p:sp>
      <p:sp>
        <p:nvSpPr>
          <p:cNvPr id="11" name="Text 8"/>
          <p:cNvSpPr/>
          <p:nvPr/>
        </p:nvSpPr>
        <p:spPr>
          <a:xfrm>
            <a:off x="635794" y="3513609"/>
            <a:ext cx="2233538" cy="918115"/>
          </a:xfrm>
          <a:prstGeom prst="rect">
            <a:avLst/>
          </a:prstGeom>
          <a:noFill/>
          <a:ln/>
        </p:spPr>
        <p:txBody>
          <a:bodyPr wrap="square" lIns="0" tIns="0" rIns="0" bIns="0" rtlCol="0" anchor="t"/>
          <a:lstStyle/>
          <a:p>
            <a:pPr algn="l" indent="0" marL="0">
              <a:lnSpc>
                <a:spcPts val="1673"/>
              </a:lnSpc>
              <a:buNone/>
            </a:pPr>
            <a:r>
              <a:rPr lang="en-US" sz="956" dirty="0">
                <a:solidFill>
                  <a:srgbClr val="8B95AD"/>
                </a:solidFill>
                <a:latin typeface="Carlito" pitchFamily="34" charset="0"/>
                <a:ea typeface="Carlito" pitchFamily="34" charset="-122"/>
                <a:cs typeface="Carlito" pitchFamily="34" charset="-120"/>
              </a:rPr>
              <a:t>We do not show information. We deliver intelligence. Every element answers: what, why, who, how, and why trust this?</a:t>
            </a:r>
            <a:endParaRPr lang="en-US" sz="956" dirty="0"/>
          </a:p>
        </p:txBody>
      </p:sp>
      <p:sp>
        <p:nvSpPr>
          <p:cNvPr id="12" name="Text 9"/>
          <p:cNvSpPr/>
          <p:nvPr/>
        </p:nvSpPr>
        <p:spPr>
          <a:xfrm>
            <a:off x="3280097" y="2619970"/>
            <a:ext cx="2583693" cy="2151608"/>
          </a:xfrm>
          <a:prstGeom prst="roundRect">
            <a:avLst>
              <a:gd name="adj" fmla="val 7083"/>
            </a:avLst>
          </a:prstGeom>
          <a:solidFill>
            <a:srgbClr val="161C2A">
              <a:alpha val="70000"/>
            </a:srgbClr>
          </a:solidFill>
          <a:ln w="7144">
            <a:solidFill>
              <a:srgbClr val="8B5CF6"/>
            </a:solidFill>
            <a:prstDash val="solid"/>
          </a:ln>
        </p:spPr>
        <p:txBody>
          <a:bodyPr wrap="square" rtlCol="0" anchor="ctr"/>
          <a:lstStyle/>
          <a:p>
            <a:pPr indent="0" marL="0">
              <a:buNone/>
            </a:pPr>
            <a:endParaRPr lang="en-US" dirty="0"/>
          </a:p>
        </p:txBody>
      </p:sp>
      <p:sp>
        <p:nvSpPr>
          <p:cNvPr id="13" name="Text 10"/>
          <p:cNvSpPr/>
          <p:nvPr/>
        </p:nvSpPr>
        <p:spPr>
          <a:xfrm>
            <a:off x="3455119" y="2823567"/>
            <a:ext cx="314325" cy="314325"/>
          </a:xfrm>
          <a:prstGeom prst="roundRect">
            <a:avLst>
              <a:gd name="adj" fmla="val 30300000"/>
            </a:avLst>
          </a:prstGeom>
          <a:solidFill>
            <a:srgbClr val="8B5CF6">
              <a:alpha val="12000"/>
            </a:srgbClr>
          </a:solidFill>
          <a:ln/>
        </p:spPr>
        <p:txBody>
          <a:bodyPr wrap="square" rtlCol="0" anchor="ctr"/>
          <a:lstStyle/>
          <a:p>
            <a:pPr indent="0" marL="0">
              <a:buNone/>
            </a:pPr>
            <a:endParaRPr lang="en-US" dirty="0"/>
          </a:p>
        </p:txBody>
      </p:sp>
      <p:sp>
        <p:nvSpPr>
          <p:cNvPr id="14" name="Text 11"/>
          <p:cNvSpPr/>
          <p:nvPr/>
        </p:nvSpPr>
        <p:spPr>
          <a:xfrm>
            <a:off x="3508697" y="2877145"/>
            <a:ext cx="207169" cy="207169"/>
          </a:xfrm>
          <a:prstGeom prst="rect">
            <a:avLst/>
          </a:prstGeom>
          <a:noFill/>
          <a:ln/>
        </p:spPr>
        <p:txBody>
          <a:bodyPr wrap="none" lIns="0" tIns="0" rIns="0" bIns="0" rtlCol="0" anchor="ctr"/>
          <a:lstStyle/>
          <a:p>
            <a:pPr algn="ctr" indent="0" marL="0">
              <a:buNone/>
            </a:pPr>
            <a:r>
              <a:rPr lang="en-US" sz="1406" dirty="0">
                <a:solidFill>
                  <a:srgbClr val="A78BFA"/>
                </a:solidFill>
                <a:latin typeface="Segoe UI Symbol" pitchFamily="34" charset="0"/>
                <a:ea typeface="Segoe UI Symbol" pitchFamily="34" charset="-122"/>
                <a:cs typeface="Segoe UI Symbol" pitchFamily="34" charset="-120"/>
              </a:rPr>
              <a:t>◉</a:t>
            </a:r>
            <a:endParaRPr lang="en-US" sz="1406" dirty="0"/>
          </a:p>
        </p:txBody>
      </p:sp>
      <p:sp>
        <p:nvSpPr>
          <p:cNvPr id="15" name="Text 12"/>
          <p:cNvSpPr/>
          <p:nvPr/>
        </p:nvSpPr>
        <p:spPr>
          <a:xfrm>
            <a:off x="3455119" y="3223617"/>
            <a:ext cx="2233650" cy="441216"/>
          </a:xfrm>
          <a:prstGeom prst="rect">
            <a:avLst/>
          </a:prstGeom>
          <a:noFill/>
          <a:ln/>
        </p:spPr>
        <p:txBody>
          <a:bodyPr wrap="none" lIns="0" tIns="0" rIns="0" bIns="0" rtlCol="0" anchor="t"/>
          <a:lstStyle/>
          <a:p>
            <a:pPr algn="l" indent="0" marL="0">
              <a:lnSpc>
                <a:spcPts val="1609"/>
              </a:lnSpc>
              <a:buNone/>
            </a:pPr>
            <a:r>
              <a:rPr lang="en-US" sz="1238" dirty="0">
                <a:solidFill>
                  <a:srgbClr val="E8ECF4"/>
                </a:solidFill>
                <a:latin typeface="Carlito" pitchFamily="34" charset="0"/>
                <a:ea typeface="Carlito" pitchFamily="34" charset="-122"/>
                <a:cs typeface="Carlito" pitchFamily="34" charset="-120"/>
              </a:rPr>
              <a:t>Confidence at Every Layer</a:t>
            </a:r>
            <a:endParaRPr lang="en-US" sz="1238" dirty="0"/>
          </a:p>
        </p:txBody>
      </p:sp>
      <p:sp>
        <p:nvSpPr>
          <p:cNvPr id="16" name="Text 13"/>
          <p:cNvSpPr/>
          <p:nvPr/>
        </p:nvSpPr>
        <p:spPr>
          <a:xfrm>
            <a:off x="3455119" y="3717875"/>
            <a:ext cx="2233650" cy="850106"/>
          </a:xfrm>
          <a:prstGeom prst="rect">
            <a:avLst/>
          </a:prstGeom>
          <a:noFill/>
          <a:ln/>
        </p:spPr>
        <p:txBody>
          <a:bodyPr wrap="square" lIns="0" tIns="0" rIns="0" bIns="0" rtlCol="0" anchor="t"/>
          <a:lstStyle/>
          <a:p>
            <a:pPr algn="l" indent="0" marL="0">
              <a:lnSpc>
                <a:spcPts val="1673"/>
              </a:lnSpc>
              <a:buNone/>
            </a:pPr>
            <a:r>
              <a:rPr lang="en-US" sz="956" dirty="0">
                <a:solidFill>
                  <a:srgbClr val="8B95AD"/>
                </a:solidFill>
                <a:latin typeface="Carlito" pitchFamily="34" charset="0"/>
                <a:ea typeface="Carlito" pitchFamily="34" charset="-122"/>
                <a:cs typeface="Carlito" pitchFamily="34" charset="-120"/>
              </a:rPr>
              <a:t>Every recommendation carries an evidence footprint. Users never have to guess why the system suggests something.</a:t>
            </a:r>
            <a:endParaRPr lang="en-US" sz="956" dirty="0"/>
          </a:p>
        </p:txBody>
      </p:sp>
      <p:sp>
        <p:nvSpPr>
          <p:cNvPr id="17" name="Text 14"/>
          <p:cNvSpPr/>
          <p:nvPr/>
        </p:nvSpPr>
        <p:spPr>
          <a:xfrm>
            <a:off x="6099535" y="2619970"/>
            <a:ext cx="2583582" cy="2151608"/>
          </a:xfrm>
          <a:prstGeom prst="roundRect">
            <a:avLst>
              <a:gd name="adj" fmla="val 7083"/>
            </a:avLst>
          </a:prstGeom>
          <a:solidFill>
            <a:srgbClr val="161C2A">
              <a:alpha val="70000"/>
            </a:srgbClr>
          </a:solidFill>
          <a:ln w="7144">
            <a:solidFill>
              <a:srgbClr val="22C55E"/>
            </a:solidFill>
            <a:prstDash val="solid"/>
          </a:ln>
        </p:spPr>
        <p:txBody>
          <a:bodyPr wrap="square" rtlCol="0" anchor="ctr"/>
          <a:lstStyle/>
          <a:p>
            <a:pPr indent="0" marL="0">
              <a:buNone/>
            </a:pPr>
            <a:endParaRPr lang="en-US" dirty="0"/>
          </a:p>
        </p:txBody>
      </p:sp>
      <p:sp>
        <p:nvSpPr>
          <p:cNvPr id="18" name="Text 15"/>
          <p:cNvSpPr/>
          <p:nvPr/>
        </p:nvSpPr>
        <p:spPr>
          <a:xfrm>
            <a:off x="6274557" y="2823567"/>
            <a:ext cx="314325" cy="314325"/>
          </a:xfrm>
          <a:prstGeom prst="roundRect">
            <a:avLst>
              <a:gd name="adj" fmla="val 30300000"/>
            </a:avLst>
          </a:prstGeom>
          <a:solidFill>
            <a:srgbClr val="22C55E">
              <a:alpha val="12000"/>
            </a:srgbClr>
          </a:solidFill>
          <a:ln/>
        </p:spPr>
        <p:txBody>
          <a:bodyPr wrap="square" rtlCol="0" anchor="ctr"/>
          <a:lstStyle/>
          <a:p>
            <a:pPr indent="0" marL="0">
              <a:buNone/>
            </a:pPr>
            <a:endParaRPr lang="en-US" dirty="0"/>
          </a:p>
        </p:txBody>
      </p:sp>
      <p:sp>
        <p:nvSpPr>
          <p:cNvPr id="19" name="Text 16"/>
          <p:cNvSpPr/>
          <p:nvPr/>
        </p:nvSpPr>
        <p:spPr>
          <a:xfrm>
            <a:off x="6328135" y="2877145"/>
            <a:ext cx="207169" cy="207169"/>
          </a:xfrm>
          <a:prstGeom prst="rect">
            <a:avLst/>
          </a:prstGeom>
          <a:noFill/>
          <a:ln/>
        </p:spPr>
        <p:txBody>
          <a:bodyPr wrap="none" lIns="0" tIns="0" rIns="0" bIns="0" rtlCol="0" anchor="ctr"/>
          <a:lstStyle/>
          <a:p>
            <a:pPr algn="ctr" indent="0" marL="0">
              <a:buNone/>
            </a:pPr>
            <a:r>
              <a:rPr lang="en-US" sz="1406" dirty="0">
                <a:solidFill>
                  <a:srgbClr val="4ADE80"/>
                </a:solidFill>
                <a:latin typeface="Segoe UI Symbol" pitchFamily="34" charset="0"/>
                <a:ea typeface="Segoe UI Symbol" pitchFamily="34" charset="-122"/>
                <a:cs typeface="Segoe UI Symbol" pitchFamily="34" charset="-120"/>
              </a:rPr>
              <a:t>✦</a:t>
            </a:r>
            <a:endParaRPr lang="en-US" sz="1406" dirty="0"/>
          </a:p>
        </p:txBody>
      </p:sp>
      <p:sp>
        <p:nvSpPr>
          <p:cNvPr id="20" name="Text 17"/>
          <p:cNvSpPr/>
          <p:nvPr/>
        </p:nvSpPr>
        <p:spPr>
          <a:xfrm>
            <a:off x="6274557" y="3223617"/>
            <a:ext cx="2233538" cy="441216"/>
          </a:xfrm>
          <a:prstGeom prst="rect">
            <a:avLst/>
          </a:prstGeom>
          <a:noFill/>
          <a:ln/>
        </p:spPr>
        <p:txBody>
          <a:bodyPr wrap="square" lIns="0" tIns="0" rIns="0" bIns="0" rtlCol="0" anchor="t"/>
          <a:lstStyle/>
          <a:p>
            <a:pPr algn="l" indent="0" marL="0">
              <a:lnSpc>
                <a:spcPts val="1609"/>
              </a:lnSpc>
              <a:buNone/>
            </a:pPr>
            <a:r>
              <a:rPr lang="en-US" sz="1238" dirty="0">
                <a:solidFill>
                  <a:srgbClr val="E8ECF4"/>
                </a:solidFill>
                <a:latin typeface="Liberation Sans Narrow" pitchFamily="34" charset="0"/>
                <a:ea typeface="Liberation Sans Narrow" pitchFamily="34" charset="-122"/>
                <a:cs typeface="Liberation Sans Narrow" pitchFamily="34" charset="-120"/>
              </a:rPr>
              <a:t>3-Morning-Minute Protocol</a:t>
            </a:r>
            <a:endParaRPr lang="en-US" sz="1238" dirty="0"/>
          </a:p>
        </p:txBody>
      </p:sp>
      <p:sp>
        <p:nvSpPr>
          <p:cNvPr id="21" name="Text 18"/>
          <p:cNvSpPr/>
          <p:nvPr/>
        </p:nvSpPr>
        <p:spPr>
          <a:xfrm>
            <a:off x="6274557" y="3717875"/>
            <a:ext cx="2233538" cy="850106"/>
          </a:xfrm>
          <a:prstGeom prst="rect">
            <a:avLst/>
          </a:prstGeom>
          <a:noFill/>
          <a:ln/>
        </p:spPr>
        <p:txBody>
          <a:bodyPr wrap="square" lIns="0" tIns="0" rIns="0" bIns="0" rtlCol="0" anchor="t"/>
          <a:lstStyle/>
          <a:p>
            <a:pPr algn="l" indent="0" marL="0">
              <a:lnSpc>
                <a:spcPts val="1673"/>
              </a:lnSpc>
              <a:buNone/>
            </a:pPr>
            <a:r>
              <a:rPr lang="en-US" sz="956" dirty="0">
                <a:solidFill>
                  <a:srgbClr val="8B95AD"/>
                </a:solidFill>
                <a:latin typeface="Carlito" pitchFamily="34" charset="0"/>
                <a:ea typeface="Carlito" pitchFamily="34" charset="-122"/>
                <a:cs typeface="Carlito" pitchFamily="34" charset="-120"/>
              </a:rPr>
              <a:t>The entire Intelligence Hub experience is designed to deliver complete situational awareness in under 3 minutes.</a:t>
            </a:r>
            <a:endParaRPr lang="en-US" sz="956"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457200" y="457200"/>
            <a:ext cx="8636000" cy="324041"/>
          </a:xfrm>
          <a:prstGeom prst="rect">
            <a:avLst/>
          </a:prstGeom>
          <a:noFill/>
          <a:ln/>
        </p:spPr>
        <p:txBody>
          <a:bodyPr wrap="none" lIns="0" tIns="0" rIns="0" bIns="0" rtlCol="0" anchor="t"/>
          <a:lstStyle/>
          <a:p>
            <a:pPr algn="l" indent="0" marL="0">
              <a:lnSpc>
                <a:spcPts val="2363"/>
              </a:lnSpc>
              <a:buNone/>
            </a:pPr>
            <a:r>
              <a:rPr lang="en-US" sz="1575" b="1" dirty="0">
                <a:solidFill>
                  <a:srgbClr val="E8ECF4"/>
                </a:solidFill>
                <a:latin typeface="Carlito" pitchFamily="34" charset="0"/>
                <a:ea typeface="Carlito" pitchFamily="34" charset="-122"/>
                <a:cs typeface="Carlito" pitchFamily="34" charset="-120"/>
              </a:rPr>
              <a:t>The Intelligence Gap</a:t>
            </a:r>
            <a:endParaRPr lang="en-US" sz="1575" dirty="0"/>
          </a:p>
        </p:txBody>
      </p:sp>
      <p:sp>
        <p:nvSpPr>
          <p:cNvPr id="3" name="Text 1"/>
          <p:cNvSpPr/>
          <p:nvPr/>
        </p:nvSpPr>
        <p:spPr>
          <a:xfrm>
            <a:off x="457200" y="842963"/>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4" name="Text 2"/>
          <p:cNvSpPr/>
          <p:nvPr/>
        </p:nvSpPr>
        <p:spPr>
          <a:xfrm>
            <a:off x="460772" y="1210866"/>
            <a:ext cx="3798466" cy="3471863"/>
          </a:xfrm>
          <a:prstGeom prst="roundRect">
            <a:avLst>
              <a:gd name="adj" fmla="val 4390"/>
            </a:avLst>
          </a:prstGeom>
          <a:solidFill>
            <a:srgbClr val="161C2A">
              <a:alpha val="60000"/>
            </a:srgbClr>
          </a:solidFill>
          <a:ln w="7144">
            <a:solidFill>
              <a:srgbClr val="EF4444"/>
            </a:solidFill>
            <a:prstDash val="solid"/>
          </a:ln>
        </p:spPr>
        <p:txBody>
          <a:bodyPr wrap="square" rtlCol="0" anchor="ctr"/>
          <a:lstStyle/>
          <a:p>
            <a:pPr indent="0" marL="0">
              <a:buNone/>
            </a:pPr>
            <a:endParaRPr lang="en-US" dirty="0"/>
          </a:p>
        </p:txBody>
      </p:sp>
      <p:sp>
        <p:nvSpPr>
          <p:cNvPr id="5" name="Text 3"/>
          <p:cNvSpPr/>
          <p:nvPr/>
        </p:nvSpPr>
        <p:spPr>
          <a:xfrm>
            <a:off x="641509" y="1401952"/>
            <a:ext cx="1115720" cy="233529"/>
          </a:xfrm>
          <a:prstGeom prst="roundRect">
            <a:avLst>
              <a:gd name="adj" fmla="val 40783147"/>
            </a:avLst>
          </a:prstGeom>
          <a:solidFill>
            <a:srgbClr val="EF4444">
              <a:alpha val="15000"/>
            </a:srgbClr>
          </a:solidFill>
          <a:ln w="7144">
            <a:solidFill>
              <a:srgbClr val="EF4444"/>
            </a:solidFill>
            <a:prstDash val="solid"/>
          </a:ln>
        </p:spPr>
        <p:txBody>
          <a:bodyPr wrap="square" rtlCol="0" anchor="ctr"/>
          <a:lstStyle/>
          <a:p>
            <a:pPr indent="0" marL="0">
              <a:buNone/>
            </a:pPr>
            <a:endParaRPr lang="en-US" dirty="0"/>
          </a:p>
        </p:txBody>
      </p:sp>
      <p:sp>
        <p:nvSpPr>
          <p:cNvPr id="6" name="Text 4"/>
          <p:cNvSpPr/>
          <p:nvPr/>
        </p:nvSpPr>
        <p:spPr>
          <a:xfrm>
            <a:off x="664369" y="1414463"/>
            <a:ext cx="1070000" cy="208508"/>
          </a:xfrm>
          <a:prstGeom prst="rect">
            <a:avLst/>
          </a:prstGeom>
          <a:noFill/>
          <a:ln/>
        </p:spPr>
        <p:txBody>
          <a:bodyPr wrap="none" lIns="0" tIns="0" rIns="0" bIns="0" rtlCol="0" anchor="ctr"/>
          <a:lstStyle/>
          <a:p>
            <a:pPr algn="ctr" indent="0" marL="0">
              <a:lnSpc>
                <a:spcPts val="1080"/>
              </a:lnSpc>
              <a:buNone/>
            </a:pPr>
            <a:r>
              <a:rPr lang="en-US" sz="800" spc="36" kern="0" dirty="0">
                <a:solidFill>
                  <a:srgbClr val="F87171"/>
                </a:solidFill>
                <a:latin typeface="Carlito" pitchFamily="34" charset="0"/>
                <a:ea typeface="Carlito" pitchFamily="34" charset="-122"/>
                <a:cs typeface="Carlito" pitchFamily="34" charset="-120"/>
              </a:rPr>
              <a:t>CURRENT STATE</a:t>
            </a:r>
            <a:endParaRPr lang="en-US" sz="800" dirty="0"/>
          </a:p>
        </p:txBody>
      </p:sp>
      <p:sp>
        <p:nvSpPr>
          <p:cNvPr id="7" name="Text 5"/>
          <p:cNvSpPr/>
          <p:nvPr/>
        </p:nvSpPr>
        <p:spPr>
          <a:xfrm>
            <a:off x="664369" y="1765846"/>
            <a:ext cx="3391272" cy="173593"/>
          </a:xfrm>
          <a:prstGeom prst="rect">
            <a:avLst/>
          </a:prstGeom>
          <a:noFill/>
          <a:ln/>
        </p:spPr>
        <p:txBody>
          <a:bodyPr wrap="none" lIns="0" tIns="0" rIns="0" bIns="0" rtlCol="0" anchor="t"/>
          <a:lstStyle/>
          <a:p>
            <a:pPr algn="l" indent="0" marL="0">
              <a:lnSpc>
                <a:spcPts val="1266"/>
              </a:lnSpc>
              <a:buNone/>
            </a:pPr>
            <a:r>
              <a:rPr lang="en-US" sz="844" dirty="0">
                <a:solidFill>
                  <a:srgbClr val="8B95AD"/>
                </a:solidFill>
                <a:latin typeface="Carlito" pitchFamily="34" charset="0"/>
                <a:ea typeface="Carlito" pitchFamily="34" charset="-122"/>
                <a:cs typeface="Carlito" pitchFamily="34" charset="-120"/>
              </a:rPr>
              <a:t>What Users Have Today</a:t>
            </a:r>
            <a:endParaRPr lang="en-US" sz="844" dirty="0"/>
          </a:p>
        </p:txBody>
      </p:sp>
      <p:sp>
        <p:nvSpPr>
          <p:cNvPr id="8" name="Text 6"/>
          <p:cNvSpPr/>
          <p:nvPr/>
        </p:nvSpPr>
        <p:spPr>
          <a:xfrm>
            <a:off x="664369" y="2069455"/>
            <a:ext cx="3391272" cy="2639982"/>
          </a:xfrm>
          <a:prstGeom prst="rect">
            <a:avLst/>
          </a:prstGeom>
          <a:noFill/>
          <a:ln/>
        </p:spPr>
        <p:txBody>
          <a:bodyPr wrap="square" lIns="0" tIns="0" rIns="0" bIns="0" rtlCol="0" anchor="t"/>
          <a:lstStyle/>
          <a:p>
            <a:pPr algn="l" marL="342900" indent="-342900">
              <a:lnSpc>
                <a:spcPts val="1291"/>
              </a:lnSpc>
              <a:spcAft>
                <a:spcPts val="675"/>
              </a:spcAft>
              <a:buSzPct val="100000"/>
              <a:buChar char="•"/>
            </a:pPr>
            <a:r>
              <a:rPr lang="en-US" sz="956" dirty="0">
                <a:solidFill>
                  <a:srgbClr val="8B95AD"/>
                </a:solidFill>
                <a:latin typeface="Carlito" pitchFamily="34" charset="0"/>
                <a:ea typeface="Carlito" pitchFamily="34" charset="-122"/>
                <a:cs typeface="Carlito" pitchFamily="34" charset="-120"/>
              </a:rPr>
              <a:t>12 KPI cards without prioritization</a:t>
            </a:r>
            <a:endParaRPr lang="en-US" sz="956" dirty="0"/>
          </a:p>
          <a:p>
            <a:pPr algn="l" marL="342900" indent="-342900">
              <a:lnSpc>
                <a:spcPts val="1291"/>
              </a:lnSpc>
              <a:spcAft>
                <a:spcPts val="675"/>
              </a:spcAft>
              <a:buSzPct val="100000"/>
              <a:buChar char="•"/>
            </a:pPr>
            <a:r>
              <a:rPr lang="en-US" sz="956" dirty="0">
                <a:solidFill>
                  <a:srgbClr val="8B95AD"/>
                </a:solidFill>
                <a:latin typeface="Carlito" pitchFamily="34" charset="0"/>
                <a:ea typeface="Carlito" pitchFamily="34" charset="-122"/>
                <a:cs typeface="Carlito" pitchFamily="34" charset="-120"/>
              </a:rPr>
              <a:t>Activity feeds without context</a:t>
            </a:r>
            <a:endParaRPr lang="en-US" sz="956" dirty="0"/>
          </a:p>
          <a:p>
            <a:pPr algn="l" marL="342900" indent="-342900">
              <a:lnSpc>
                <a:spcPts val="1291"/>
              </a:lnSpc>
              <a:spcAft>
                <a:spcPts val="675"/>
              </a:spcAft>
              <a:buSzPct val="100000"/>
              <a:buChar char="•"/>
            </a:pPr>
            <a:r>
              <a:rPr lang="en-US" sz="956" dirty="0">
                <a:solidFill>
                  <a:srgbClr val="8B95AD"/>
                </a:solidFill>
                <a:latin typeface="Carlito" pitchFamily="34" charset="0"/>
                <a:ea typeface="Carlito" pitchFamily="34" charset="-122"/>
                <a:cs typeface="Carlito" pitchFamily="34" charset="-120"/>
              </a:rPr>
              <a:t>Pipeline stages without intelligence</a:t>
            </a:r>
            <a:endParaRPr lang="en-US" sz="956" dirty="0"/>
          </a:p>
          <a:p>
            <a:pPr algn="l" marL="342900" indent="-342900">
              <a:lnSpc>
                <a:spcPts val="1291"/>
              </a:lnSpc>
              <a:spcAft>
                <a:spcPts val="675"/>
              </a:spcAft>
              <a:buSzPct val="100000"/>
              <a:buChar char="•"/>
            </a:pPr>
            <a:r>
              <a:rPr lang="en-US" sz="956" dirty="0">
                <a:solidFill>
                  <a:srgbClr val="8B95AD"/>
                </a:solidFill>
                <a:latin typeface="Carlito" pitchFamily="34" charset="0"/>
                <a:ea typeface="Carlito" pitchFamily="34" charset="-122"/>
                <a:cs typeface="Carlito" pitchFamily="34" charset="-120"/>
              </a:rPr>
              <a:t>Audit logs without narrative</a:t>
            </a:r>
            <a:endParaRPr lang="en-US" sz="956" dirty="0"/>
          </a:p>
          <a:p>
            <a:pPr algn="l" marL="342900" indent="-342900">
              <a:lnSpc>
                <a:spcPts val="1291"/>
              </a:lnSpc>
              <a:spcAft>
                <a:spcPts val="675"/>
              </a:spcAft>
              <a:buSzPct val="100000"/>
              <a:buChar char="•"/>
            </a:pPr>
            <a:r>
              <a:rPr lang="en-US" sz="956" dirty="0">
                <a:solidFill>
                  <a:srgbClr val="8B95AD"/>
                </a:solidFill>
                <a:latin typeface="Carlito" pitchFamily="34" charset="0"/>
                <a:ea typeface="Carlito" pitchFamily="34" charset="-122"/>
                <a:cs typeface="Carlito" pitchFamily="34" charset="-120"/>
              </a:rPr>
              <a:t>Data-heavy dashboards that answer 'what' but never 'why' or 'what next'</a:t>
            </a:r>
            <a:endParaRPr lang="en-US" sz="956" dirty="0"/>
          </a:p>
          <a:p>
            <a:pPr algn="l" marL="342900" indent="-342900">
              <a:lnSpc>
                <a:spcPts val="1291"/>
              </a:lnSpc>
              <a:spcAft>
                <a:spcPts val="675"/>
              </a:spcAft>
              <a:buSzPct val="100000"/>
              <a:buChar char="•"/>
            </a:pPr>
            <a:r>
              <a:rPr lang="en-US" sz="956" dirty="0">
                <a:solidFill>
                  <a:srgbClr val="8B95AD"/>
                </a:solidFill>
                <a:latin typeface="Carlito" pitchFamily="34" charset="0"/>
                <a:ea typeface="Carlito" pitchFamily="34" charset="-122"/>
                <a:cs typeface="Carlito" pitchFamily="34" charset="-120"/>
              </a:rPr>
              <a:t>76+ screens with no clear entry point</a:t>
            </a:r>
            <a:endParaRPr lang="en-US" sz="956" dirty="0"/>
          </a:p>
          <a:p>
            <a:pPr algn="l" marL="342900" indent="-342900">
              <a:lnSpc>
                <a:spcPts val="1291"/>
              </a:lnSpc>
              <a:spcAft>
                <a:spcPts val="675"/>
              </a:spcAft>
              <a:buSzPct val="100000"/>
              <a:buChar char="•"/>
            </a:pPr>
            <a:r>
              <a:rPr lang="en-US" sz="956" dirty="0">
                <a:solidFill>
                  <a:srgbClr val="8B95AD"/>
                </a:solidFill>
                <a:latin typeface="Carlito" pitchFamily="34" charset="0"/>
                <a:ea typeface="Carlito" pitchFamily="34" charset="-122"/>
                <a:cs typeface="Carlito" pitchFamily="34" charset="-120"/>
              </a:rPr>
              <a:t>Information overload without cognitive hierarchy</a:t>
            </a:r>
            <a:endParaRPr lang="en-US" sz="956" dirty="0"/>
          </a:p>
        </p:txBody>
      </p:sp>
      <p:pic>
        <p:nvPicPr>
          <p:cNvPr id="9" name="Image 0" descr="preencoded.png">    </p:cNvPr>
          <p:cNvPicPr>
            <a:picLocks noChangeAspect="1"/>
          </p:cNvPicPr>
          <p:nvPr/>
        </p:nvPicPr>
        <p:blipFill>
          <a:blip r:embed="rId1"/>
          <a:stretch>
            <a:fillRect/>
          </a:stretch>
        </p:blipFill>
        <p:spPr>
          <a:xfrm>
            <a:off x="4568317" y="2209205"/>
            <a:ext cx="7144" cy="571500"/>
          </a:xfrm>
          <a:prstGeom prst="rect">
            <a:avLst/>
          </a:prstGeom>
        </p:spPr>
      </p:pic>
      <p:sp>
        <p:nvSpPr>
          <p:cNvPr id="10" name="Text 7"/>
          <p:cNvSpPr/>
          <p:nvPr/>
        </p:nvSpPr>
        <p:spPr>
          <a:xfrm>
            <a:off x="4392384" y="2825053"/>
            <a:ext cx="359121" cy="243488"/>
          </a:xfrm>
          <a:prstGeom prst="roundRect">
            <a:avLst>
              <a:gd name="adj" fmla="val 39115059"/>
            </a:avLst>
          </a:prstGeom>
          <a:solidFill>
            <a:srgbClr val="111520"/>
          </a:solidFill>
          <a:ln w="7144">
            <a:solidFill>
              <a:srgbClr val="252E42"/>
            </a:solidFill>
            <a:prstDash val="solid"/>
          </a:ln>
        </p:spPr>
        <p:txBody>
          <a:bodyPr wrap="square" rtlCol="0" anchor="ctr"/>
          <a:lstStyle/>
          <a:p>
            <a:pPr indent="0" marL="0">
              <a:buNone/>
            </a:pPr>
            <a:endParaRPr lang="en-US" dirty="0"/>
          </a:p>
        </p:txBody>
      </p:sp>
      <p:sp>
        <p:nvSpPr>
          <p:cNvPr id="11" name="Text 8"/>
          <p:cNvSpPr/>
          <p:nvPr/>
        </p:nvSpPr>
        <p:spPr>
          <a:xfrm>
            <a:off x="4405685" y="2837855"/>
            <a:ext cx="332519" cy="217884"/>
          </a:xfrm>
          <a:prstGeom prst="rect">
            <a:avLst/>
          </a:prstGeom>
          <a:noFill/>
          <a:ln/>
        </p:spPr>
        <p:txBody>
          <a:bodyPr wrap="none" lIns="0" tIns="0" rIns="0" bIns="0" rtlCol="0" anchor="ctr"/>
          <a:lstStyle/>
          <a:p>
            <a:pPr algn="ctr" indent="0" marL="0">
              <a:lnSpc>
                <a:spcPts val="928"/>
              </a:lnSpc>
              <a:buNone/>
            </a:pPr>
            <a:r>
              <a:rPr lang="en-US" sz="800" spc="93" kern="0" dirty="0">
                <a:solidFill>
                  <a:srgbClr val="8B95AD"/>
                </a:solidFill>
                <a:latin typeface="Courier New" pitchFamily="34" charset="0"/>
                <a:ea typeface="Courier New" pitchFamily="34" charset="-122"/>
                <a:cs typeface="Courier New" pitchFamily="34" charset="-120"/>
              </a:rPr>
              <a:t>VS</a:t>
            </a:r>
            <a:endParaRPr lang="en-US" sz="800" dirty="0"/>
          </a:p>
        </p:txBody>
      </p:sp>
      <p:pic>
        <p:nvPicPr>
          <p:cNvPr id="12" name="Image 1" descr="preencoded.png">    </p:cNvPr>
          <p:cNvPicPr>
            <a:picLocks noChangeAspect="1"/>
          </p:cNvPicPr>
          <p:nvPr/>
        </p:nvPicPr>
        <p:blipFill>
          <a:blip r:embed="rId2"/>
          <a:stretch>
            <a:fillRect/>
          </a:stretch>
        </p:blipFill>
        <p:spPr>
          <a:xfrm>
            <a:off x="4568317" y="3112889"/>
            <a:ext cx="7144" cy="571500"/>
          </a:xfrm>
          <a:prstGeom prst="rect">
            <a:avLst/>
          </a:prstGeom>
        </p:spPr>
      </p:pic>
      <p:sp>
        <p:nvSpPr>
          <p:cNvPr id="13" name="Text 9"/>
          <p:cNvSpPr/>
          <p:nvPr/>
        </p:nvSpPr>
        <p:spPr>
          <a:xfrm>
            <a:off x="4884651" y="1210866"/>
            <a:ext cx="3798577" cy="3471863"/>
          </a:xfrm>
          <a:prstGeom prst="roundRect">
            <a:avLst>
              <a:gd name="adj" fmla="val 4390"/>
            </a:avLst>
          </a:prstGeom>
          <a:solidFill>
            <a:srgbClr val="161C2A">
              <a:alpha val="60000"/>
            </a:srgbClr>
          </a:solidFill>
          <a:ln w="7144">
            <a:solidFill>
              <a:srgbClr val="3B82F6"/>
            </a:solidFill>
            <a:prstDash val="solid"/>
          </a:ln>
        </p:spPr>
        <p:txBody>
          <a:bodyPr wrap="square" rtlCol="0" anchor="ctr"/>
          <a:lstStyle/>
          <a:p>
            <a:pPr indent="0" marL="0">
              <a:buNone/>
            </a:pPr>
            <a:endParaRPr lang="en-US" dirty="0"/>
          </a:p>
        </p:txBody>
      </p:sp>
      <p:sp>
        <p:nvSpPr>
          <p:cNvPr id="14" name="Text 10"/>
          <p:cNvSpPr/>
          <p:nvPr/>
        </p:nvSpPr>
        <p:spPr>
          <a:xfrm>
            <a:off x="5065388" y="1401952"/>
            <a:ext cx="1164387" cy="233529"/>
          </a:xfrm>
          <a:prstGeom prst="roundRect">
            <a:avLst>
              <a:gd name="adj" fmla="val 40783147"/>
            </a:avLst>
          </a:prstGeom>
          <a:solidFill>
            <a:srgbClr val="3B82F6">
              <a:alpha val="15000"/>
            </a:srgbClr>
          </a:solidFill>
          <a:ln w="7144">
            <a:solidFill>
              <a:srgbClr val="3B82F6"/>
            </a:solidFill>
            <a:prstDash val="solid"/>
          </a:ln>
        </p:spPr>
        <p:txBody>
          <a:bodyPr wrap="square" rtlCol="0" anchor="ctr"/>
          <a:lstStyle/>
          <a:p>
            <a:pPr indent="0" marL="0">
              <a:buNone/>
            </a:pPr>
            <a:endParaRPr lang="en-US" dirty="0"/>
          </a:p>
        </p:txBody>
      </p:sp>
      <p:sp>
        <p:nvSpPr>
          <p:cNvPr id="15" name="Text 11"/>
          <p:cNvSpPr/>
          <p:nvPr/>
        </p:nvSpPr>
        <p:spPr>
          <a:xfrm>
            <a:off x="5088248" y="1414463"/>
            <a:ext cx="1118667" cy="208508"/>
          </a:xfrm>
          <a:prstGeom prst="rect">
            <a:avLst/>
          </a:prstGeom>
          <a:noFill/>
          <a:ln/>
        </p:spPr>
        <p:txBody>
          <a:bodyPr wrap="none" lIns="0" tIns="0" rIns="0" bIns="0" rtlCol="0" anchor="ctr"/>
          <a:lstStyle/>
          <a:p>
            <a:pPr algn="ctr" indent="0" marL="0">
              <a:lnSpc>
                <a:spcPts val="1080"/>
              </a:lnSpc>
              <a:buNone/>
            </a:pPr>
            <a:r>
              <a:rPr lang="en-US" sz="800" spc="36" kern="0" dirty="0">
                <a:solidFill>
                  <a:srgbClr val="60A5FA"/>
                </a:solidFill>
                <a:latin typeface="Carlito" pitchFamily="34" charset="0"/>
                <a:ea typeface="Carlito" pitchFamily="34" charset="-122"/>
                <a:cs typeface="Carlito" pitchFamily="34" charset="-120"/>
              </a:rPr>
              <a:t>REQUIRED STATE</a:t>
            </a:r>
            <a:endParaRPr lang="en-US" sz="800" dirty="0"/>
          </a:p>
        </p:txBody>
      </p:sp>
      <p:sp>
        <p:nvSpPr>
          <p:cNvPr id="16" name="Text 12"/>
          <p:cNvSpPr/>
          <p:nvPr/>
        </p:nvSpPr>
        <p:spPr>
          <a:xfrm>
            <a:off x="5088248" y="1765846"/>
            <a:ext cx="3391384" cy="173593"/>
          </a:xfrm>
          <a:prstGeom prst="rect">
            <a:avLst/>
          </a:prstGeom>
          <a:noFill/>
          <a:ln/>
        </p:spPr>
        <p:txBody>
          <a:bodyPr wrap="none" lIns="0" tIns="0" rIns="0" bIns="0" rtlCol="0" anchor="t"/>
          <a:lstStyle/>
          <a:p>
            <a:pPr algn="l" indent="0" marL="0">
              <a:lnSpc>
                <a:spcPts val="1266"/>
              </a:lnSpc>
              <a:buNone/>
            </a:pPr>
            <a:r>
              <a:rPr lang="en-US" sz="844" dirty="0">
                <a:solidFill>
                  <a:srgbClr val="8B95AD"/>
                </a:solidFill>
                <a:latin typeface="Carlito" pitchFamily="34" charset="0"/>
                <a:ea typeface="Carlito" pitchFamily="34" charset="-122"/>
                <a:cs typeface="Carlito" pitchFamily="34" charset="-120"/>
              </a:rPr>
              <a:t>What Users Need</a:t>
            </a:r>
            <a:endParaRPr lang="en-US" sz="844" dirty="0"/>
          </a:p>
        </p:txBody>
      </p:sp>
      <p:sp>
        <p:nvSpPr>
          <p:cNvPr id="17" name="Text 13"/>
          <p:cNvSpPr/>
          <p:nvPr/>
        </p:nvSpPr>
        <p:spPr>
          <a:xfrm>
            <a:off x="5088248" y="2069455"/>
            <a:ext cx="3391384" cy="2639982"/>
          </a:xfrm>
          <a:prstGeom prst="rect">
            <a:avLst/>
          </a:prstGeom>
          <a:noFill/>
          <a:ln/>
        </p:spPr>
        <p:txBody>
          <a:bodyPr wrap="square" lIns="0" tIns="0" rIns="0" bIns="0" rtlCol="0" anchor="t"/>
          <a:lstStyle/>
          <a:p>
            <a:pPr algn="l" marL="342900" indent="-342900">
              <a:lnSpc>
                <a:spcPts val="1291"/>
              </a:lnSpc>
              <a:spcAft>
                <a:spcPts val="675"/>
              </a:spcAft>
              <a:buSzPct val="100000"/>
              <a:buChar char="•"/>
            </a:pPr>
            <a:r>
              <a:rPr lang="en-US" sz="956" dirty="0">
                <a:solidFill>
                  <a:srgbClr val="E8ECF4"/>
                </a:solidFill>
                <a:latin typeface="Carlito" pitchFamily="34" charset="0"/>
                <a:ea typeface="Carlito" pitchFamily="34" charset="-122"/>
                <a:cs typeface="Carlito" pitchFamily="34" charset="-120"/>
              </a:rPr>
              <a:t>Strategic priorities surfaced automatically</a:t>
            </a:r>
            <a:endParaRPr lang="en-US" sz="956" dirty="0"/>
          </a:p>
          <a:p>
            <a:pPr algn="l" marL="342900" indent="-342900">
              <a:lnSpc>
                <a:spcPts val="1291"/>
              </a:lnSpc>
              <a:spcAft>
                <a:spcPts val="675"/>
              </a:spcAft>
              <a:buSzPct val="100000"/>
              <a:buChar char="•"/>
            </a:pPr>
            <a:r>
              <a:rPr lang="en-US" sz="956" dirty="0">
                <a:solidFill>
                  <a:srgbClr val="E8ECF4"/>
                </a:solidFill>
                <a:latin typeface="Carlito" pitchFamily="34" charset="0"/>
                <a:ea typeface="Carlito" pitchFamily="34" charset="-122"/>
                <a:cs typeface="Carlito" pitchFamily="34" charset="-120"/>
              </a:rPr>
              <a:t>Critical signals with evidence trails</a:t>
            </a:r>
            <a:endParaRPr lang="en-US" sz="956" dirty="0"/>
          </a:p>
          <a:p>
            <a:pPr algn="l" marL="342900" indent="-342900">
              <a:lnSpc>
                <a:spcPts val="1291"/>
              </a:lnSpc>
              <a:spcAft>
                <a:spcPts val="675"/>
              </a:spcAft>
              <a:buSzPct val="100000"/>
              <a:buChar char="•"/>
            </a:pPr>
            <a:r>
              <a:rPr lang="en-US" sz="956" dirty="0">
                <a:solidFill>
                  <a:srgbClr val="E8ECF4"/>
                </a:solidFill>
                <a:latin typeface="Carlito" pitchFamily="34" charset="0"/>
                <a:ea typeface="Carlito" pitchFamily="34" charset="-122"/>
                <a:cs typeface="Carlito" pitchFamily="34" charset="-120"/>
              </a:rPr>
              <a:t>Recommended actions with confidence scores</a:t>
            </a:r>
            <a:endParaRPr lang="en-US" sz="956" dirty="0"/>
          </a:p>
          <a:p>
            <a:pPr algn="l" marL="342900" indent="-342900">
              <a:lnSpc>
                <a:spcPts val="1291"/>
              </a:lnSpc>
              <a:spcAft>
                <a:spcPts val="675"/>
              </a:spcAft>
              <a:buSzPct val="100000"/>
              <a:buChar char="•"/>
            </a:pPr>
            <a:r>
              <a:rPr lang="en-US" sz="956" dirty="0">
                <a:solidFill>
                  <a:srgbClr val="E8ECF4"/>
                </a:solidFill>
                <a:latin typeface="Carlito" pitchFamily="34" charset="0"/>
                <a:ea typeface="Carlito" pitchFamily="34" charset="-122"/>
                <a:cs typeface="Carlito" pitchFamily="34" charset="-120"/>
              </a:rPr>
              <a:t>Evidence footprint for every insight</a:t>
            </a:r>
            <a:endParaRPr lang="en-US" sz="956" dirty="0"/>
          </a:p>
          <a:p>
            <a:pPr algn="l" marL="342900" indent="-342900">
              <a:lnSpc>
                <a:spcPts val="1291"/>
              </a:lnSpc>
              <a:spcAft>
                <a:spcPts val="675"/>
              </a:spcAft>
              <a:buSzPct val="100000"/>
              <a:buChar char="•"/>
            </a:pPr>
            <a:r>
              <a:rPr lang="en-US" sz="956" dirty="0">
                <a:solidFill>
                  <a:srgbClr val="E8ECF4"/>
                </a:solidFill>
                <a:latin typeface="Carlito" pitchFamily="34" charset="0"/>
                <a:ea typeface="Carlito" pitchFamily="34" charset="-122"/>
                <a:cs typeface="Carlito" pitchFamily="34" charset="-120"/>
              </a:rPr>
              <a:t>3-minute morning briefing protocol</a:t>
            </a:r>
            <a:endParaRPr lang="en-US" sz="956" dirty="0"/>
          </a:p>
          <a:p>
            <a:pPr algn="l" marL="342900" indent="-342900">
              <a:lnSpc>
                <a:spcPts val="1291"/>
              </a:lnSpc>
              <a:spcAft>
                <a:spcPts val="675"/>
              </a:spcAft>
              <a:buSzPct val="100000"/>
              <a:buChar char="•"/>
            </a:pPr>
            <a:r>
              <a:rPr lang="en-US" sz="956" dirty="0">
                <a:solidFill>
                  <a:srgbClr val="E8ECF4"/>
                </a:solidFill>
                <a:latin typeface="Carlito" pitchFamily="34" charset="0"/>
                <a:ea typeface="Carlito" pitchFamily="34" charset="-122"/>
                <a:cs typeface="Carlito" pitchFamily="34" charset="-120"/>
              </a:rPr>
              <a:t>Clear information hierarchy with progressive disclosure</a:t>
            </a:r>
            <a:endParaRPr lang="en-US" sz="956" dirty="0"/>
          </a:p>
          <a:p>
            <a:pPr algn="l" marL="342900" indent="-342900">
              <a:lnSpc>
                <a:spcPts val="1291"/>
              </a:lnSpc>
              <a:spcAft>
                <a:spcPts val="675"/>
              </a:spcAft>
              <a:buSzPct val="100000"/>
              <a:buChar char="•"/>
            </a:pPr>
            <a:r>
              <a:rPr lang="en-US" sz="956" dirty="0">
                <a:solidFill>
                  <a:srgbClr val="E8ECF4"/>
                </a:solidFill>
                <a:latin typeface="Carlito" pitchFamily="34" charset="0"/>
                <a:ea typeface="Carlito" pitchFamily="34" charset="-122"/>
                <a:cs typeface="Carlito" pitchFamily="34" charset="-120"/>
              </a:rPr>
              <a:t>Navigation that answers 'what should I focus on next?'</a:t>
            </a:r>
            <a:endParaRPr lang="en-US" sz="956"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3"/>
          <a:stretch>
            <a:fillRect/>
          </a:stretch>
        </p:blipFill>
        <p:spPr>
          <a:xfrm>
            <a:off x="1285875" y="2568178"/>
            <a:ext cx="7286625" cy="7144"/>
          </a:xfrm>
          <a:prstGeom prst="rect">
            <a:avLst/>
          </a:prstGeom>
        </p:spPr>
      </p:pic>
      <p:sp>
        <p:nvSpPr>
          <p:cNvPr id="5" name="Shape 0"/>
          <p:cNvSpPr/>
          <p:nvPr/>
        </p:nvSpPr>
        <p:spPr>
          <a:xfrm>
            <a:off x="8565356" y="571500"/>
            <a:ext cx="0" cy="571500"/>
          </a:xfrm>
          <a:prstGeom prst="line">
            <a:avLst/>
          </a:prstGeom>
          <a:noFill/>
          <a:ln w="14288">
            <a:solidFill>
              <a:srgbClr val="3B82F6"/>
            </a:solidFill>
            <a:prstDash val="solid"/>
          </a:ln>
        </p:spPr>
      </p:sp>
      <p:sp>
        <p:nvSpPr>
          <p:cNvPr id="6" name="Shape 1"/>
          <p:cNvSpPr/>
          <p:nvPr/>
        </p:nvSpPr>
        <p:spPr>
          <a:xfrm>
            <a:off x="8001000" y="1135856"/>
            <a:ext cx="571500" cy="0"/>
          </a:xfrm>
          <a:prstGeom prst="line">
            <a:avLst/>
          </a:prstGeom>
          <a:noFill/>
          <a:ln w="14288">
            <a:solidFill>
              <a:srgbClr val="3B82F6"/>
            </a:solidFill>
            <a:prstDash val="solid"/>
          </a:ln>
        </p:spPr>
      </p:sp>
      <p:sp>
        <p:nvSpPr>
          <p:cNvPr id="7" name="Text 2"/>
          <p:cNvSpPr/>
          <p:nvPr/>
        </p:nvSpPr>
        <p:spPr>
          <a:xfrm>
            <a:off x="571500" y="1762385"/>
            <a:ext cx="8572500" cy="555498"/>
          </a:xfrm>
          <a:prstGeom prst="rect">
            <a:avLst/>
          </a:prstGeom>
          <a:noFill/>
          <a:ln/>
        </p:spPr>
        <p:txBody>
          <a:bodyPr wrap="none" lIns="0" tIns="0" rIns="0" bIns="0" rtlCol="0" anchor="t"/>
          <a:lstStyle/>
          <a:p>
            <a:pPr algn="l" indent="0" marL="0">
              <a:lnSpc>
                <a:spcPts val="4050"/>
              </a:lnSpc>
              <a:buNone/>
            </a:pPr>
            <a:r>
              <a:rPr lang="en-US" sz="4050" b="1" dirty="0">
                <a:solidFill>
                  <a:srgbClr val="3B82F6"/>
                </a:solidFill>
                <a:latin typeface="Liberation Sans Narrow" pitchFamily="34" charset="0"/>
                <a:ea typeface="Liberation Sans Narrow" pitchFamily="34" charset="-122"/>
                <a:cs typeface="Liberation Sans Narrow" pitchFamily="34" charset="-120"/>
              </a:rPr>
              <a:t>02</a:t>
            </a:r>
            <a:endParaRPr lang="en-US" sz="4050" dirty="0"/>
          </a:p>
        </p:txBody>
      </p:sp>
      <p:sp>
        <p:nvSpPr>
          <p:cNvPr id="8" name="Text 3"/>
          <p:cNvSpPr/>
          <p:nvPr/>
        </p:nvSpPr>
        <p:spPr>
          <a:xfrm>
            <a:off x="571500" y="2391035"/>
            <a:ext cx="8521065" cy="390343"/>
          </a:xfrm>
          <a:prstGeom prst="rect">
            <a:avLst/>
          </a:prstGeom>
          <a:noFill/>
          <a:ln/>
        </p:spPr>
        <p:txBody>
          <a:bodyPr wrap="none" lIns="0" tIns="0" rIns="0" bIns="0" rtlCol="0" anchor="t"/>
          <a:lstStyle/>
          <a:p>
            <a:pPr algn="l" indent="0" marL="0">
              <a:lnSpc>
                <a:spcPts val="2846"/>
              </a:lnSpc>
              <a:buNone/>
            </a:pPr>
            <a:r>
              <a:rPr lang="en-US" sz="2475" b="1" dirty="0">
                <a:solidFill>
                  <a:srgbClr val="E8ECF4"/>
                </a:solidFill>
                <a:latin typeface="Carlito" pitchFamily="34" charset="0"/>
                <a:ea typeface="Carlito" pitchFamily="34" charset="-122"/>
                <a:cs typeface="Carlito" pitchFamily="34" charset="-120"/>
              </a:rPr>
              <a:t>VP Sales Mental Model</a:t>
            </a:r>
            <a:endParaRPr lang="en-US" sz="2475" dirty="0"/>
          </a:p>
        </p:txBody>
      </p:sp>
      <p:sp>
        <p:nvSpPr>
          <p:cNvPr id="9" name="Text 4"/>
          <p:cNvSpPr/>
          <p:nvPr/>
        </p:nvSpPr>
        <p:spPr>
          <a:xfrm>
            <a:off x="571500" y="2895340"/>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10" name="Text 5"/>
          <p:cNvSpPr/>
          <p:nvPr/>
        </p:nvSpPr>
        <p:spPr>
          <a:xfrm>
            <a:off x="571500" y="3145371"/>
            <a:ext cx="8521065" cy="254603"/>
          </a:xfrm>
          <a:prstGeom prst="rect">
            <a:avLst/>
          </a:prstGeom>
          <a:noFill/>
          <a:ln/>
        </p:spPr>
        <p:txBody>
          <a:bodyPr wrap="none" lIns="0" tIns="0" rIns="0" bIns="0" rtlCol="0" anchor="t"/>
          <a:lstStyle/>
          <a:p>
            <a:pPr algn="l" indent="0" marL="0">
              <a:lnSpc>
                <a:spcPts val="1856"/>
              </a:lnSpc>
              <a:buNone/>
            </a:pPr>
            <a:r>
              <a:rPr lang="en-US" sz="1238" dirty="0">
                <a:solidFill>
                  <a:srgbClr val="8B95AD"/>
                </a:solidFill>
                <a:latin typeface="Carlito" pitchFamily="34" charset="0"/>
                <a:ea typeface="Carlito" pitchFamily="34" charset="-122"/>
                <a:cs typeface="Carlito" pitchFamily="34" charset="-120"/>
              </a:rPr>
              <a:t>The Design North Star</a:t>
            </a:r>
            <a:endParaRPr lang="en-US" sz="123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457200" y="457200"/>
            <a:ext cx="8636000" cy="324041"/>
          </a:xfrm>
          <a:prstGeom prst="rect">
            <a:avLst/>
          </a:prstGeom>
          <a:noFill/>
          <a:ln/>
        </p:spPr>
        <p:txBody>
          <a:bodyPr wrap="none" lIns="0" tIns="0" rIns="0" bIns="0" rtlCol="0" anchor="t"/>
          <a:lstStyle/>
          <a:p>
            <a:pPr algn="l" indent="0" marL="0">
              <a:lnSpc>
                <a:spcPts val="2363"/>
              </a:lnSpc>
              <a:buNone/>
            </a:pPr>
            <a:r>
              <a:rPr lang="en-US" sz="1575" b="1" dirty="0">
                <a:solidFill>
                  <a:srgbClr val="E8ECF4"/>
                </a:solidFill>
                <a:latin typeface="Carlito" pitchFamily="34" charset="0"/>
                <a:ea typeface="Carlito" pitchFamily="34" charset="-122"/>
                <a:cs typeface="Carlito" pitchFamily="34" charset="-120"/>
              </a:rPr>
              <a:t>The Design North Star</a:t>
            </a:r>
            <a:endParaRPr lang="en-US" sz="1575" dirty="0"/>
          </a:p>
        </p:txBody>
      </p:sp>
      <p:sp>
        <p:nvSpPr>
          <p:cNvPr id="3" name="Text 1"/>
          <p:cNvSpPr/>
          <p:nvPr/>
        </p:nvSpPr>
        <p:spPr>
          <a:xfrm>
            <a:off x="457200" y="842963"/>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4" name="Text 2"/>
          <p:cNvSpPr/>
          <p:nvPr/>
        </p:nvSpPr>
        <p:spPr>
          <a:xfrm>
            <a:off x="457200" y="1150144"/>
            <a:ext cx="5452556" cy="173593"/>
          </a:xfrm>
          <a:prstGeom prst="rect">
            <a:avLst/>
          </a:prstGeom>
          <a:noFill/>
          <a:ln/>
        </p:spPr>
        <p:txBody>
          <a:bodyPr wrap="square" lIns="0" tIns="0" rIns="0" bIns="0" rtlCol="0" anchor="t"/>
          <a:lstStyle/>
          <a:p>
            <a:pPr algn="l" indent="0" marL="0">
              <a:lnSpc>
                <a:spcPts val="1266"/>
              </a:lnSpc>
              <a:buNone/>
            </a:pPr>
            <a:r>
              <a:rPr lang="en-US" sz="844" spc="84" kern="0" dirty="0">
                <a:solidFill>
                  <a:srgbClr val="8B95AD"/>
                </a:solidFill>
                <a:latin typeface="Carlito" pitchFamily="34" charset="0"/>
                <a:ea typeface="Carlito" pitchFamily="34" charset="-122"/>
                <a:cs typeface="Carlito" pitchFamily="34" charset="-120"/>
              </a:rPr>
              <a:t>PRIMARY DESIGN PERSONA — VP SALES / SALES LEADER</a:t>
            </a:r>
            <a:endParaRPr lang="en-US" sz="844" dirty="0"/>
          </a:p>
        </p:txBody>
      </p:sp>
      <p:sp>
        <p:nvSpPr>
          <p:cNvPr id="5" name="Text 3"/>
          <p:cNvSpPr/>
          <p:nvPr/>
        </p:nvSpPr>
        <p:spPr>
          <a:xfrm>
            <a:off x="457200" y="1425178"/>
            <a:ext cx="4766221" cy="918115"/>
          </a:xfrm>
          <a:prstGeom prst="rect">
            <a:avLst/>
          </a:prstGeom>
          <a:noFill/>
          <a:ln/>
        </p:spPr>
        <p:txBody>
          <a:bodyPr wrap="square" lIns="0" tIns="0" rIns="0" bIns="0" rtlCol="0" anchor="t"/>
          <a:lstStyle/>
          <a:p>
            <a:pPr algn="l" indent="0" marL="0">
              <a:lnSpc>
                <a:spcPts val="1673"/>
              </a:lnSpc>
              <a:buNone/>
            </a:pPr>
            <a:r>
              <a:rPr lang="en-US" sz="956" dirty="0">
                <a:solidFill>
                  <a:srgbClr val="E8ECF4"/>
                </a:solidFill>
                <a:latin typeface="Carlito" pitchFamily="34" charset="0"/>
                <a:ea typeface="Carlito" pitchFamily="34" charset="-122"/>
                <a:cs typeface="Carlito" pitchFamily="34" charset="-120"/>
              </a:rPr>
              <a:t>A VP Sales arrives each morning with five implicit questions. They do not browse dashboards. They do not read feeds. They need answers — fast, trusted, and actionable. Every element of the DeepMindQ experience must be filtered through this lens:</a:t>
            </a:r>
            <a:endParaRPr lang="en-US" sz="956" dirty="0"/>
          </a:p>
        </p:txBody>
      </p:sp>
      <p:pic>
        <p:nvPicPr>
          <p:cNvPr id="6" name="Image 0" descr="preencoded.png">    </p:cNvPr>
          <p:cNvPicPr>
            <a:picLocks noChangeAspect="1"/>
          </p:cNvPicPr>
          <p:nvPr/>
        </p:nvPicPr>
        <p:blipFill>
          <a:blip r:embed="rId1"/>
          <a:stretch>
            <a:fillRect/>
          </a:stretch>
        </p:blipFill>
        <p:spPr>
          <a:xfrm>
            <a:off x="457200" y="2446734"/>
            <a:ext cx="4766221" cy="642268"/>
          </a:xfrm>
          <a:prstGeom prst="rect">
            <a:avLst/>
          </a:prstGeom>
        </p:spPr>
      </p:pic>
      <p:sp>
        <p:nvSpPr>
          <p:cNvPr id="7" name="Shape 4"/>
          <p:cNvSpPr/>
          <p:nvPr/>
        </p:nvSpPr>
        <p:spPr>
          <a:xfrm>
            <a:off x="467916" y="2446734"/>
            <a:ext cx="0" cy="642268"/>
          </a:xfrm>
          <a:prstGeom prst="line">
            <a:avLst/>
          </a:prstGeom>
          <a:noFill/>
          <a:ln w="21431">
            <a:solidFill>
              <a:srgbClr val="3B82F6"/>
            </a:solidFill>
            <a:prstDash val="solid"/>
          </a:ln>
        </p:spPr>
      </p:sp>
      <p:sp>
        <p:nvSpPr>
          <p:cNvPr id="8" name="Text 5"/>
          <p:cNvSpPr/>
          <p:nvPr/>
        </p:nvSpPr>
        <p:spPr>
          <a:xfrm>
            <a:off x="650081" y="2589609"/>
            <a:ext cx="4401889" cy="356518"/>
          </a:xfrm>
          <a:prstGeom prst="rect">
            <a:avLst/>
          </a:prstGeom>
          <a:noFill/>
          <a:ln/>
        </p:spPr>
        <p:txBody>
          <a:bodyPr wrap="square" lIns="0" tIns="0" rIns="0" bIns="0" rtlCol="0" anchor="t"/>
          <a:lstStyle/>
          <a:p>
            <a:pPr algn="l" indent="0" marL="0">
              <a:lnSpc>
                <a:spcPts val="1404"/>
              </a:lnSpc>
              <a:buNone/>
            </a:pPr>
            <a:r>
              <a:rPr lang="en-US" sz="936" i="1" dirty="0">
                <a:solidFill>
                  <a:srgbClr val="3B82F6"/>
                </a:solidFill>
                <a:latin typeface="Carlito" pitchFamily="34" charset="0"/>
                <a:ea typeface="Carlito" pitchFamily="34" charset="-122"/>
                <a:cs typeface="Carlito" pitchFamily="34" charset="-120"/>
              </a:rPr>
              <a:t>"Would a VP Sales trust this, rely on this daily, and recommend this to their team?"</a:t>
            </a:r>
            <a:endParaRPr lang="en-US" sz="936" dirty="0"/>
          </a:p>
        </p:txBody>
      </p:sp>
      <p:sp>
        <p:nvSpPr>
          <p:cNvPr id="9" name="Text 6"/>
          <p:cNvSpPr/>
          <p:nvPr/>
        </p:nvSpPr>
        <p:spPr>
          <a:xfrm>
            <a:off x="457200" y="3231877"/>
            <a:ext cx="6229450" cy="164485"/>
          </a:xfrm>
          <a:prstGeom prst="rect">
            <a:avLst/>
          </a:prstGeom>
          <a:noFill/>
          <a:ln/>
        </p:spPr>
        <p:txBody>
          <a:bodyPr wrap="none" lIns="0" tIns="0" rIns="0" bIns="0" rtlCol="0" anchor="t"/>
          <a:lstStyle/>
          <a:p>
            <a:pPr algn="l" indent="0" marL="0">
              <a:lnSpc>
                <a:spcPts val="1080"/>
              </a:lnSpc>
              <a:buNone/>
            </a:pPr>
            <a:r>
              <a:rPr lang="en-US" sz="800" spc="108" kern="0" dirty="0">
                <a:solidFill>
                  <a:srgbClr val="8B95AD"/>
                </a:solidFill>
                <a:latin typeface="Carlito" pitchFamily="34" charset="0"/>
                <a:ea typeface="Carlito" pitchFamily="34" charset="-122"/>
                <a:cs typeface="Carlito" pitchFamily="34" charset="-120"/>
              </a:rPr>
              <a:t>BEHAVIORAL PRINCIPLES</a:t>
            </a:r>
            <a:endParaRPr lang="en-US" sz="800" dirty="0"/>
          </a:p>
        </p:txBody>
      </p:sp>
      <p:sp>
        <p:nvSpPr>
          <p:cNvPr id="10" name="Text 7"/>
          <p:cNvSpPr/>
          <p:nvPr/>
        </p:nvSpPr>
        <p:spPr>
          <a:xfrm>
            <a:off x="460772" y="3458245"/>
            <a:ext cx="4759077" cy="591145"/>
          </a:xfrm>
          <a:prstGeom prst="roundRect">
            <a:avLst>
              <a:gd name="adj" fmla="val 16113"/>
            </a:avLst>
          </a:prstGeom>
          <a:solidFill>
            <a:srgbClr val="161C2A">
              <a:alpha val="60000"/>
            </a:srgbClr>
          </a:solidFill>
          <a:ln w="7144">
            <a:solidFill>
              <a:srgbClr val="252E42"/>
            </a:solidFill>
            <a:prstDash val="solid"/>
          </a:ln>
        </p:spPr>
        <p:txBody>
          <a:bodyPr wrap="square" rtlCol="0" anchor="ctr"/>
          <a:lstStyle/>
          <a:p>
            <a:pPr indent="0" marL="0">
              <a:buNone/>
            </a:pPr>
            <a:endParaRPr lang="en-US" dirty="0"/>
          </a:p>
        </p:txBody>
      </p:sp>
      <p:sp>
        <p:nvSpPr>
          <p:cNvPr id="11" name="Text 8"/>
          <p:cNvSpPr/>
          <p:nvPr/>
        </p:nvSpPr>
        <p:spPr>
          <a:xfrm>
            <a:off x="607219" y="3576117"/>
            <a:ext cx="257175" cy="257175"/>
          </a:xfrm>
          <a:prstGeom prst="roundRect">
            <a:avLst>
              <a:gd name="adj" fmla="val 37033333"/>
            </a:avLst>
          </a:prstGeom>
          <a:solidFill>
            <a:srgbClr val="3B82F6">
              <a:alpha val="12000"/>
            </a:srgbClr>
          </a:solidFill>
          <a:ln/>
        </p:spPr>
        <p:txBody>
          <a:bodyPr wrap="square" rtlCol="0" anchor="ctr"/>
          <a:lstStyle/>
          <a:p>
            <a:pPr indent="0" marL="0">
              <a:buNone/>
            </a:pPr>
            <a:endParaRPr lang="en-US" dirty="0"/>
          </a:p>
        </p:txBody>
      </p:sp>
      <p:sp>
        <p:nvSpPr>
          <p:cNvPr id="12" name="Text 9"/>
          <p:cNvSpPr/>
          <p:nvPr/>
        </p:nvSpPr>
        <p:spPr>
          <a:xfrm>
            <a:off x="642580" y="3611478"/>
            <a:ext cx="186452" cy="186452"/>
          </a:xfrm>
          <a:prstGeom prst="rect">
            <a:avLst/>
          </a:prstGeom>
          <a:noFill/>
          <a:ln/>
        </p:spPr>
        <p:txBody>
          <a:bodyPr wrap="none" lIns="0" tIns="0" rIns="0" bIns="0" rtlCol="0" anchor="ctr"/>
          <a:lstStyle/>
          <a:p>
            <a:pPr algn="ctr" indent="0" marL="0">
              <a:buNone/>
            </a:pPr>
            <a:r>
              <a:rPr lang="en-US" sz="1266" dirty="0">
                <a:solidFill>
                  <a:srgbClr val="60A5FA"/>
                </a:solidFill>
                <a:latin typeface="Segoe UI Symbol" pitchFamily="34" charset="0"/>
                <a:ea typeface="Segoe UI Symbol" pitchFamily="34" charset="-122"/>
                <a:cs typeface="Segoe UI Symbol" pitchFamily="34" charset="-120"/>
              </a:rPr>
              <a:t>◔</a:t>
            </a:r>
            <a:endParaRPr lang="en-US" sz="1266" dirty="0"/>
          </a:p>
        </p:txBody>
      </p:sp>
      <p:sp>
        <p:nvSpPr>
          <p:cNvPr id="13" name="Text 10"/>
          <p:cNvSpPr/>
          <p:nvPr/>
        </p:nvSpPr>
        <p:spPr>
          <a:xfrm>
            <a:off x="964406" y="3576117"/>
            <a:ext cx="3969376" cy="183309"/>
          </a:xfrm>
          <a:prstGeom prst="rect">
            <a:avLst/>
          </a:prstGeom>
          <a:noFill/>
          <a:ln/>
        </p:spPr>
        <p:txBody>
          <a:bodyPr wrap="square" lIns="0" tIns="0" rIns="0" bIns="0" rtlCol="0" anchor="t">
            <a:normAutofit/>
          </a:bodyPr>
          <a:lstStyle/>
          <a:p>
            <a:pPr algn="l" indent="0" marL="0">
              <a:lnSpc>
                <a:spcPts val="1434"/>
              </a:lnSpc>
              <a:buNone/>
            </a:pPr>
            <a:r>
              <a:rPr lang="en-US" sz="956" dirty="0">
                <a:solidFill>
                  <a:srgbClr val="E8ECF4"/>
                </a:solidFill>
                <a:latin typeface="Carlito" pitchFamily="34" charset="0"/>
                <a:ea typeface="Carlito" pitchFamily="34" charset="-122"/>
                <a:cs typeface="Carlito" pitchFamily="34" charset="-120"/>
              </a:rPr>
              <a:t>Time-Scarce Decision Maker</a:t>
            </a:r>
            <a:endParaRPr lang="en-US" sz="956" dirty="0"/>
          </a:p>
        </p:txBody>
      </p:sp>
      <p:sp>
        <p:nvSpPr>
          <p:cNvPr id="14" name="Text 11"/>
          <p:cNvSpPr/>
          <p:nvPr/>
        </p:nvSpPr>
        <p:spPr>
          <a:xfrm>
            <a:off x="964406" y="3786857"/>
            <a:ext cx="3675348" cy="144661"/>
          </a:xfrm>
          <a:prstGeom prst="rect">
            <a:avLst/>
          </a:prstGeom>
          <a:noFill/>
          <a:ln/>
        </p:spPr>
        <p:txBody>
          <a:bodyPr wrap="square" lIns="0" tIns="0" rIns="0" bIns="0" rtlCol="0" anchor="t"/>
          <a:lstStyle/>
          <a:p>
            <a:pPr algn="l" indent="0" marL="0">
              <a:lnSpc>
                <a:spcPts val="1139"/>
              </a:lnSpc>
              <a:buNone/>
            </a:pPr>
            <a:r>
              <a:rPr lang="en-US" sz="844" dirty="0">
                <a:solidFill>
                  <a:srgbClr val="8B95AD"/>
                </a:solidFill>
                <a:latin typeface="Carlito" pitchFamily="34" charset="0"/>
                <a:ea typeface="Carlito" pitchFamily="34" charset="-122"/>
                <a:cs typeface="Carlito" pitchFamily="34" charset="-120"/>
              </a:rPr>
              <a:t>Has 15 minutes max for intelligence review. Needs signal, not noise.</a:t>
            </a:r>
            <a:endParaRPr lang="en-US" sz="844" dirty="0"/>
          </a:p>
        </p:txBody>
      </p:sp>
      <p:sp>
        <p:nvSpPr>
          <p:cNvPr id="15" name="Text 12"/>
          <p:cNvSpPr/>
          <p:nvPr/>
        </p:nvSpPr>
        <p:spPr>
          <a:xfrm>
            <a:off x="460772" y="4127971"/>
            <a:ext cx="4759077" cy="735806"/>
          </a:xfrm>
          <a:prstGeom prst="roundRect">
            <a:avLst>
              <a:gd name="adj" fmla="val 12945"/>
            </a:avLst>
          </a:prstGeom>
          <a:solidFill>
            <a:srgbClr val="161C2A">
              <a:alpha val="60000"/>
            </a:srgbClr>
          </a:solidFill>
          <a:ln w="7144">
            <a:solidFill>
              <a:srgbClr val="252E42"/>
            </a:solidFill>
            <a:prstDash val="solid"/>
          </a:ln>
        </p:spPr>
        <p:txBody>
          <a:bodyPr wrap="square" rtlCol="0" anchor="ctr"/>
          <a:lstStyle/>
          <a:p>
            <a:pPr indent="0" marL="0">
              <a:buNone/>
            </a:pPr>
            <a:endParaRPr lang="en-US" dirty="0"/>
          </a:p>
        </p:txBody>
      </p:sp>
      <p:sp>
        <p:nvSpPr>
          <p:cNvPr id="16" name="Text 13"/>
          <p:cNvSpPr/>
          <p:nvPr/>
        </p:nvSpPr>
        <p:spPr>
          <a:xfrm>
            <a:off x="607219" y="4245843"/>
            <a:ext cx="257175" cy="257175"/>
          </a:xfrm>
          <a:prstGeom prst="roundRect">
            <a:avLst>
              <a:gd name="adj" fmla="val 37033333"/>
            </a:avLst>
          </a:prstGeom>
          <a:solidFill>
            <a:srgbClr val="8B5CF6">
              <a:alpha val="12000"/>
            </a:srgbClr>
          </a:solidFill>
          <a:ln/>
        </p:spPr>
        <p:txBody>
          <a:bodyPr wrap="square" rtlCol="0" anchor="ctr"/>
          <a:lstStyle/>
          <a:p>
            <a:pPr indent="0" marL="0">
              <a:buNone/>
            </a:pPr>
            <a:endParaRPr lang="en-US" dirty="0"/>
          </a:p>
        </p:txBody>
      </p:sp>
      <p:sp>
        <p:nvSpPr>
          <p:cNvPr id="17" name="Text 14"/>
          <p:cNvSpPr/>
          <p:nvPr/>
        </p:nvSpPr>
        <p:spPr>
          <a:xfrm>
            <a:off x="642580" y="4281205"/>
            <a:ext cx="186452" cy="186452"/>
          </a:xfrm>
          <a:prstGeom prst="rect">
            <a:avLst/>
          </a:prstGeom>
          <a:noFill/>
          <a:ln/>
        </p:spPr>
        <p:txBody>
          <a:bodyPr wrap="none" lIns="0" tIns="0" rIns="0" bIns="0" rtlCol="0" anchor="ctr"/>
          <a:lstStyle/>
          <a:p>
            <a:pPr algn="ctr" indent="0" marL="0">
              <a:buNone/>
            </a:pPr>
            <a:r>
              <a:rPr lang="en-US" sz="1266" dirty="0">
                <a:solidFill>
                  <a:srgbClr val="A78BFA"/>
                </a:solidFill>
                <a:latin typeface="Segoe UI Symbol" pitchFamily="34" charset="0"/>
                <a:ea typeface="Segoe UI Symbol" pitchFamily="34" charset="-122"/>
                <a:cs typeface="Segoe UI Symbol" pitchFamily="34" charset="-120"/>
              </a:rPr>
              <a:t>⛨</a:t>
            </a:r>
            <a:endParaRPr lang="en-US" sz="1266" dirty="0"/>
          </a:p>
        </p:txBody>
      </p:sp>
      <p:sp>
        <p:nvSpPr>
          <p:cNvPr id="18" name="Text 15"/>
          <p:cNvSpPr/>
          <p:nvPr/>
        </p:nvSpPr>
        <p:spPr>
          <a:xfrm>
            <a:off x="964406" y="4245843"/>
            <a:ext cx="4218724" cy="183309"/>
          </a:xfrm>
          <a:prstGeom prst="rect">
            <a:avLst/>
          </a:prstGeom>
          <a:noFill/>
          <a:ln/>
        </p:spPr>
        <p:txBody>
          <a:bodyPr wrap="square" lIns="0" tIns="0" rIns="0" bIns="0" rtlCol="0" anchor="t">
            <a:normAutofit/>
          </a:bodyPr>
          <a:lstStyle/>
          <a:p>
            <a:pPr algn="l" indent="0" marL="0">
              <a:lnSpc>
                <a:spcPts val="1434"/>
              </a:lnSpc>
              <a:buNone/>
            </a:pPr>
            <a:r>
              <a:rPr lang="en-US" sz="956" dirty="0">
                <a:solidFill>
                  <a:srgbClr val="E8ECF4"/>
                </a:solidFill>
                <a:latin typeface="Carlito" pitchFamily="34" charset="0"/>
                <a:ea typeface="Carlito" pitchFamily="34" charset="-122"/>
                <a:cs typeface="Carlito" pitchFamily="34" charset="-120"/>
              </a:rPr>
              <a:t>Trust-Sensitive Executive</a:t>
            </a:r>
            <a:endParaRPr lang="en-US" sz="956" dirty="0"/>
          </a:p>
        </p:txBody>
      </p:sp>
      <p:sp>
        <p:nvSpPr>
          <p:cNvPr id="19" name="Text 16"/>
          <p:cNvSpPr/>
          <p:nvPr/>
        </p:nvSpPr>
        <p:spPr>
          <a:xfrm>
            <a:off x="964406" y="4456584"/>
            <a:ext cx="4108996" cy="289322"/>
          </a:xfrm>
          <a:prstGeom prst="rect">
            <a:avLst/>
          </a:prstGeom>
          <a:noFill/>
          <a:ln/>
        </p:spPr>
        <p:txBody>
          <a:bodyPr wrap="square" lIns="0" tIns="0" rIns="0" bIns="0" rtlCol="0" anchor="t"/>
          <a:lstStyle/>
          <a:p>
            <a:pPr algn="l" indent="0" marL="0">
              <a:lnSpc>
                <a:spcPts val="1139"/>
              </a:lnSpc>
              <a:buNone/>
            </a:pPr>
            <a:r>
              <a:rPr lang="en-US" sz="844" dirty="0">
                <a:solidFill>
                  <a:srgbClr val="8B95AD"/>
                </a:solidFill>
                <a:latin typeface="Carlito" pitchFamily="34" charset="0"/>
                <a:ea typeface="Carlito" pitchFamily="34" charset="-122"/>
                <a:cs typeface="Carlito" pitchFamily="34" charset="-120"/>
              </a:rPr>
              <a:t>Will not act on AI recommendations without understanding why. Evidence is not optional.</a:t>
            </a:r>
            <a:endParaRPr lang="en-US" sz="844" dirty="0"/>
          </a:p>
        </p:txBody>
      </p:sp>
      <p:sp>
        <p:nvSpPr>
          <p:cNvPr id="20" name="Text 17"/>
          <p:cNvSpPr/>
          <p:nvPr/>
        </p:nvSpPr>
        <p:spPr>
          <a:xfrm>
            <a:off x="460772" y="4942359"/>
            <a:ext cx="4759077" cy="591145"/>
          </a:xfrm>
          <a:prstGeom prst="roundRect">
            <a:avLst>
              <a:gd name="adj" fmla="val 16113"/>
            </a:avLst>
          </a:prstGeom>
          <a:solidFill>
            <a:srgbClr val="161C2A">
              <a:alpha val="60000"/>
            </a:srgbClr>
          </a:solidFill>
          <a:ln w="7144">
            <a:solidFill>
              <a:srgbClr val="252E42"/>
            </a:solidFill>
            <a:prstDash val="solid"/>
          </a:ln>
        </p:spPr>
        <p:txBody>
          <a:bodyPr wrap="square" rtlCol="0" anchor="ctr"/>
          <a:lstStyle/>
          <a:p>
            <a:pPr indent="0" marL="0">
              <a:buNone/>
            </a:pPr>
            <a:endParaRPr lang="en-US" dirty="0"/>
          </a:p>
        </p:txBody>
      </p:sp>
      <p:sp>
        <p:nvSpPr>
          <p:cNvPr id="21" name="Text 18"/>
          <p:cNvSpPr/>
          <p:nvPr/>
        </p:nvSpPr>
        <p:spPr>
          <a:xfrm>
            <a:off x="607219" y="5060231"/>
            <a:ext cx="257175" cy="257175"/>
          </a:xfrm>
          <a:prstGeom prst="roundRect">
            <a:avLst>
              <a:gd name="adj" fmla="val 37033333"/>
            </a:avLst>
          </a:prstGeom>
          <a:solidFill>
            <a:srgbClr val="22C55E">
              <a:alpha val="12000"/>
            </a:srgbClr>
          </a:solidFill>
          <a:ln/>
        </p:spPr>
        <p:txBody>
          <a:bodyPr wrap="square" rtlCol="0" anchor="ctr"/>
          <a:lstStyle/>
          <a:p>
            <a:pPr indent="0" marL="0">
              <a:buNone/>
            </a:pPr>
            <a:endParaRPr lang="en-US" dirty="0"/>
          </a:p>
        </p:txBody>
      </p:sp>
      <p:sp>
        <p:nvSpPr>
          <p:cNvPr id="22" name="Text 19"/>
          <p:cNvSpPr/>
          <p:nvPr/>
        </p:nvSpPr>
        <p:spPr>
          <a:xfrm>
            <a:off x="642580" y="5095592"/>
            <a:ext cx="186452" cy="91440"/>
          </a:xfrm>
          <a:prstGeom prst="rect">
            <a:avLst/>
          </a:prstGeom>
          <a:noFill/>
          <a:ln/>
        </p:spPr>
        <p:txBody>
          <a:bodyPr wrap="none" lIns="0" tIns="0" rIns="0" bIns="0" rtlCol="0" anchor="ctr"/>
          <a:lstStyle/>
          <a:p>
            <a:pPr algn="ctr" indent="0" marL="0">
              <a:buNone/>
            </a:pPr>
            <a:r>
              <a:rPr lang="en-US" sz="1266" dirty="0">
                <a:solidFill>
                  <a:srgbClr val="4ADE80"/>
                </a:solidFill>
                <a:latin typeface="Segoe UI Symbol" pitchFamily="34" charset="0"/>
                <a:ea typeface="Segoe UI Symbol" pitchFamily="34" charset="-122"/>
                <a:cs typeface="Segoe UI Symbol" pitchFamily="34" charset="-120"/>
              </a:rPr>
              <a:t>↗</a:t>
            </a:r>
            <a:endParaRPr lang="en-US" sz="1266" dirty="0"/>
          </a:p>
        </p:txBody>
      </p:sp>
      <p:sp>
        <p:nvSpPr>
          <p:cNvPr id="23" name="Text 20"/>
          <p:cNvSpPr/>
          <p:nvPr/>
        </p:nvSpPr>
        <p:spPr>
          <a:xfrm>
            <a:off x="964406" y="5060231"/>
            <a:ext cx="4062930" cy="91440"/>
          </a:xfrm>
          <a:prstGeom prst="rect">
            <a:avLst/>
          </a:prstGeom>
          <a:noFill/>
          <a:ln/>
        </p:spPr>
        <p:txBody>
          <a:bodyPr wrap="none" lIns="0" tIns="0" rIns="0" bIns="0" rtlCol="0" anchor="t"/>
          <a:lstStyle/>
          <a:p>
            <a:pPr algn="l" indent="0" marL="0">
              <a:lnSpc>
                <a:spcPts val="1434"/>
              </a:lnSpc>
              <a:buNone/>
            </a:pPr>
            <a:r>
              <a:rPr lang="en-US" sz="956" dirty="0">
                <a:solidFill>
                  <a:srgbClr val="E8ECF4"/>
                </a:solidFill>
                <a:latin typeface="Carlito" pitchFamily="34" charset="0"/>
                <a:ea typeface="Carlito" pitchFamily="34" charset="-122"/>
                <a:cs typeface="Carlito" pitchFamily="34" charset="-120"/>
              </a:rPr>
              <a:t>Action-Oriented Leader</a:t>
            </a:r>
            <a:endParaRPr lang="en-US" sz="956" dirty="0"/>
          </a:p>
        </p:txBody>
      </p:sp>
      <p:sp>
        <p:nvSpPr>
          <p:cNvPr id="24" name="Text 21"/>
          <p:cNvSpPr/>
          <p:nvPr/>
        </p:nvSpPr>
        <p:spPr>
          <a:xfrm>
            <a:off x="964406" y="5270971"/>
            <a:ext cx="3869457" cy="91440"/>
          </a:xfrm>
          <a:prstGeom prst="rect">
            <a:avLst/>
          </a:prstGeom>
          <a:noFill/>
          <a:ln/>
        </p:spPr>
        <p:txBody>
          <a:bodyPr wrap="square" lIns="0" tIns="0" rIns="0" bIns="0" rtlCol="0" anchor="t"/>
          <a:lstStyle/>
          <a:p>
            <a:pPr algn="l" indent="0" marL="0">
              <a:lnSpc>
                <a:spcPts val="1139"/>
              </a:lnSpc>
              <a:buNone/>
            </a:pPr>
            <a:r>
              <a:rPr lang="en-US" sz="844" dirty="0">
                <a:solidFill>
                  <a:srgbClr val="8B95AD"/>
                </a:solidFill>
                <a:latin typeface="Carlito" pitchFamily="34" charset="0"/>
                <a:ea typeface="Carlito" pitchFamily="34" charset="-122"/>
                <a:cs typeface="Carlito" pitchFamily="34" charset="-120"/>
              </a:rPr>
              <a:t>Intelligence without a recommended next step is wasted cognitive load.</a:t>
            </a:r>
            <a:endParaRPr lang="en-US" sz="844" dirty="0"/>
          </a:p>
        </p:txBody>
      </p:sp>
      <p:sp>
        <p:nvSpPr>
          <p:cNvPr id="25" name="Text 22"/>
          <p:cNvSpPr/>
          <p:nvPr/>
        </p:nvSpPr>
        <p:spPr>
          <a:xfrm>
            <a:off x="5509171" y="1150144"/>
            <a:ext cx="3634829" cy="164592"/>
          </a:xfrm>
          <a:prstGeom prst="rect">
            <a:avLst/>
          </a:prstGeom>
          <a:noFill/>
          <a:ln/>
        </p:spPr>
        <p:txBody>
          <a:bodyPr wrap="none" lIns="0" tIns="0" rIns="0" bIns="0" rtlCol="0" anchor="t"/>
          <a:lstStyle/>
          <a:p>
            <a:pPr algn="l" indent="0" marL="0">
              <a:lnSpc>
                <a:spcPts val="928"/>
              </a:lnSpc>
              <a:buNone/>
            </a:pPr>
            <a:r>
              <a:rPr lang="en-US" sz="800" spc="124" kern="0" dirty="0">
                <a:solidFill>
                  <a:srgbClr val="8B95AD"/>
                </a:solidFill>
                <a:latin typeface="Liberation Sans Narrow" pitchFamily="34" charset="0"/>
                <a:ea typeface="Liberation Sans Narrow" pitchFamily="34" charset="-122"/>
                <a:cs typeface="Liberation Sans Narrow" pitchFamily="34" charset="-120"/>
              </a:rPr>
              <a:t>THE 5 MORNING QUESTIONS</a:t>
            </a:r>
            <a:endParaRPr lang="en-US" sz="800" dirty="0"/>
          </a:p>
        </p:txBody>
      </p:sp>
      <p:sp>
        <p:nvSpPr>
          <p:cNvPr id="26" name="Text 23"/>
          <p:cNvSpPr/>
          <p:nvPr/>
        </p:nvSpPr>
        <p:spPr>
          <a:xfrm>
            <a:off x="5509171" y="1382316"/>
            <a:ext cx="3177518" cy="382191"/>
          </a:xfrm>
          <a:prstGeom prst="rect">
            <a:avLst/>
          </a:prstGeom>
          <a:solidFill>
            <a:srgbClr val="161C2A">
              <a:alpha val="50000"/>
            </a:srgbClr>
          </a:solidFill>
          <a:ln/>
        </p:spPr>
        <p:txBody>
          <a:bodyPr wrap="square" rtlCol="0" anchor="ctr"/>
          <a:lstStyle/>
          <a:p>
            <a:pPr indent="0" marL="0">
              <a:buNone/>
            </a:pPr>
            <a:endParaRPr lang="en-US" dirty="0"/>
          </a:p>
        </p:txBody>
      </p:sp>
      <p:sp>
        <p:nvSpPr>
          <p:cNvPr id="27" name="Shape 24"/>
          <p:cNvSpPr/>
          <p:nvPr/>
        </p:nvSpPr>
        <p:spPr>
          <a:xfrm>
            <a:off x="5519886" y="1382316"/>
            <a:ext cx="0" cy="382191"/>
          </a:xfrm>
          <a:prstGeom prst="line">
            <a:avLst/>
          </a:prstGeom>
          <a:noFill/>
          <a:ln w="21431">
            <a:solidFill>
              <a:srgbClr val="3B82F6"/>
            </a:solidFill>
            <a:prstDash val="solid"/>
          </a:ln>
        </p:spPr>
      </p:sp>
      <p:sp>
        <p:nvSpPr>
          <p:cNvPr id="28" name="Text 25"/>
          <p:cNvSpPr/>
          <p:nvPr/>
        </p:nvSpPr>
        <p:spPr>
          <a:xfrm>
            <a:off x="5673477" y="1501973"/>
            <a:ext cx="320040" cy="154305"/>
          </a:xfrm>
          <a:prstGeom prst="rect">
            <a:avLst/>
          </a:prstGeom>
          <a:noFill/>
          <a:ln/>
        </p:spPr>
        <p:txBody>
          <a:bodyPr wrap="none" lIns="0" tIns="0" rIns="0" bIns="0" rtlCol="0" anchor="t"/>
          <a:lstStyle/>
          <a:p>
            <a:pPr algn="l" indent="0" marL="0">
              <a:lnSpc>
                <a:spcPts val="1125"/>
              </a:lnSpc>
              <a:buNone/>
            </a:pPr>
            <a:r>
              <a:rPr lang="en-US" sz="1125" dirty="0">
                <a:solidFill>
                  <a:srgbClr val="3B82F6"/>
                </a:solidFill>
                <a:latin typeface="Liberation Sans Narrow" pitchFamily="34" charset="0"/>
                <a:ea typeface="Liberation Sans Narrow" pitchFamily="34" charset="-122"/>
                <a:cs typeface="Liberation Sans Narrow" pitchFamily="34" charset="-120"/>
              </a:rPr>
              <a:t>1</a:t>
            </a:r>
            <a:endParaRPr lang="en-US" sz="1125" dirty="0"/>
          </a:p>
        </p:txBody>
      </p:sp>
      <p:sp>
        <p:nvSpPr>
          <p:cNvPr id="29" name="Text 26"/>
          <p:cNvSpPr/>
          <p:nvPr/>
        </p:nvSpPr>
        <p:spPr>
          <a:xfrm>
            <a:off x="5987802" y="1482328"/>
            <a:ext cx="2556011" cy="182166"/>
          </a:xfrm>
          <a:prstGeom prst="rect">
            <a:avLst/>
          </a:prstGeom>
          <a:noFill/>
          <a:ln/>
        </p:spPr>
        <p:txBody>
          <a:bodyPr wrap="none" lIns="0" tIns="0" rIns="0" bIns="0" rtlCol="0" anchor="t"/>
          <a:lstStyle/>
          <a:p>
            <a:pPr algn="l" indent="0" marL="0">
              <a:lnSpc>
                <a:spcPts val="1434"/>
              </a:lnSpc>
              <a:buNone/>
            </a:pPr>
            <a:r>
              <a:rPr lang="en-US" sz="956" dirty="0">
                <a:solidFill>
                  <a:srgbClr val="E8ECF4"/>
                </a:solidFill>
                <a:latin typeface="Carlito" pitchFamily="34" charset="0"/>
                <a:ea typeface="Carlito" pitchFamily="34" charset="-122"/>
                <a:cs typeface="Carlito" pitchFamily="34" charset="-120"/>
              </a:rPr>
              <a:t>What changed?</a:t>
            </a:r>
            <a:endParaRPr lang="en-US" sz="956" dirty="0"/>
          </a:p>
        </p:txBody>
      </p:sp>
      <p:sp>
        <p:nvSpPr>
          <p:cNvPr id="30" name="Text 27"/>
          <p:cNvSpPr/>
          <p:nvPr/>
        </p:nvSpPr>
        <p:spPr>
          <a:xfrm>
            <a:off x="5509171" y="1835944"/>
            <a:ext cx="3177518" cy="382191"/>
          </a:xfrm>
          <a:prstGeom prst="rect">
            <a:avLst/>
          </a:prstGeom>
          <a:solidFill>
            <a:srgbClr val="161C2A">
              <a:alpha val="50000"/>
            </a:srgbClr>
          </a:solidFill>
          <a:ln/>
        </p:spPr>
        <p:txBody>
          <a:bodyPr wrap="square" rtlCol="0" anchor="ctr"/>
          <a:lstStyle/>
          <a:p>
            <a:pPr indent="0" marL="0">
              <a:buNone/>
            </a:pPr>
            <a:endParaRPr lang="en-US" dirty="0"/>
          </a:p>
        </p:txBody>
      </p:sp>
      <p:sp>
        <p:nvSpPr>
          <p:cNvPr id="31" name="Shape 28"/>
          <p:cNvSpPr/>
          <p:nvPr/>
        </p:nvSpPr>
        <p:spPr>
          <a:xfrm>
            <a:off x="5519886" y="1835944"/>
            <a:ext cx="0" cy="382191"/>
          </a:xfrm>
          <a:prstGeom prst="line">
            <a:avLst/>
          </a:prstGeom>
          <a:noFill/>
          <a:ln w="21431">
            <a:solidFill>
              <a:srgbClr val="3B82F6"/>
            </a:solidFill>
            <a:prstDash val="solid"/>
          </a:ln>
        </p:spPr>
      </p:sp>
      <p:sp>
        <p:nvSpPr>
          <p:cNvPr id="32" name="Text 29"/>
          <p:cNvSpPr/>
          <p:nvPr/>
        </p:nvSpPr>
        <p:spPr>
          <a:xfrm>
            <a:off x="5673477" y="1955602"/>
            <a:ext cx="320040" cy="154305"/>
          </a:xfrm>
          <a:prstGeom prst="rect">
            <a:avLst/>
          </a:prstGeom>
          <a:noFill/>
          <a:ln/>
        </p:spPr>
        <p:txBody>
          <a:bodyPr wrap="none" lIns="0" tIns="0" rIns="0" bIns="0" rtlCol="0" anchor="t"/>
          <a:lstStyle/>
          <a:p>
            <a:pPr algn="l" indent="0" marL="0">
              <a:lnSpc>
                <a:spcPts val="1125"/>
              </a:lnSpc>
              <a:buNone/>
            </a:pPr>
            <a:r>
              <a:rPr lang="en-US" sz="1125" dirty="0">
                <a:solidFill>
                  <a:srgbClr val="3B82F6"/>
                </a:solidFill>
                <a:latin typeface="Liberation Sans Narrow" pitchFamily="34" charset="0"/>
                <a:ea typeface="Liberation Sans Narrow" pitchFamily="34" charset="-122"/>
                <a:cs typeface="Liberation Sans Narrow" pitchFamily="34" charset="-120"/>
              </a:rPr>
              <a:t>2</a:t>
            </a:r>
            <a:endParaRPr lang="en-US" sz="1125" dirty="0"/>
          </a:p>
        </p:txBody>
      </p:sp>
      <p:sp>
        <p:nvSpPr>
          <p:cNvPr id="33" name="Text 30"/>
          <p:cNvSpPr/>
          <p:nvPr/>
        </p:nvSpPr>
        <p:spPr>
          <a:xfrm>
            <a:off x="5987802" y="1935956"/>
            <a:ext cx="2556011" cy="182166"/>
          </a:xfrm>
          <a:prstGeom prst="rect">
            <a:avLst/>
          </a:prstGeom>
          <a:noFill/>
          <a:ln/>
        </p:spPr>
        <p:txBody>
          <a:bodyPr wrap="none" lIns="0" tIns="0" rIns="0" bIns="0" rtlCol="0" anchor="t"/>
          <a:lstStyle/>
          <a:p>
            <a:pPr algn="l" indent="0" marL="0">
              <a:lnSpc>
                <a:spcPts val="1434"/>
              </a:lnSpc>
              <a:buNone/>
            </a:pPr>
            <a:r>
              <a:rPr lang="en-US" sz="956" dirty="0">
                <a:solidFill>
                  <a:srgbClr val="E8ECF4"/>
                </a:solidFill>
                <a:latin typeface="Carlito" pitchFamily="34" charset="0"/>
                <a:ea typeface="Carlito" pitchFamily="34" charset="-122"/>
                <a:cs typeface="Carlito" pitchFamily="34" charset="-120"/>
              </a:rPr>
              <a:t>Why does it matter?</a:t>
            </a:r>
            <a:endParaRPr lang="en-US" sz="956" dirty="0"/>
          </a:p>
        </p:txBody>
      </p:sp>
      <p:sp>
        <p:nvSpPr>
          <p:cNvPr id="34" name="Text 31"/>
          <p:cNvSpPr/>
          <p:nvPr/>
        </p:nvSpPr>
        <p:spPr>
          <a:xfrm>
            <a:off x="5509171" y="2289572"/>
            <a:ext cx="3177518" cy="382191"/>
          </a:xfrm>
          <a:prstGeom prst="rect">
            <a:avLst/>
          </a:prstGeom>
          <a:solidFill>
            <a:srgbClr val="161C2A">
              <a:alpha val="50000"/>
            </a:srgbClr>
          </a:solidFill>
          <a:ln/>
        </p:spPr>
        <p:txBody>
          <a:bodyPr wrap="square" rtlCol="0" anchor="ctr"/>
          <a:lstStyle/>
          <a:p>
            <a:pPr indent="0" marL="0">
              <a:buNone/>
            </a:pPr>
            <a:endParaRPr lang="en-US" dirty="0"/>
          </a:p>
        </p:txBody>
      </p:sp>
      <p:sp>
        <p:nvSpPr>
          <p:cNvPr id="35" name="Shape 32"/>
          <p:cNvSpPr/>
          <p:nvPr/>
        </p:nvSpPr>
        <p:spPr>
          <a:xfrm>
            <a:off x="5519886" y="2289572"/>
            <a:ext cx="0" cy="382191"/>
          </a:xfrm>
          <a:prstGeom prst="line">
            <a:avLst/>
          </a:prstGeom>
          <a:noFill/>
          <a:ln w="21431">
            <a:solidFill>
              <a:srgbClr val="3B82F6"/>
            </a:solidFill>
            <a:prstDash val="solid"/>
          </a:ln>
        </p:spPr>
      </p:sp>
      <p:sp>
        <p:nvSpPr>
          <p:cNvPr id="36" name="Text 33"/>
          <p:cNvSpPr/>
          <p:nvPr/>
        </p:nvSpPr>
        <p:spPr>
          <a:xfrm>
            <a:off x="5673477" y="2409230"/>
            <a:ext cx="320040" cy="154305"/>
          </a:xfrm>
          <a:prstGeom prst="rect">
            <a:avLst/>
          </a:prstGeom>
          <a:noFill/>
          <a:ln/>
        </p:spPr>
        <p:txBody>
          <a:bodyPr wrap="none" lIns="0" tIns="0" rIns="0" bIns="0" rtlCol="0" anchor="t"/>
          <a:lstStyle/>
          <a:p>
            <a:pPr algn="l" indent="0" marL="0">
              <a:lnSpc>
                <a:spcPts val="1125"/>
              </a:lnSpc>
              <a:buNone/>
            </a:pPr>
            <a:r>
              <a:rPr lang="en-US" sz="1125" dirty="0">
                <a:solidFill>
                  <a:srgbClr val="3B82F6"/>
                </a:solidFill>
                <a:latin typeface="Liberation Sans Narrow" pitchFamily="34" charset="0"/>
                <a:ea typeface="Liberation Sans Narrow" pitchFamily="34" charset="-122"/>
                <a:cs typeface="Liberation Sans Narrow" pitchFamily="34" charset="-120"/>
              </a:rPr>
              <a:t>3</a:t>
            </a:r>
            <a:endParaRPr lang="en-US" sz="1125" dirty="0"/>
          </a:p>
        </p:txBody>
      </p:sp>
      <p:sp>
        <p:nvSpPr>
          <p:cNvPr id="37" name="Text 34"/>
          <p:cNvSpPr/>
          <p:nvPr/>
        </p:nvSpPr>
        <p:spPr>
          <a:xfrm>
            <a:off x="5987802" y="2389584"/>
            <a:ext cx="2556011" cy="182166"/>
          </a:xfrm>
          <a:prstGeom prst="rect">
            <a:avLst/>
          </a:prstGeom>
          <a:noFill/>
          <a:ln/>
        </p:spPr>
        <p:txBody>
          <a:bodyPr wrap="none" lIns="0" tIns="0" rIns="0" bIns="0" rtlCol="0" anchor="t"/>
          <a:lstStyle/>
          <a:p>
            <a:pPr algn="l" indent="0" marL="0">
              <a:lnSpc>
                <a:spcPts val="1434"/>
              </a:lnSpc>
              <a:buNone/>
            </a:pPr>
            <a:r>
              <a:rPr lang="en-US" sz="956" dirty="0">
                <a:solidFill>
                  <a:srgbClr val="E8ECF4"/>
                </a:solidFill>
                <a:latin typeface="Carlito" pitchFamily="34" charset="0"/>
                <a:ea typeface="Carlito" pitchFamily="34" charset="-122"/>
                <a:cs typeface="Carlito" pitchFamily="34" charset="-120"/>
              </a:rPr>
              <a:t>Who should we engage?</a:t>
            </a:r>
            <a:endParaRPr lang="en-US" sz="956" dirty="0"/>
          </a:p>
        </p:txBody>
      </p:sp>
      <p:sp>
        <p:nvSpPr>
          <p:cNvPr id="38" name="Text 35"/>
          <p:cNvSpPr/>
          <p:nvPr/>
        </p:nvSpPr>
        <p:spPr>
          <a:xfrm>
            <a:off x="5509171" y="2743200"/>
            <a:ext cx="3177518" cy="382191"/>
          </a:xfrm>
          <a:prstGeom prst="rect">
            <a:avLst/>
          </a:prstGeom>
          <a:solidFill>
            <a:srgbClr val="161C2A">
              <a:alpha val="50000"/>
            </a:srgbClr>
          </a:solidFill>
          <a:ln/>
        </p:spPr>
        <p:txBody>
          <a:bodyPr wrap="square" rtlCol="0" anchor="ctr"/>
          <a:lstStyle/>
          <a:p>
            <a:pPr indent="0" marL="0">
              <a:buNone/>
            </a:pPr>
            <a:endParaRPr lang="en-US" dirty="0"/>
          </a:p>
        </p:txBody>
      </p:sp>
      <p:sp>
        <p:nvSpPr>
          <p:cNvPr id="39" name="Shape 36"/>
          <p:cNvSpPr/>
          <p:nvPr/>
        </p:nvSpPr>
        <p:spPr>
          <a:xfrm>
            <a:off x="5519886" y="2743200"/>
            <a:ext cx="0" cy="382191"/>
          </a:xfrm>
          <a:prstGeom prst="line">
            <a:avLst/>
          </a:prstGeom>
          <a:noFill/>
          <a:ln w="21431">
            <a:solidFill>
              <a:srgbClr val="3B82F6"/>
            </a:solidFill>
            <a:prstDash val="solid"/>
          </a:ln>
        </p:spPr>
      </p:sp>
      <p:sp>
        <p:nvSpPr>
          <p:cNvPr id="40" name="Text 37"/>
          <p:cNvSpPr/>
          <p:nvPr/>
        </p:nvSpPr>
        <p:spPr>
          <a:xfrm>
            <a:off x="5673477" y="2862858"/>
            <a:ext cx="320040" cy="154305"/>
          </a:xfrm>
          <a:prstGeom prst="rect">
            <a:avLst/>
          </a:prstGeom>
          <a:noFill/>
          <a:ln/>
        </p:spPr>
        <p:txBody>
          <a:bodyPr wrap="none" lIns="0" tIns="0" rIns="0" bIns="0" rtlCol="0" anchor="t"/>
          <a:lstStyle/>
          <a:p>
            <a:pPr algn="l" indent="0" marL="0">
              <a:lnSpc>
                <a:spcPts val="1125"/>
              </a:lnSpc>
              <a:buNone/>
            </a:pPr>
            <a:r>
              <a:rPr lang="en-US" sz="1125" dirty="0">
                <a:solidFill>
                  <a:srgbClr val="3B82F6"/>
                </a:solidFill>
                <a:latin typeface="Liberation Sans Narrow" pitchFamily="34" charset="0"/>
                <a:ea typeface="Liberation Sans Narrow" pitchFamily="34" charset="-122"/>
                <a:cs typeface="Liberation Sans Narrow" pitchFamily="34" charset="-120"/>
              </a:rPr>
              <a:t>4</a:t>
            </a:r>
            <a:endParaRPr lang="en-US" sz="1125" dirty="0"/>
          </a:p>
        </p:txBody>
      </p:sp>
      <p:sp>
        <p:nvSpPr>
          <p:cNvPr id="41" name="Text 38"/>
          <p:cNvSpPr/>
          <p:nvPr/>
        </p:nvSpPr>
        <p:spPr>
          <a:xfrm>
            <a:off x="5987802" y="2843213"/>
            <a:ext cx="2556011" cy="182166"/>
          </a:xfrm>
          <a:prstGeom prst="rect">
            <a:avLst/>
          </a:prstGeom>
          <a:noFill/>
          <a:ln/>
        </p:spPr>
        <p:txBody>
          <a:bodyPr wrap="none" lIns="0" tIns="0" rIns="0" bIns="0" rtlCol="0" anchor="t"/>
          <a:lstStyle/>
          <a:p>
            <a:pPr algn="l" indent="0" marL="0">
              <a:lnSpc>
                <a:spcPts val="1434"/>
              </a:lnSpc>
              <a:buNone/>
            </a:pPr>
            <a:r>
              <a:rPr lang="en-US" sz="956" dirty="0">
                <a:solidFill>
                  <a:srgbClr val="E8ECF4"/>
                </a:solidFill>
                <a:latin typeface="Carlito" pitchFamily="34" charset="0"/>
                <a:ea typeface="Carlito" pitchFamily="34" charset="-122"/>
                <a:cs typeface="Carlito" pitchFamily="34" charset="-120"/>
              </a:rPr>
              <a:t>What should we say?</a:t>
            </a:r>
            <a:endParaRPr lang="en-US" sz="956" dirty="0"/>
          </a:p>
        </p:txBody>
      </p:sp>
      <p:sp>
        <p:nvSpPr>
          <p:cNvPr id="42" name="Text 39"/>
          <p:cNvSpPr/>
          <p:nvPr/>
        </p:nvSpPr>
        <p:spPr>
          <a:xfrm>
            <a:off x="5509171" y="3196828"/>
            <a:ext cx="3177518" cy="382191"/>
          </a:xfrm>
          <a:prstGeom prst="rect">
            <a:avLst/>
          </a:prstGeom>
          <a:solidFill>
            <a:srgbClr val="161C2A">
              <a:alpha val="50000"/>
            </a:srgbClr>
          </a:solidFill>
          <a:ln/>
        </p:spPr>
        <p:txBody>
          <a:bodyPr wrap="square" rtlCol="0" anchor="ctr"/>
          <a:lstStyle/>
          <a:p>
            <a:pPr indent="0" marL="0">
              <a:buNone/>
            </a:pPr>
            <a:endParaRPr lang="en-US" dirty="0"/>
          </a:p>
        </p:txBody>
      </p:sp>
      <p:sp>
        <p:nvSpPr>
          <p:cNvPr id="43" name="Shape 40"/>
          <p:cNvSpPr/>
          <p:nvPr/>
        </p:nvSpPr>
        <p:spPr>
          <a:xfrm>
            <a:off x="5519886" y="3196828"/>
            <a:ext cx="0" cy="382191"/>
          </a:xfrm>
          <a:prstGeom prst="line">
            <a:avLst/>
          </a:prstGeom>
          <a:noFill/>
          <a:ln w="21431">
            <a:solidFill>
              <a:srgbClr val="3B82F6"/>
            </a:solidFill>
            <a:prstDash val="solid"/>
          </a:ln>
        </p:spPr>
      </p:sp>
      <p:sp>
        <p:nvSpPr>
          <p:cNvPr id="44" name="Text 41"/>
          <p:cNvSpPr/>
          <p:nvPr/>
        </p:nvSpPr>
        <p:spPr>
          <a:xfrm>
            <a:off x="5673477" y="3316486"/>
            <a:ext cx="320040" cy="154305"/>
          </a:xfrm>
          <a:prstGeom prst="rect">
            <a:avLst/>
          </a:prstGeom>
          <a:noFill/>
          <a:ln/>
        </p:spPr>
        <p:txBody>
          <a:bodyPr wrap="none" lIns="0" tIns="0" rIns="0" bIns="0" rtlCol="0" anchor="t"/>
          <a:lstStyle/>
          <a:p>
            <a:pPr algn="l" indent="0" marL="0">
              <a:lnSpc>
                <a:spcPts val="1125"/>
              </a:lnSpc>
              <a:buNone/>
            </a:pPr>
            <a:r>
              <a:rPr lang="en-US" sz="1125" dirty="0">
                <a:solidFill>
                  <a:srgbClr val="3B82F6"/>
                </a:solidFill>
                <a:latin typeface="Liberation Sans Narrow" pitchFamily="34" charset="0"/>
                <a:ea typeface="Liberation Sans Narrow" pitchFamily="34" charset="-122"/>
                <a:cs typeface="Liberation Sans Narrow" pitchFamily="34" charset="-120"/>
              </a:rPr>
              <a:t>5</a:t>
            </a:r>
            <a:endParaRPr lang="en-US" sz="1125" dirty="0"/>
          </a:p>
        </p:txBody>
      </p:sp>
      <p:sp>
        <p:nvSpPr>
          <p:cNvPr id="45" name="Text 42"/>
          <p:cNvSpPr/>
          <p:nvPr/>
        </p:nvSpPr>
        <p:spPr>
          <a:xfrm>
            <a:off x="5987802" y="3296841"/>
            <a:ext cx="2556011" cy="182166"/>
          </a:xfrm>
          <a:prstGeom prst="rect">
            <a:avLst/>
          </a:prstGeom>
          <a:noFill/>
          <a:ln/>
        </p:spPr>
        <p:txBody>
          <a:bodyPr wrap="none" lIns="0" tIns="0" rIns="0" bIns="0" rtlCol="0" anchor="t"/>
          <a:lstStyle/>
          <a:p>
            <a:pPr algn="l" indent="0" marL="0">
              <a:lnSpc>
                <a:spcPts val="1434"/>
              </a:lnSpc>
              <a:buNone/>
            </a:pPr>
            <a:r>
              <a:rPr lang="en-US" sz="956" dirty="0">
                <a:solidFill>
                  <a:srgbClr val="E8ECF4"/>
                </a:solidFill>
                <a:latin typeface="Carlito" pitchFamily="34" charset="0"/>
                <a:ea typeface="Carlito" pitchFamily="34" charset="-122"/>
                <a:cs typeface="Carlito" pitchFamily="34" charset="-120"/>
              </a:rPr>
              <a:t>What should we do?</a:t>
            </a:r>
            <a:endParaRPr lang="en-US" sz="956" dirty="0"/>
          </a:p>
        </p:txBody>
      </p:sp>
      <p:sp>
        <p:nvSpPr>
          <p:cNvPr id="46" name="Text 43"/>
          <p:cNvSpPr/>
          <p:nvPr/>
        </p:nvSpPr>
        <p:spPr>
          <a:xfrm>
            <a:off x="5509171" y="5522788"/>
            <a:ext cx="342900" cy="14288"/>
          </a:xfrm>
          <a:prstGeom prst="roundRect">
            <a:avLst>
              <a:gd name="adj" fmla="val 666576673"/>
            </a:avLst>
          </a:prstGeom>
          <a:solidFill>
            <a:srgbClr val="3B82F6"/>
          </a:solidFill>
          <a:ln/>
        </p:spPr>
        <p:txBody>
          <a:bodyPr wrap="square" rtlCol="0" anchor="ctr"/>
          <a:lstStyle/>
          <a:p>
            <a:pPr indent="0" marL="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3"/>
          <a:stretch>
            <a:fillRect/>
          </a:stretch>
        </p:blipFill>
        <p:spPr>
          <a:xfrm>
            <a:off x="1285875" y="2568178"/>
            <a:ext cx="7286625" cy="7144"/>
          </a:xfrm>
          <a:prstGeom prst="rect">
            <a:avLst/>
          </a:prstGeom>
        </p:spPr>
      </p:pic>
      <p:sp>
        <p:nvSpPr>
          <p:cNvPr id="5" name="Shape 0"/>
          <p:cNvSpPr/>
          <p:nvPr/>
        </p:nvSpPr>
        <p:spPr>
          <a:xfrm>
            <a:off x="8565356" y="571500"/>
            <a:ext cx="0" cy="571500"/>
          </a:xfrm>
          <a:prstGeom prst="line">
            <a:avLst/>
          </a:prstGeom>
          <a:noFill/>
          <a:ln w="14288">
            <a:solidFill>
              <a:srgbClr val="3B82F6"/>
            </a:solidFill>
            <a:prstDash val="solid"/>
          </a:ln>
        </p:spPr>
      </p:sp>
      <p:sp>
        <p:nvSpPr>
          <p:cNvPr id="6" name="Shape 1"/>
          <p:cNvSpPr/>
          <p:nvPr/>
        </p:nvSpPr>
        <p:spPr>
          <a:xfrm>
            <a:off x="8001000" y="1135856"/>
            <a:ext cx="571500" cy="0"/>
          </a:xfrm>
          <a:prstGeom prst="line">
            <a:avLst/>
          </a:prstGeom>
          <a:noFill/>
          <a:ln w="14288">
            <a:solidFill>
              <a:srgbClr val="3B82F6"/>
            </a:solidFill>
            <a:prstDash val="solid"/>
          </a:ln>
        </p:spPr>
      </p:sp>
      <p:sp>
        <p:nvSpPr>
          <p:cNvPr id="7" name="Text 2"/>
          <p:cNvSpPr/>
          <p:nvPr/>
        </p:nvSpPr>
        <p:spPr>
          <a:xfrm>
            <a:off x="571500" y="1762385"/>
            <a:ext cx="8572500" cy="555498"/>
          </a:xfrm>
          <a:prstGeom prst="rect">
            <a:avLst/>
          </a:prstGeom>
          <a:noFill/>
          <a:ln/>
        </p:spPr>
        <p:txBody>
          <a:bodyPr wrap="none" lIns="0" tIns="0" rIns="0" bIns="0" rtlCol="0" anchor="t"/>
          <a:lstStyle/>
          <a:p>
            <a:pPr algn="l" indent="0" marL="0">
              <a:lnSpc>
                <a:spcPts val="4050"/>
              </a:lnSpc>
              <a:buNone/>
            </a:pPr>
            <a:r>
              <a:rPr lang="en-US" sz="4050" b="1" dirty="0">
                <a:solidFill>
                  <a:srgbClr val="3B82F6"/>
                </a:solidFill>
                <a:latin typeface="Liberation Sans Narrow" pitchFamily="34" charset="0"/>
                <a:ea typeface="Liberation Sans Narrow" pitchFamily="34" charset="-122"/>
                <a:cs typeface="Liberation Sans Narrow" pitchFamily="34" charset="-120"/>
              </a:rPr>
              <a:t>03</a:t>
            </a:r>
            <a:endParaRPr lang="en-US" sz="4050" dirty="0"/>
          </a:p>
        </p:txBody>
      </p:sp>
      <p:sp>
        <p:nvSpPr>
          <p:cNvPr id="8" name="Text 3"/>
          <p:cNvSpPr/>
          <p:nvPr/>
        </p:nvSpPr>
        <p:spPr>
          <a:xfrm>
            <a:off x="571500" y="2391035"/>
            <a:ext cx="8572500" cy="390343"/>
          </a:xfrm>
          <a:prstGeom prst="rect">
            <a:avLst/>
          </a:prstGeom>
          <a:noFill/>
          <a:ln/>
        </p:spPr>
        <p:txBody>
          <a:bodyPr wrap="square" lIns="0" tIns="0" rIns="0" bIns="0" rtlCol="0" anchor="t"/>
          <a:lstStyle/>
          <a:p>
            <a:pPr algn="l" indent="0" marL="0">
              <a:lnSpc>
                <a:spcPts val="2846"/>
              </a:lnSpc>
              <a:buNone/>
            </a:pPr>
            <a:r>
              <a:rPr lang="en-US" sz="2475" b="1" dirty="0">
                <a:solidFill>
                  <a:srgbClr val="E8ECF4"/>
                </a:solidFill>
                <a:latin typeface="Carlito" pitchFamily="34" charset="0"/>
                <a:ea typeface="Carlito" pitchFamily="34" charset="-122"/>
                <a:cs typeface="Carlito" pitchFamily="34" charset="-120"/>
              </a:rPr>
              <a:t>Intelligence as Executive Briefing</a:t>
            </a:r>
            <a:endParaRPr lang="en-US" sz="2475" dirty="0"/>
          </a:p>
        </p:txBody>
      </p:sp>
      <p:sp>
        <p:nvSpPr>
          <p:cNvPr id="9" name="Text 4"/>
          <p:cNvSpPr/>
          <p:nvPr/>
        </p:nvSpPr>
        <p:spPr>
          <a:xfrm>
            <a:off x="571500" y="2895340"/>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10" name="Text 5"/>
          <p:cNvSpPr/>
          <p:nvPr/>
        </p:nvSpPr>
        <p:spPr>
          <a:xfrm>
            <a:off x="571500" y="3145371"/>
            <a:ext cx="8521065" cy="254603"/>
          </a:xfrm>
          <a:prstGeom prst="rect">
            <a:avLst/>
          </a:prstGeom>
          <a:noFill/>
          <a:ln/>
        </p:spPr>
        <p:txBody>
          <a:bodyPr wrap="none" lIns="0" tIns="0" rIns="0" bIns="0" rtlCol="0" anchor="t"/>
          <a:lstStyle/>
          <a:p>
            <a:pPr algn="l" indent="0" marL="0">
              <a:lnSpc>
                <a:spcPts val="1856"/>
              </a:lnSpc>
              <a:buNone/>
            </a:pPr>
            <a:r>
              <a:rPr lang="en-US" sz="1238" dirty="0">
                <a:solidFill>
                  <a:srgbClr val="8B95AD"/>
                </a:solidFill>
                <a:latin typeface="Carlito" pitchFamily="34" charset="0"/>
                <a:ea typeface="Carlito" pitchFamily="34" charset="-122"/>
                <a:cs typeface="Carlito" pitchFamily="34" charset="-120"/>
              </a:rPr>
              <a:t>The Core Philosophy</a:t>
            </a:r>
            <a:endParaRPr lang="en-US" sz="1238"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457200" y="342900"/>
            <a:ext cx="8636000" cy="315468"/>
          </a:xfrm>
          <a:prstGeom prst="rect">
            <a:avLst/>
          </a:prstGeom>
          <a:noFill/>
          <a:ln/>
        </p:spPr>
        <p:txBody>
          <a:bodyPr wrap="none" lIns="0" tIns="0" rIns="0" bIns="0" rtlCol="0" anchor="t">
            <a:normAutofit/>
          </a:bodyPr>
          <a:lstStyle/>
          <a:p>
            <a:pPr algn="l" indent="0" marL="0">
              <a:lnSpc>
                <a:spcPts val="2363"/>
              </a:lnSpc>
              <a:buNone/>
            </a:pPr>
            <a:r>
              <a:rPr lang="en-US" sz="1575" b="1" dirty="0">
                <a:solidFill>
                  <a:srgbClr val="E8ECF4"/>
                </a:solidFill>
                <a:latin typeface="Liberation Sans Narrow" pitchFamily="34" charset="0"/>
                <a:ea typeface="Liberation Sans Narrow" pitchFamily="34" charset="-122"/>
                <a:cs typeface="Liberation Sans Narrow" pitchFamily="34" charset="-120"/>
              </a:rPr>
              <a:t>Core Design Pattern #1</a:t>
            </a:r>
            <a:endParaRPr lang="en-US" sz="1575" dirty="0"/>
          </a:p>
        </p:txBody>
      </p:sp>
      <p:sp>
        <p:nvSpPr>
          <p:cNvPr id="3" name="Text 1"/>
          <p:cNvSpPr/>
          <p:nvPr/>
        </p:nvSpPr>
        <p:spPr>
          <a:xfrm>
            <a:off x="457200" y="685800"/>
            <a:ext cx="8229600" cy="173593"/>
          </a:xfrm>
          <a:prstGeom prst="rect">
            <a:avLst/>
          </a:prstGeom>
          <a:noFill/>
          <a:ln/>
        </p:spPr>
        <p:txBody>
          <a:bodyPr wrap="square" lIns="0" tIns="0" rIns="0" bIns="0" rtlCol="0" anchor="t"/>
          <a:lstStyle/>
          <a:p>
            <a:pPr algn="l" indent="0" marL="0">
              <a:lnSpc>
                <a:spcPts val="1266"/>
              </a:lnSpc>
              <a:buNone/>
            </a:pPr>
            <a:r>
              <a:rPr lang="en-US" sz="844" dirty="0">
                <a:solidFill>
                  <a:srgbClr val="8B95AD"/>
                </a:solidFill>
                <a:latin typeface="Carlito" pitchFamily="34" charset="0"/>
                <a:ea typeface="Carlito" pitchFamily="34" charset="-122"/>
                <a:cs typeface="Carlito" pitchFamily="34" charset="-120"/>
              </a:rPr>
              <a:t>AI Intelligence as Executive Briefing — Not a Command</a:t>
            </a:r>
            <a:endParaRPr lang="en-US" sz="844" dirty="0"/>
          </a:p>
        </p:txBody>
      </p:sp>
      <p:sp>
        <p:nvSpPr>
          <p:cNvPr id="4" name="Text 2"/>
          <p:cNvSpPr/>
          <p:nvPr/>
        </p:nvSpPr>
        <p:spPr>
          <a:xfrm>
            <a:off x="457200" y="903684"/>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5" name="Text 3"/>
          <p:cNvSpPr/>
          <p:nvPr/>
        </p:nvSpPr>
        <p:spPr>
          <a:xfrm>
            <a:off x="1143000" y="1268016"/>
            <a:ext cx="6858000" cy="777914"/>
          </a:xfrm>
          <a:prstGeom prst="rect">
            <a:avLst/>
          </a:prstGeom>
          <a:noFill/>
          <a:ln/>
        </p:spPr>
        <p:txBody>
          <a:bodyPr wrap="square" lIns="0" tIns="0" rIns="0" bIns="0" rtlCol="0" anchor="t"/>
          <a:lstStyle/>
          <a:p>
            <a:pPr algn="ctr" indent="0" marL="0">
              <a:lnSpc>
                <a:spcPts val="1890"/>
              </a:lnSpc>
              <a:buNone/>
            </a:pPr>
            <a:r>
              <a:rPr lang="en-US" sz="1260" dirty="0">
                <a:solidFill>
                  <a:srgbClr val="FFFFFF"/>
                </a:solidFill>
                <a:latin typeface="Carlito" pitchFamily="34" charset="0"/>
                <a:ea typeface="Carlito" pitchFamily="34" charset="-122"/>
                <a:cs typeface="Carlito" pitchFamily="34" charset="-120"/>
              </a:rPr>
              <a:t>DeepMindQ does not tell the user what to do.</a:t>
            </a:r>
            <a:endParaRPr lang="en-US" sz="1260" dirty="0"/>
          </a:p>
          <a:p>
            <a:pPr algn="ctr" indent="0" marL="0">
              <a:lnSpc>
                <a:spcPts val="1890"/>
              </a:lnSpc>
              <a:buNone/>
            </a:pPr>
            <a:r>
              <a:rPr lang="en-US" sz="1260" dirty="0">
                <a:solidFill>
                  <a:srgbClr val="FFFFFF"/>
                </a:solidFill>
                <a:latin typeface="Carlito" pitchFamily="34" charset="0"/>
                <a:ea typeface="Carlito" pitchFamily="34" charset="-122"/>
                <a:cs typeface="Carlito" pitchFamily="34" charset="-120"/>
              </a:rPr>
              <a:t>DeepMindQ briefs the user on what is happening, why it matters, and recommends what to consider — with full evidence transparency.</a:t>
            </a:r>
            <a:endParaRPr lang="en-US" sz="1260" dirty="0"/>
          </a:p>
        </p:txBody>
      </p:sp>
      <p:sp>
        <p:nvSpPr>
          <p:cNvPr id="6" name="Text 4"/>
          <p:cNvSpPr/>
          <p:nvPr/>
        </p:nvSpPr>
        <p:spPr>
          <a:xfrm>
            <a:off x="457200" y="2302632"/>
            <a:ext cx="4000500" cy="1325612"/>
          </a:xfrm>
          <a:prstGeom prst="roundRect">
            <a:avLst>
              <a:gd name="adj" fmla="val 11497"/>
            </a:avLst>
          </a:prstGeom>
          <a:solidFill>
            <a:srgbClr val="161C2A">
              <a:alpha val="70000"/>
            </a:srgbClr>
          </a:solidFill>
          <a:ln/>
        </p:spPr>
        <p:txBody>
          <a:bodyPr wrap="square" rtlCol="0" anchor="ctr"/>
          <a:lstStyle/>
          <a:p>
            <a:pPr indent="0" marL="0">
              <a:buNone/>
            </a:pPr>
            <a:endParaRPr lang="en-US" dirty="0"/>
          </a:p>
        </p:txBody>
      </p:sp>
      <p:sp>
        <p:nvSpPr>
          <p:cNvPr id="7" name="Shape 5"/>
          <p:cNvSpPr/>
          <p:nvPr/>
        </p:nvSpPr>
        <p:spPr>
          <a:xfrm>
            <a:off x="457200" y="2306203"/>
            <a:ext cx="4000500" cy="0"/>
          </a:xfrm>
          <a:prstGeom prst="line">
            <a:avLst/>
          </a:prstGeom>
          <a:noFill/>
          <a:ln w="7144">
            <a:solidFill>
              <a:srgbClr val="252E42"/>
            </a:solidFill>
            <a:prstDash val="solid"/>
          </a:ln>
        </p:spPr>
      </p:sp>
      <p:sp>
        <p:nvSpPr>
          <p:cNvPr id="8" name="Shape 6"/>
          <p:cNvSpPr/>
          <p:nvPr/>
        </p:nvSpPr>
        <p:spPr>
          <a:xfrm>
            <a:off x="4454128" y="2302632"/>
            <a:ext cx="0" cy="1325612"/>
          </a:xfrm>
          <a:prstGeom prst="line">
            <a:avLst/>
          </a:prstGeom>
          <a:noFill/>
          <a:ln w="7144">
            <a:solidFill>
              <a:srgbClr val="252E42"/>
            </a:solidFill>
            <a:prstDash val="solid"/>
          </a:ln>
        </p:spPr>
      </p:sp>
      <p:sp>
        <p:nvSpPr>
          <p:cNvPr id="9" name="Shape 7"/>
          <p:cNvSpPr/>
          <p:nvPr/>
        </p:nvSpPr>
        <p:spPr>
          <a:xfrm>
            <a:off x="457200" y="3624672"/>
            <a:ext cx="4000500" cy="0"/>
          </a:xfrm>
          <a:prstGeom prst="line">
            <a:avLst/>
          </a:prstGeom>
          <a:noFill/>
          <a:ln w="7144">
            <a:solidFill>
              <a:srgbClr val="252E42"/>
            </a:solidFill>
            <a:prstDash val="solid"/>
          </a:ln>
        </p:spPr>
      </p:sp>
      <p:sp>
        <p:nvSpPr>
          <p:cNvPr id="10" name="Shape 8"/>
          <p:cNvSpPr/>
          <p:nvPr/>
        </p:nvSpPr>
        <p:spPr>
          <a:xfrm>
            <a:off x="467916" y="2302632"/>
            <a:ext cx="0" cy="1325612"/>
          </a:xfrm>
          <a:prstGeom prst="line">
            <a:avLst/>
          </a:prstGeom>
          <a:noFill/>
          <a:ln w="21431">
            <a:solidFill>
              <a:srgbClr val="3B82F6"/>
            </a:solidFill>
            <a:prstDash val="solid"/>
          </a:ln>
        </p:spPr>
      </p:sp>
      <p:sp>
        <p:nvSpPr>
          <p:cNvPr id="11" name="Text 9"/>
          <p:cNvSpPr/>
          <p:nvPr/>
        </p:nvSpPr>
        <p:spPr>
          <a:xfrm>
            <a:off x="650081" y="2481225"/>
            <a:ext cx="314325" cy="314325"/>
          </a:xfrm>
          <a:prstGeom prst="roundRect">
            <a:avLst>
              <a:gd name="adj" fmla="val 30300000"/>
            </a:avLst>
          </a:prstGeom>
          <a:solidFill>
            <a:srgbClr val="3B82F6">
              <a:alpha val="12000"/>
            </a:srgbClr>
          </a:solidFill>
          <a:ln/>
        </p:spPr>
        <p:txBody>
          <a:bodyPr wrap="square" rtlCol="0" anchor="ctr"/>
          <a:lstStyle/>
          <a:p>
            <a:pPr indent="0" marL="0">
              <a:buNone/>
            </a:pPr>
            <a:endParaRPr lang="en-US" dirty="0"/>
          </a:p>
        </p:txBody>
      </p:sp>
      <p:sp>
        <p:nvSpPr>
          <p:cNvPr id="12" name="Text 10"/>
          <p:cNvSpPr/>
          <p:nvPr/>
        </p:nvSpPr>
        <p:spPr>
          <a:xfrm>
            <a:off x="703659" y="2534803"/>
            <a:ext cx="207169" cy="207169"/>
          </a:xfrm>
          <a:prstGeom prst="rect">
            <a:avLst/>
          </a:prstGeom>
          <a:noFill/>
          <a:ln/>
        </p:spPr>
        <p:txBody>
          <a:bodyPr wrap="none" lIns="0" tIns="0" rIns="0" bIns="0" rtlCol="0" anchor="ctr"/>
          <a:lstStyle/>
          <a:p>
            <a:pPr algn="ctr" indent="0" marL="0">
              <a:buNone/>
            </a:pPr>
            <a:r>
              <a:rPr lang="en-US" sz="1406" dirty="0">
                <a:solidFill>
                  <a:srgbClr val="60A5FA"/>
                </a:solidFill>
                <a:latin typeface="Segoe UI Symbol" pitchFamily="34" charset="0"/>
                <a:ea typeface="Segoe UI Symbol" pitchFamily="34" charset="-122"/>
                <a:cs typeface="Segoe UI Symbol" pitchFamily="34" charset="-120"/>
              </a:rPr>
              <a:t>▤</a:t>
            </a:r>
            <a:endParaRPr lang="en-US" sz="1406" dirty="0"/>
          </a:p>
        </p:txBody>
      </p:sp>
      <p:sp>
        <p:nvSpPr>
          <p:cNvPr id="13" name="Text 11"/>
          <p:cNvSpPr/>
          <p:nvPr/>
        </p:nvSpPr>
        <p:spPr>
          <a:xfrm>
            <a:off x="1035844" y="2520516"/>
            <a:ext cx="3243263" cy="254603"/>
          </a:xfrm>
          <a:prstGeom prst="rect">
            <a:avLst/>
          </a:prstGeom>
          <a:noFill/>
          <a:ln/>
        </p:spPr>
        <p:txBody>
          <a:bodyPr wrap="none" lIns="0" tIns="0" rIns="0" bIns="0" rtlCol="0" anchor="t"/>
          <a:lstStyle/>
          <a:p>
            <a:pPr algn="l" indent="0" marL="0">
              <a:lnSpc>
                <a:spcPts val="1856"/>
              </a:lnSpc>
              <a:buNone/>
            </a:pPr>
            <a:r>
              <a:rPr lang="en-US" sz="1238" dirty="0">
                <a:solidFill>
                  <a:srgbClr val="E8ECF4"/>
                </a:solidFill>
                <a:latin typeface="Carlito" pitchFamily="34" charset="0"/>
                <a:ea typeface="Carlito" pitchFamily="34" charset="-122"/>
                <a:cs typeface="Carlito" pitchFamily="34" charset="-120"/>
              </a:rPr>
              <a:t>Briefing, Not Direction</a:t>
            </a:r>
            <a:endParaRPr lang="en-US" sz="1238" dirty="0"/>
          </a:p>
        </p:txBody>
      </p:sp>
      <p:sp>
        <p:nvSpPr>
          <p:cNvPr id="14" name="Text 12"/>
          <p:cNvSpPr/>
          <p:nvPr/>
        </p:nvSpPr>
        <p:spPr>
          <a:xfrm>
            <a:off x="650081" y="2866988"/>
            <a:ext cx="3629025" cy="582662"/>
          </a:xfrm>
          <a:prstGeom prst="rect">
            <a:avLst/>
          </a:prstGeom>
          <a:noFill/>
          <a:ln/>
        </p:spPr>
        <p:txBody>
          <a:bodyPr wrap="square" lIns="0" tIns="0" rIns="0" bIns="0" rtlCol="0" anchor="t"/>
          <a:lstStyle/>
          <a:p>
            <a:pPr algn="l" indent="0" marL="0">
              <a:lnSpc>
                <a:spcPts val="1530"/>
              </a:lnSpc>
              <a:buNone/>
            </a:pPr>
            <a:r>
              <a:rPr lang="en-US" sz="956" dirty="0">
                <a:solidFill>
                  <a:srgbClr val="8B95AD"/>
                </a:solidFill>
                <a:latin typeface="Carlito" pitchFamily="34" charset="0"/>
                <a:ea typeface="Carlito" pitchFamily="34" charset="-122"/>
                <a:cs typeface="Carlito" pitchFamily="34" charset="-120"/>
              </a:rPr>
              <a:t>The system presents intelligence as an executive briefing document — structured, prioritized, evidence-backed. The decision always belongs to the human.</a:t>
            </a:r>
            <a:endParaRPr lang="en-US" sz="956" dirty="0"/>
          </a:p>
        </p:txBody>
      </p:sp>
      <p:sp>
        <p:nvSpPr>
          <p:cNvPr id="15" name="Text 13"/>
          <p:cNvSpPr/>
          <p:nvPr/>
        </p:nvSpPr>
        <p:spPr>
          <a:xfrm>
            <a:off x="4686300" y="2302632"/>
            <a:ext cx="4000500" cy="1325612"/>
          </a:xfrm>
          <a:prstGeom prst="roundRect">
            <a:avLst>
              <a:gd name="adj" fmla="val 11497"/>
            </a:avLst>
          </a:prstGeom>
          <a:solidFill>
            <a:srgbClr val="161C2A">
              <a:alpha val="70000"/>
            </a:srgbClr>
          </a:solidFill>
          <a:ln/>
        </p:spPr>
        <p:txBody>
          <a:bodyPr wrap="square" rtlCol="0" anchor="ctr"/>
          <a:lstStyle/>
          <a:p>
            <a:pPr indent="0" marL="0">
              <a:buNone/>
            </a:pPr>
            <a:endParaRPr lang="en-US" dirty="0"/>
          </a:p>
        </p:txBody>
      </p:sp>
      <p:sp>
        <p:nvSpPr>
          <p:cNvPr id="16" name="Shape 14"/>
          <p:cNvSpPr/>
          <p:nvPr/>
        </p:nvSpPr>
        <p:spPr>
          <a:xfrm>
            <a:off x="4686300" y="2306203"/>
            <a:ext cx="4000500" cy="0"/>
          </a:xfrm>
          <a:prstGeom prst="line">
            <a:avLst/>
          </a:prstGeom>
          <a:noFill/>
          <a:ln w="7144">
            <a:solidFill>
              <a:srgbClr val="252E42"/>
            </a:solidFill>
            <a:prstDash val="solid"/>
          </a:ln>
        </p:spPr>
      </p:sp>
      <p:sp>
        <p:nvSpPr>
          <p:cNvPr id="17" name="Shape 15"/>
          <p:cNvSpPr/>
          <p:nvPr/>
        </p:nvSpPr>
        <p:spPr>
          <a:xfrm>
            <a:off x="8683228" y="2302632"/>
            <a:ext cx="0" cy="1325612"/>
          </a:xfrm>
          <a:prstGeom prst="line">
            <a:avLst/>
          </a:prstGeom>
          <a:noFill/>
          <a:ln w="7144">
            <a:solidFill>
              <a:srgbClr val="252E42"/>
            </a:solidFill>
            <a:prstDash val="solid"/>
          </a:ln>
        </p:spPr>
      </p:sp>
      <p:sp>
        <p:nvSpPr>
          <p:cNvPr id="18" name="Shape 16"/>
          <p:cNvSpPr/>
          <p:nvPr/>
        </p:nvSpPr>
        <p:spPr>
          <a:xfrm>
            <a:off x="4686300" y="3624672"/>
            <a:ext cx="4000500" cy="0"/>
          </a:xfrm>
          <a:prstGeom prst="line">
            <a:avLst/>
          </a:prstGeom>
          <a:noFill/>
          <a:ln w="7144">
            <a:solidFill>
              <a:srgbClr val="252E42"/>
            </a:solidFill>
            <a:prstDash val="solid"/>
          </a:ln>
        </p:spPr>
      </p:sp>
      <p:sp>
        <p:nvSpPr>
          <p:cNvPr id="19" name="Shape 17"/>
          <p:cNvSpPr/>
          <p:nvPr/>
        </p:nvSpPr>
        <p:spPr>
          <a:xfrm>
            <a:off x="4697016" y="2302632"/>
            <a:ext cx="0" cy="1325612"/>
          </a:xfrm>
          <a:prstGeom prst="line">
            <a:avLst/>
          </a:prstGeom>
          <a:noFill/>
          <a:ln w="21431">
            <a:solidFill>
              <a:srgbClr val="A855F7"/>
            </a:solidFill>
            <a:prstDash val="solid"/>
          </a:ln>
        </p:spPr>
      </p:sp>
      <p:sp>
        <p:nvSpPr>
          <p:cNvPr id="20" name="Text 18"/>
          <p:cNvSpPr/>
          <p:nvPr/>
        </p:nvSpPr>
        <p:spPr>
          <a:xfrm>
            <a:off x="4879181" y="2481225"/>
            <a:ext cx="314325" cy="314325"/>
          </a:xfrm>
          <a:prstGeom prst="roundRect">
            <a:avLst>
              <a:gd name="adj" fmla="val 30300000"/>
            </a:avLst>
          </a:prstGeom>
          <a:solidFill>
            <a:srgbClr val="8B5CF6">
              <a:alpha val="12000"/>
            </a:srgbClr>
          </a:solidFill>
          <a:ln/>
        </p:spPr>
        <p:txBody>
          <a:bodyPr wrap="square" rtlCol="0" anchor="ctr"/>
          <a:lstStyle/>
          <a:p>
            <a:pPr indent="0" marL="0">
              <a:buNone/>
            </a:pPr>
            <a:endParaRPr lang="en-US" dirty="0"/>
          </a:p>
        </p:txBody>
      </p:sp>
      <p:sp>
        <p:nvSpPr>
          <p:cNvPr id="21" name="Text 19"/>
          <p:cNvSpPr/>
          <p:nvPr/>
        </p:nvSpPr>
        <p:spPr>
          <a:xfrm>
            <a:off x="4932759" y="2534803"/>
            <a:ext cx="207169" cy="207169"/>
          </a:xfrm>
          <a:prstGeom prst="rect">
            <a:avLst/>
          </a:prstGeom>
          <a:noFill/>
          <a:ln/>
        </p:spPr>
        <p:txBody>
          <a:bodyPr wrap="none" lIns="0" tIns="0" rIns="0" bIns="0" rtlCol="0" anchor="ctr"/>
          <a:lstStyle/>
          <a:p>
            <a:pPr algn="ctr" indent="0" marL="0">
              <a:buNone/>
            </a:pPr>
            <a:r>
              <a:rPr lang="en-US" sz="1406" dirty="0">
                <a:solidFill>
                  <a:srgbClr val="A78BFA"/>
                </a:solidFill>
                <a:latin typeface="Segoe UI Symbol" pitchFamily="34" charset="0"/>
                <a:ea typeface="Segoe UI Symbol" pitchFamily="34" charset="-122"/>
                <a:cs typeface="Segoe UI Symbol" pitchFamily="34" charset="-120"/>
              </a:rPr>
              <a:t>👍</a:t>
            </a:r>
            <a:endParaRPr lang="en-US" sz="1406" dirty="0"/>
          </a:p>
        </p:txBody>
      </p:sp>
      <p:sp>
        <p:nvSpPr>
          <p:cNvPr id="22" name="Text 20"/>
          <p:cNvSpPr/>
          <p:nvPr/>
        </p:nvSpPr>
        <p:spPr>
          <a:xfrm>
            <a:off x="5264944" y="2520516"/>
            <a:ext cx="3243263" cy="254603"/>
          </a:xfrm>
          <a:prstGeom prst="rect">
            <a:avLst/>
          </a:prstGeom>
          <a:noFill/>
          <a:ln/>
        </p:spPr>
        <p:txBody>
          <a:bodyPr wrap="none" lIns="0" tIns="0" rIns="0" bIns="0" rtlCol="0" anchor="t"/>
          <a:lstStyle/>
          <a:p>
            <a:pPr algn="l" indent="0" marL="0">
              <a:lnSpc>
                <a:spcPts val="1856"/>
              </a:lnSpc>
              <a:buNone/>
            </a:pPr>
            <a:r>
              <a:rPr lang="en-US" sz="1238" dirty="0">
                <a:solidFill>
                  <a:srgbClr val="E8ECF4"/>
                </a:solidFill>
                <a:latin typeface="Carlito" pitchFamily="34" charset="0"/>
                <a:ea typeface="Carlito" pitchFamily="34" charset="-122"/>
                <a:cs typeface="Carlito" pitchFamily="34" charset="-120"/>
              </a:rPr>
              <a:t>Recommendation, Not Instruction</a:t>
            </a:r>
            <a:endParaRPr lang="en-US" sz="1238" dirty="0"/>
          </a:p>
        </p:txBody>
      </p:sp>
      <p:sp>
        <p:nvSpPr>
          <p:cNvPr id="23" name="Text 21"/>
          <p:cNvSpPr/>
          <p:nvPr/>
        </p:nvSpPr>
        <p:spPr>
          <a:xfrm>
            <a:off x="4879181" y="2866988"/>
            <a:ext cx="3629025" cy="582662"/>
          </a:xfrm>
          <a:prstGeom prst="rect">
            <a:avLst/>
          </a:prstGeom>
          <a:noFill/>
          <a:ln/>
        </p:spPr>
        <p:txBody>
          <a:bodyPr wrap="square" lIns="0" tIns="0" rIns="0" bIns="0" rtlCol="0" anchor="t"/>
          <a:lstStyle/>
          <a:p>
            <a:pPr algn="l" indent="0" marL="0">
              <a:lnSpc>
                <a:spcPts val="1530"/>
              </a:lnSpc>
              <a:buNone/>
            </a:pPr>
            <a:r>
              <a:rPr lang="en-US" sz="956" dirty="0">
                <a:solidFill>
                  <a:srgbClr val="8B95AD"/>
                </a:solidFill>
                <a:latin typeface="Carlito" pitchFamily="34" charset="0"/>
                <a:ea typeface="Carlito" pitchFamily="34" charset="-122"/>
                <a:cs typeface="Carlito" pitchFamily="34" charset="-120"/>
              </a:rPr>
              <a:t>AI suggests actions with confidence levels and evidence trails. Users evaluate, adjust, and decide. The system provides the briefing; the user provides the judgment.</a:t>
            </a:r>
            <a:endParaRPr lang="en-US" sz="956" dirty="0"/>
          </a:p>
        </p:txBody>
      </p:sp>
      <p:sp>
        <p:nvSpPr>
          <p:cNvPr id="24" name="Text 22"/>
          <p:cNvSpPr/>
          <p:nvPr/>
        </p:nvSpPr>
        <p:spPr>
          <a:xfrm>
            <a:off x="457200" y="3856844"/>
            <a:ext cx="4000500" cy="1519833"/>
          </a:xfrm>
          <a:prstGeom prst="roundRect">
            <a:avLst>
              <a:gd name="adj" fmla="val 10027"/>
            </a:avLst>
          </a:prstGeom>
          <a:solidFill>
            <a:srgbClr val="161C2A">
              <a:alpha val="70000"/>
            </a:srgbClr>
          </a:solidFill>
          <a:ln/>
        </p:spPr>
        <p:txBody>
          <a:bodyPr wrap="square" rtlCol="0" anchor="ctr"/>
          <a:lstStyle/>
          <a:p>
            <a:pPr indent="0" marL="0">
              <a:buNone/>
            </a:pPr>
            <a:endParaRPr lang="en-US" dirty="0"/>
          </a:p>
        </p:txBody>
      </p:sp>
      <p:sp>
        <p:nvSpPr>
          <p:cNvPr id="25" name="Shape 23"/>
          <p:cNvSpPr/>
          <p:nvPr/>
        </p:nvSpPr>
        <p:spPr>
          <a:xfrm>
            <a:off x="457200" y="3860416"/>
            <a:ext cx="4000500" cy="0"/>
          </a:xfrm>
          <a:prstGeom prst="line">
            <a:avLst/>
          </a:prstGeom>
          <a:noFill/>
          <a:ln w="7144">
            <a:solidFill>
              <a:srgbClr val="252E42"/>
            </a:solidFill>
            <a:prstDash val="solid"/>
          </a:ln>
        </p:spPr>
      </p:sp>
      <p:sp>
        <p:nvSpPr>
          <p:cNvPr id="26" name="Shape 24"/>
          <p:cNvSpPr/>
          <p:nvPr/>
        </p:nvSpPr>
        <p:spPr>
          <a:xfrm>
            <a:off x="4454128" y="3856844"/>
            <a:ext cx="0" cy="1519833"/>
          </a:xfrm>
          <a:prstGeom prst="line">
            <a:avLst/>
          </a:prstGeom>
          <a:noFill/>
          <a:ln w="7144">
            <a:solidFill>
              <a:srgbClr val="252E42"/>
            </a:solidFill>
            <a:prstDash val="solid"/>
          </a:ln>
        </p:spPr>
      </p:sp>
      <p:sp>
        <p:nvSpPr>
          <p:cNvPr id="27" name="Shape 25"/>
          <p:cNvSpPr/>
          <p:nvPr/>
        </p:nvSpPr>
        <p:spPr>
          <a:xfrm>
            <a:off x="457200" y="5373105"/>
            <a:ext cx="4000500" cy="0"/>
          </a:xfrm>
          <a:prstGeom prst="line">
            <a:avLst/>
          </a:prstGeom>
          <a:noFill/>
          <a:ln w="7144">
            <a:solidFill>
              <a:srgbClr val="252E42"/>
            </a:solidFill>
            <a:prstDash val="solid"/>
          </a:ln>
        </p:spPr>
      </p:sp>
      <p:sp>
        <p:nvSpPr>
          <p:cNvPr id="28" name="Shape 26"/>
          <p:cNvSpPr/>
          <p:nvPr/>
        </p:nvSpPr>
        <p:spPr>
          <a:xfrm>
            <a:off x="467916" y="3856844"/>
            <a:ext cx="0" cy="1519833"/>
          </a:xfrm>
          <a:prstGeom prst="line">
            <a:avLst/>
          </a:prstGeom>
          <a:noFill/>
          <a:ln w="21431">
            <a:solidFill>
              <a:srgbClr val="22C55E"/>
            </a:solidFill>
            <a:prstDash val="solid"/>
          </a:ln>
        </p:spPr>
      </p:sp>
      <p:sp>
        <p:nvSpPr>
          <p:cNvPr id="29" name="Text 27"/>
          <p:cNvSpPr/>
          <p:nvPr/>
        </p:nvSpPr>
        <p:spPr>
          <a:xfrm>
            <a:off x="650081" y="4035437"/>
            <a:ext cx="314325" cy="314325"/>
          </a:xfrm>
          <a:prstGeom prst="roundRect">
            <a:avLst>
              <a:gd name="adj" fmla="val 30300000"/>
            </a:avLst>
          </a:prstGeom>
          <a:solidFill>
            <a:srgbClr val="22C55E">
              <a:alpha val="12000"/>
            </a:srgbClr>
          </a:solidFill>
          <a:ln/>
        </p:spPr>
        <p:txBody>
          <a:bodyPr wrap="square" rtlCol="0" anchor="ctr"/>
          <a:lstStyle/>
          <a:p>
            <a:pPr indent="0" marL="0">
              <a:buNone/>
            </a:pPr>
            <a:endParaRPr lang="en-US" dirty="0"/>
          </a:p>
        </p:txBody>
      </p:sp>
      <p:sp>
        <p:nvSpPr>
          <p:cNvPr id="30" name="Text 28"/>
          <p:cNvSpPr/>
          <p:nvPr/>
        </p:nvSpPr>
        <p:spPr>
          <a:xfrm>
            <a:off x="703659" y="4089016"/>
            <a:ext cx="207169" cy="207169"/>
          </a:xfrm>
          <a:prstGeom prst="rect">
            <a:avLst/>
          </a:prstGeom>
          <a:noFill/>
          <a:ln/>
        </p:spPr>
        <p:txBody>
          <a:bodyPr wrap="none" lIns="0" tIns="0" rIns="0" bIns="0" rtlCol="0" anchor="ctr"/>
          <a:lstStyle/>
          <a:p>
            <a:pPr algn="ctr" indent="0" marL="0">
              <a:buNone/>
            </a:pPr>
            <a:r>
              <a:rPr lang="en-US" sz="1406" dirty="0">
                <a:solidFill>
                  <a:srgbClr val="4ADE80"/>
                </a:solidFill>
                <a:latin typeface="Segoe UI Symbol" pitchFamily="34" charset="0"/>
                <a:ea typeface="Segoe UI Symbol" pitchFamily="34" charset="-122"/>
                <a:cs typeface="Segoe UI Symbol" pitchFamily="34" charset="-120"/>
              </a:rPr>
              <a:t>✓</a:t>
            </a:r>
            <a:endParaRPr lang="en-US" sz="1406" dirty="0"/>
          </a:p>
        </p:txBody>
      </p:sp>
      <p:sp>
        <p:nvSpPr>
          <p:cNvPr id="31" name="Text 29"/>
          <p:cNvSpPr/>
          <p:nvPr/>
        </p:nvSpPr>
        <p:spPr>
          <a:xfrm>
            <a:off x="1035844" y="4074728"/>
            <a:ext cx="3243263" cy="254603"/>
          </a:xfrm>
          <a:prstGeom prst="rect">
            <a:avLst/>
          </a:prstGeom>
          <a:noFill/>
          <a:ln/>
        </p:spPr>
        <p:txBody>
          <a:bodyPr wrap="none" lIns="0" tIns="0" rIns="0" bIns="0" rtlCol="0" anchor="t"/>
          <a:lstStyle/>
          <a:p>
            <a:pPr algn="l" indent="0" marL="0">
              <a:lnSpc>
                <a:spcPts val="1856"/>
              </a:lnSpc>
              <a:buNone/>
            </a:pPr>
            <a:r>
              <a:rPr lang="en-US" sz="1238" dirty="0">
                <a:solidFill>
                  <a:srgbClr val="E8ECF4"/>
                </a:solidFill>
                <a:latin typeface="Carlito" pitchFamily="34" charset="0"/>
                <a:ea typeface="Carlito" pitchFamily="34" charset="-122"/>
                <a:cs typeface="Carlito" pitchFamily="34" charset="-120"/>
              </a:rPr>
              <a:t>Evidence, Not Authority</a:t>
            </a:r>
            <a:endParaRPr lang="en-US" sz="1238" dirty="0"/>
          </a:p>
        </p:txBody>
      </p:sp>
      <p:sp>
        <p:nvSpPr>
          <p:cNvPr id="32" name="Text 30"/>
          <p:cNvSpPr/>
          <p:nvPr/>
        </p:nvSpPr>
        <p:spPr>
          <a:xfrm>
            <a:off x="650081" y="4421200"/>
            <a:ext cx="3629025" cy="629275"/>
          </a:xfrm>
          <a:prstGeom prst="rect">
            <a:avLst/>
          </a:prstGeom>
          <a:noFill/>
          <a:ln/>
        </p:spPr>
        <p:txBody>
          <a:bodyPr wrap="square" lIns="0" tIns="0" rIns="0" bIns="0" rtlCol="0" anchor="t"/>
          <a:lstStyle/>
          <a:p>
            <a:pPr algn="l" indent="0" marL="0">
              <a:lnSpc>
                <a:spcPts val="1530"/>
              </a:lnSpc>
              <a:buNone/>
            </a:pPr>
            <a:r>
              <a:rPr lang="en-US" sz="956" dirty="0">
                <a:solidFill>
                  <a:srgbClr val="8B95AD"/>
                </a:solidFill>
                <a:latin typeface="Carlito" pitchFamily="34" charset="0"/>
                <a:ea typeface="Carlito" pitchFamily="34" charset="-122"/>
                <a:cs typeface="Carlito" pitchFamily="34" charset="-120"/>
              </a:rPr>
              <a:t>Every insight carries its evidence footprint. Trust is built through transparency, not through brand or authority. Users can always answer: why does the system think this?</a:t>
            </a:r>
            <a:endParaRPr lang="en-US" sz="956" dirty="0"/>
          </a:p>
        </p:txBody>
      </p:sp>
      <p:sp>
        <p:nvSpPr>
          <p:cNvPr id="33" name="Text 31"/>
          <p:cNvSpPr/>
          <p:nvPr/>
        </p:nvSpPr>
        <p:spPr>
          <a:xfrm>
            <a:off x="4686300" y="3856844"/>
            <a:ext cx="4000500" cy="1519833"/>
          </a:xfrm>
          <a:prstGeom prst="roundRect">
            <a:avLst>
              <a:gd name="adj" fmla="val 10027"/>
            </a:avLst>
          </a:prstGeom>
          <a:solidFill>
            <a:srgbClr val="161C2A">
              <a:alpha val="70000"/>
            </a:srgbClr>
          </a:solidFill>
          <a:ln/>
        </p:spPr>
        <p:txBody>
          <a:bodyPr wrap="square" rtlCol="0" anchor="ctr"/>
          <a:lstStyle/>
          <a:p>
            <a:pPr indent="0" marL="0">
              <a:buNone/>
            </a:pPr>
            <a:endParaRPr lang="en-US" dirty="0"/>
          </a:p>
        </p:txBody>
      </p:sp>
      <p:sp>
        <p:nvSpPr>
          <p:cNvPr id="34" name="Shape 32"/>
          <p:cNvSpPr/>
          <p:nvPr/>
        </p:nvSpPr>
        <p:spPr>
          <a:xfrm>
            <a:off x="4686300" y="3860416"/>
            <a:ext cx="4000500" cy="0"/>
          </a:xfrm>
          <a:prstGeom prst="line">
            <a:avLst/>
          </a:prstGeom>
          <a:noFill/>
          <a:ln w="7144">
            <a:solidFill>
              <a:srgbClr val="252E42"/>
            </a:solidFill>
            <a:prstDash val="solid"/>
          </a:ln>
        </p:spPr>
      </p:sp>
      <p:sp>
        <p:nvSpPr>
          <p:cNvPr id="35" name="Shape 33"/>
          <p:cNvSpPr/>
          <p:nvPr/>
        </p:nvSpPr>
        <p:spPr>
          <a:xfrm>
            <a:off x="8683228" y="3856844"/>
            <a:ext cx="0" cy="1519833"/>
          </a:xfrm>
          <a:prstGeom prst="line">
            <a:avLst/>
          </a:prstGeom>
          <a:noFill/>
          <a:ln w="7144">
            <a:solidFill>
              <a:srgbClr val="252E42"/>
            </a:solidFill>
            <a:prstDash val="solid"/>
          </a:ln>
        </p:spPr>
      </p:sp>
      <p:sp>
        <p:nvSpPr>
          <p:cNvPr id="36" name="Shape 34"/>
          <p:cNvSpPr/>
          <p:nvPr/>
        </p:nvSpPr>
        <p:spPr>
          <a:xfrm>
            <a:off x="4686300" y="5373105"/>
            <a:ext cx="4000500" cy="0"/>
          </a:xfrm>
          <a:prstGeom prst="line">
            <a:avLst/>
          </a:prstGeom>
          <a:noFill/>
          <a:ln w="7144">
            <a:solidFill>
              <a:srgbClr val="252E42"/>
            </a:solidFill>
            <a:prstDash val="solid"/>
          </a:ln>
        </p:spPr>
      </p:sp>
      <p:sp>
        <p:nvSpPr>
          <p:cNvPr id="37" name="Shape 35"/>
          <p:cNvSpPr/>
          <p:nvPr/>
        </p:nvSpPr>
        <p:spPr>
          <a:xfrm>
            <a:off x="4697016" y="3856844"/>
            <a:ext cx="0" cy="1519833"/>
          </a:xfrm>
          <a:prstGeom prst="line">
            <a:avLst/>
          </a:prstGeom>
          <a:noFill/>
          <a:ln w="21431">
            <a:solidFill>
              <a:srgbClr val="F59E0B"/>
            </a:solidFill>
            <a:prstDash val="solid"/>
          </a:ln>
        </p:spPr>
      </p:sp>
      <p:sp>
        <p:nvSpPr>
          <p:cNvPr id="38" name="Text 36"/>
          <p:cNvSpPr/>
          <p:nvPr/>
        </p:nvSpPr>
        <p:spPr>
          <a:xfrm>
            <a:off x="4879181" y="4035437"/>
            <a:ext cx="314325" cy="314325"/>
          </a:xfrm>
          <a:prstGeom prst="roundRect">
            <a:avLst>
              <a:gd name="adj" fmla="val 30300000"/>
            </a:avLst>
          </a:prstGeom>
          <a:solidFill>
            <a:srgbClr val="F59E0B">
              <a:alpha val="12000"/>
            </a:srgbClr>
          </a:solidFill>
          <a:ln/>
        </p:spPr>
        <p:txBody>
          <a:bodyPr wrap="square" rtlCol="0" anchor="ctr"/>
          <a:lstStyle/>
          <a:p>
            <a:pPr indent="0" marL="0">
              <a:buNone/>
            </a:pPr>
            <a:endParaRPr lang="en-US" dirty="0"/>
          </a:p>
        </p:txBody>
      </p:sp>
      <p:sp>
        <p:nvSpPr>
          <p:cNvPr id="39" name="Text 37"/>
          <p:cNvSpPr/>
          <p:nvPr/>
        </p:nvSpPr>
        <p:spPr>
          <a:xfrm>
            <a:off x="4932759" y="4089016"/>
            <a:ext cx="207169" cy="207169"/>
          </a:xfrm>
          <a:prstGeom prst="rect">
            <a:avLst/>
          </a:prstGeom>
          <a:noFill/>
          <a:ln/>
        </p:spPr>
        <p:txBody>
          <a:bodyPr wrap="none" lIns="0" tIns="0" rIns="0" bIns="0" rtlCol="0" anchor="ctr"/>
          <a:lstStyle/>
          <a:p>
            <a:pPr algn="ctr" indent="0" marL="0">
              <a:buNone/>
            </a:pPr>
            <a:r>
              <a:rPr lang="en-US" sz="1406" dirty="0">
                <a:solidFill>
                  <a:srgbClr val="FBBF24"/>
                </a:solidFill>
                <a:latin typeface="Segoe UI Symbol" pitchFamily="34" charset="0"/>
                <a:ea typeface="Segoe UI Symbol" pitchFamily="34" charset="-122"/>
                <a:cs typeface="Segoe UI Symbol" pitchFamily="34" charset="-120"/>
              </a:rPr>
              <a:t>✦</a:t>
            </a:r>
            <a:endParaRPr lang="en-US" sz="1406" dirty="0"/>
          </a:p>
        </p:txBody>
      </p:sp>
      <p:sp>
        <p:nvSpPr>
          <p:cNvPr id="40" name="Text 38"/>
          <p:cNvSpPr/>
          <p:nvPr/>
        </p:nvSpPr>
        <p:spPr>
          <a:xfrm>
            <a:off x="5264944" y="4074728"/>
            <a:ext cx="3243263" cy="254603"/>
          </a:xfrm>
          <a:prstGeom prst="rect">
            <a:avLst/>
          </a:prstGeom>
          <a:noFill/>
          <a:ln/>
        </p:spPr>
        <p:txBody>
          <a:bodyPr wrap="none" lIns="0" tIns="0" rIns="0" bIns="0" rtlCol="0" anchor="t"/>
          <a:lstStyle/>
          <a:p>
            <a:pPr algn="l" indent="0" marL="0">
              <a:lnSpc>
                <a:spcPts val="1856"/>
              </a:lnSpc>
              <a:buNone/>
            </a:pPr>
            <a:r>
              <a:rPr lang="en-US" sz="1238" dirty="0">
                <a:solidFill>
                  <a:srgbClr val="E8ECF4"/>
                </a:solidFill>
                <a:latin typeface="Carlito" pitchFamily="34" charset="0"/>
                <a:ea typeface="Carlito" pitchFamily="34" charset="-122"/>
                <a:cs typeface="Carlito" pitchFamily="34" charset="-120"/>
              </a:rPr>
              <a:t>Context, Not Complexity</a:t>
            </a:r>
            <a:endParaRPr lang="en-US" sz="1238" dirty="0"/>
          </a:p>
        </p:txBody>
      </p:sp>
      <p:sp>
        <p:nvSpPr>
          <p:cNvPr id="41" name="Text 39"/>
          <p:cNvSpPr/>
          <p:nvPr/>
        </p:nvSpPr>
        <p:spPr>
          <a:xfrm>
            <a:off x="4879181" y="4421200"/>
            <a:ext cx="3629025" cy="722300"/>
          </a:xfrm>
          <a:prstGeom prst="rect">
            <a:avLst/>
          </a:prstGeom>
          <a:noFill/>
          <a:ln/>
        </p:spPr>
        <p:txBody>
          <a:bodyPr wrap="square" lIns="0" tIns="0" rIns="0" bIns="0" rtlCol="0" anchor="t"/>
          <a:lstStyle/>
          <a:p>
            <a:pPr algn="l" indent="0" marL="0">
              <a:lnSpc>
                <a:spcPts val="1530"/>
              </a:lnSpc>
              <a:buNone/>
            </a:pPr>
            <a:r>
              <a:rPr lang="en-US" sz="956" dirty="0">
                <a:solidFill>
                  <a:srgbClr val="8B95AD"/>
                </a:solidFill>
                <a:latin typeface="Carlito" pitchFamily="34" charset="0"/>
                <a:ea typeface="Carlito" pitchFamily="34" charset="-122"/>
                <a:cs typeface="Carlito" pitchFamily="34" charset="-120"/>
              </a:rPr>
              <a:t>Progressive disclosure reveals depth on demand. The morning briefing gives the summary; deeper layers are available for those who need them. Intelligence surfaces first; complexity reveals itself when needed.</a:t>
            </a:r>
            <a:endParaRPr lang="en-US" sz="956"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457200" y="314325"/>
            <a:ext cx="8636000" cy="315468"/>
          </a:xfrm>
          <a:prstGeom prst="rect">
            <a:avLst/>
          </a:prstGeom>
          <a:noFill/>
          <a:ln/>
        </p:spPr>
        <p:txBody>
          <a:bodyPr wrap="square" lIns="0" tIns="0" rIns="0" bIns="0" rtlCol="0" anchor="t">
            <a:normAutofit/>
          </a:bodyPr>
          <a:lstStyle/>
          <a:p>
            <a:pPr algn="l" indent="0" marL="0">
              <a:lnSpc>
                <a:spcPts val="2363"/>
              </a:lnSpc>
              <a:buNone/>
            </a:pPr>
            <a:r>
              <a:rPr lang="en-US" sz="1575" b="1" dirty="0">
                <a:solidFill>
                  <a:srgbClr val="E8ECF4"/>
                </a:solidFill>
                <a:latin typeface="Carlito" pitchFamily="34" charset="0"/>
                <a:ea typeface="Carlito" pitchFamily="34" charset="-122"/>
                <a:cs typeface="Carlito" pitchFamily="34" charset="-120"/>
              </a:rPr>
              <a:t>The 5-Question Morning Intelligence Protocol</a:t>
            </a:r>
            <a:endParaRPr lang="en-US" sz="1575" dirty="0"/>
          </a:p>
        </p:txBody>
      </p:sp>
      <p:sp>
        <p:nvSpPr>
          <p:cNvPr id="3" name="Text 1"/>
          <p:cNvSpPr/>
          <p:nvPr/>
        </p:nvSpPr>
        <p:spPr>
          <a:xfrm>
            <a:off x="457200" y="657225"/>
            <a:ext cx="8229600" cy="173593"/>
          </a:xfrm>
          <a:prstGeom prst="rect">
            <a:avLst/>
          </a:prstGeom>
          <a:noFill/>
          <a:ln/>
        </p:spPr>
        <p:txBody>
          <a:bodyPr wrap="square" lIns="0" tIns="0" rIns="0" bIns="0" rtlCol="0" anchor="t"/>
          <a:lstStyle/>
          <a:p>
            <a:pPr algn="l" indent="0" marL="0">
              <a:lnSpc>
                <a:spcPts val="1266"/>
              </a:lnSpc>
              <a:buNone/>
            </a:pPr>
            <a:r>
              <a:rPr lang="en-US" sz="844" dirty="0">
                <a:solidFill>
                  <a:srgbClr val="8B95AD"/>
                </a:solidFill>
                <a:latin typeface="Carlito" pitchFamily="34" charset="0"/>
                <a:ea typeface="Carlito" pitchFamily="34" charset="-122"/>
                <a:cs typeface="Carlito" pitchFamily="34" charset="-120"/>
              </a:rPr>
              <a:t>Every element of the Intelligence Hub maps to these five questions</a:t>
            </a:r>
            <a:endParaRPr lang="en-US" sz="844" dirty="0"/>
          </a:p>
        </p:txBody>
      </p:sp>
      <p:sp>
        <p:nvSpPr>
          <p:cNvPr id="4" name="Text 2"/>
          <p:cNvSpPr/>
          <p:nvPr/>
        </p:nvSpPr>
        <p:spPr>
          <a:xfrm>
            <a:off x="457200" y="860822"/>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5" name="Text 3"/>
          <p:cNvSpPr/>
          <p:nvPr/>
        </p:nvSpPr>
        <p:spPr>
          <a:xfrm>
            <a:off x="460772" y="1143000"/>
            <a:ext cx="6107906" cy="1929705"/>
          </a:xfrm>
          <a:prstGeom prst="roundRect">
            <a:avLst>
              <a:gd name="adj" fmla="val 7898"/>
            </a:avLst>
          </a:prstGeom>
          <a:solidFill>
            <a:srgbClr val="161C2A">
              <a:alpha val="70000"/>
            </a:srgbClr>
          </a:solidFill>
          <a:ln w="7144">
            <a:solidFill>
              <a:srgbClr val="3B82F6"/>
            </a:solidFill>
            <a:prstDash val="solid"/>
          </a:ln>
          <a:effectLst>
            <a:outerShdw sx="100000" sy="100000" kx="0" ky="0" algn="bl" rotWithShape="0" blurRad="285750" dist="50800" dir="16200000">
              <a:srgbClr val="3B82F6">
                <a:alpha val="15000"/>
              </a:srgbClr>
            </a:outerShdw>
          </a:effectLst>
        </p:spPr>
        <p:txBody>
          <a:bodyPr wrap="square" rtlCol="0" anchor="ctr"/>
          <a:lstStyle/>
          <a:p>
            <a:pPr indent="0" marL="0">
              <a:buNone/>
            </a:pPr>
            <a:endParaRPr lang="en-US" dirty="0"/>
          </a:p>
        </p:txBody>
      </p:sp>
      <p:sp>
        <p:nvSpPr>
          <p:cNvPr id="6" name="Text 4"/>
          <p:cNvSpPr/>
          <p:nvPr/>
        </p:nvSpPr>
        <p:spPr>
          <a:xfrm>
            <a:off x="635794" y="1318022"/>
            <a:ext cx="314325" cy="314325"/>
          </a:xfrm>
          <a:prstGeom prst="roundRect">
            <a:avLst>
              <a:gd name="adj" fmla="val 30300000"/>
            </a:avLst>
          </a:prstGeom>
          <a:solidFill>
            <a:srgbClr val="3B82F6">
              <a:alpha val="12000"/>
            </a:srgbClr>
          </a:solidFill>
          <a:ln/>
        </p:spPr>
        <p:txBody>
          <a:bodyPr wrap="square" rtlCol="0" anchor="ctr"/>
          <a:lstStyle/>
          <a:p>
            <a:pPr indent="0" marL="0">
              <a:buNone/>
            </a:pPr>
            <a:endParaRPr lang="en-US" dirty="0"/>
          </a:p>
        </p:txBody>
      </p:sp>
      <p:sp>
        <p:nvSpPr>
          <p:cNvPr id="7" name="Text 5"/>
          <p:cNvSpPr/>
          <p:nvPr/>
        </p:nvSpPr>
        <p:spPr>
          <a:xfrm>
            <a:off x="679013" y="1361242"/>
            <a:ext cx="227886" cy="227886"/>
          </a:xfrm>
          <a:prstGeom prst="rect">
            <a:avLst/>
          </a:prstGeom>
          <a:noFill/>
          <a:ln/>
        </p:spPr>
        <p:txBody>
          <a:bodyPr wrap="none" lIns="0" tIns="0" rIns="0" bIns="0" rtlCol="0" anchor="ctr"/>
          <a:lstStyle/>
          <a:p>
            <a:pPr algn="ctr" indent="0" marL="0">
              <a:buNone/>
            </a:pPr>
            <a:r>
              <a:rPr lang="en-US" sz="1547" dirty="0">
                <a:solidFill>
                  <a:srgbClr val="60A5FA"/>
                </a:solidFill>
                <a:latin typeface="Segoe UI Symbol" pitchFamily="34" charset="0"/>
                <a:ea typeface="Segoe UI Symbol" pitchFamily="34" charset="-122"/>
                <a:cs typeface="Segoe UI Symbol" pitchFamily="34" charset="-120"/>
              </a:rPr>
              <a:t>◔</a:t>
            </a:r>
            <a:endParaRPr lang="en-US" sz="1547" dirty="0"/>
          </a:p>
        </p:txBody>
      </p:sp>
      <p:sp>
        <p:nvSpPr>
          <p:cNvPr id="8" name="Text 6"/>
          <p:cNvSpPr/>
          <p:nvPr/>
        </p:nvSpPr>
        <p:spPr>
          <a:xfrm>
            <a:off x="1064419" y="1318022"/>
            <a:ext cx="5329238" cy="251174"/>
          </a:xfrm>
          <a:prstGeom prst="rect">
            <a:avLst/>
          </a:prstGeom>
          <a:noFill/>
          <a:ln/>
        </p:spPr>
        <p:txBody>
          <a:bodyPr wrap="none" lIns="0" tIns="0" rIns="0" bIns="0" rtlCol="0" anchor="t">
            <a:normAutofit/>
          </a:bodyPr>
          <a:lstStyle/>
          <a:p>
            <a:pPr algn="l" indent="0" marL="0">
              <a:lnSpc>
                <a:spcPts val="1856"/>
              </a:lnSpc>
              <a:buNone/>
            </a:pPr>
            <a:r>
              <a:rPr lang="en-US" sz="1238" dirty="0">
                <a:solidFill>
                  <a:srgbClr val="60A5FA"/>
                </a:solidFill>
                <a:latin typeface="Liberation Sans Narrow" pitchFamily="34" charset="0"/>
                <a:ea typeface="Liberation Sans Narrow" pitchFamily="34" charset="-122"/>
                <a:cs typeface="Liberation Sans Narrow" pitchFamily="34" charset="-120"/>
              </a:rPr>
              <a:t>1. What Changed?</a:t>
            </a:r>
            <a:endParaRPr lang="en-US" sz="1238" dirty="0"/>
          </a:p>
        </p:txBody>
      </p:sp>
      <p:sp>
        <p:nvSpPr>
          <p:cNvPr id="9" name="Text 7"/>
          <p:cNvSpPr/>
          <p:nvPr/>
        </p:nvSpPr>
        <p:spPr>
          <a:xfrm>
            <a:off x="1064419" y="1596628"/>
            <a:ext cx="5329238" cy="419517"/>
          </a:xfrm>
          <a:prstGeom prst="rect">
            <a:avLst/>
          </a:prstGeom>
          <a:noFill/>
          <a:ln/>
        </p:spPr>
        <p:txBody>
          <a:bodyPr wrap="square" lIns="0" tIns="0" rIns="0" bIns="0" rtlCol="0" anchor="t"/>
          <a:lstStyle/>
          <a:p>
            <a:pPr algn="l" indent="0" marL="0">
              <a:lnSpc>
                <a:spcPts val="1530"/>
              </a:lnSpc>
              <a:buNone/>
            </a:pPr>
            <a:r>
              <a:rPr lang="en-US" sz="956" dirty="0">
                <a:solidFill>
                  <a:srgbClr val="8B95AD"/>
                </a:solidFill>
                <a:latin typeface="Carlito" pitchFamily="34" charset="0"/>
                <a:ea typeface="Carlito" pitchFamily="34" charset="-122"/>
                <a:cs typeface="Carlito" pitchFamily="34" charset="-120"/>
              </a:rPr>
              <a:t>Surface critical signals — account movements, market shifts, competitive changes, opportunity updates. Ranked by impact, not recency.</a:t>
            </a:r>
            <a:endParaRPr lang="en-US" sz="956" dirty="0"/>
          </a:p>
        </p:txBody>
      </p:sp>
      <p:sp>
        <p:nvSpPr>
          <p:cNvPr id="10" name="Text 8"/>
          <p:cNvSpPr/>
          <p:nvPr/>
        </p:nvSpPr>
        <p:spPr>
          <a:xfrm>
            <a:off x="6686550" y="1139428"/>
            <a:ext cx="2000250" cy="1936849"/>
          </a:xfrm>
          <a:prstGeom prst="roundRect">
            <a:avLst>
              <a:gd name="adj" fmla="val 7868"/>
            </a:avLst>
          </a:prstGeom>
          <a:solidFill>
            <a:srgbClr val="161C2A">
              <a:alpha val="70000"/>
            </a:srgbClr>
          </a:solidFill>
          <a:ln/>
        </p:spPr>
        <p:txBody>
          <a:bodyPr wrap="square" rtlCol="0" anchor="ctr"/>
          <a:lstStyle/>
          <a:p>
            <a:pPr indent="0" marL="0">
              <a:buNone/>
            </a:pPr>
            <a:endParaRPr lang="en-US" dirty="0"/>
          </a:p>
        </p:txBody>
      </p:sp>
      <p:sp>
        <p:nvSpPr>
          <p:cNvPr id="11" name="Shape 9"/>
          <p:cNvSpPr/>
          <p:nvPr/>
        </p:nvSpPr>
        <p:spPr>
          <a:xfrm>
            <a:off x="6686550" y="1143000"/>
            <a:ext cx="2000250" cy="0"/>
          </a:xfrm>
          <a:prstGeom prst="line">
            <a:avLst/>
          </a:prstGeom>
          <a:noFill/>
          <a:ln w="7144">
            <a:solidFill>
              <a:srgbClr val="252E42"/>
            </a:solidFill>
            <a:prstDash val="solid"/>
          </a:ln>
        </p:spPr>
      </p:sp>
      <p:sp>
        <p:nvSpPr>
          <p:cNvPr id="12" name="Shape 10"/>
          <p:cNvSpPr/>
          <p:nvPr/>
        </p:nvSpPr>
        <p:spPr>
          <a:xfrm>
            <a:off x="8683228" y="1139428"/>
            <a:ext cx="0" cy="1936849"/>
          </a:xfrm>
          <a:prstGeom prst="line">
            <a:avLst/>
          </a:prstGeom>
          <a:noFill/>
          <a:ln w="7144">
            <a:solidFill>
              <a:srgbClr val="252E42"/>
            </a:solidFill>
            <a:prstDash val="solid"/>
          </a:ln>
        </p:spPr>
      </p:sp>
      <p:sp>
        <p:nvSpPr>
          <p:cNvPr id="13" name="Shape 11"/>
          <p:cNvSpPr/>
          <p:nvPr/>
        </p:nvSpPr>
        <p:spPr>
          <a:xfrm>
            <a:off x="6686550" y="3072705"/>
            <a:ext cx="2000250" cy="0"/>
          </a:xfrm>
          <a:prstGeom prst="line">
            <a:avLst/>
          </a:prstGeom>
          <a:noFill/>
          <a:ln w="7144">
            <a:solidFill>
              <a:srgbClr val="252E42"/>
            </a:solidFill>
            <a:prstDash val="solid"/>
          </a:ln>
        </p:spPr>
      </p:sp>
      <p:sp>
        <p:nvSpPr>
          <p:cNvPr id="14" name="Shape 12"/>
          <p:cNvSpPr/>
          <p:nvPr/>
        </p:nvSpPr>
        <p:spPr>
          <a:xfrm>
            <a:off x="6697266" y="1139428"/>
            <a:ext cx="0" cy="1936849"/>
          </a:xfrm>
          <a:prstGeom prst="line">
            <a:avLst/>
          </a:prstGeom>
          <a:noFill/>
          <a:ln w="21431">
            <a:solidFill>
              <a:srgbClr val="F59E0B"/>
            </a:solidFill>
            <a:prstDash val="solid"/>
          </a:ln>
        </p:spPr>
      </p:sp>
      <p:sp>
        <p:nvSpPr>
          <p:cNvPr id="15" name="Text 13"/>
          <p:cNvSpPr/>
          <p:nvPr/>
        </p:nvSpPr>
        <p:spPr>
          <a:xfrm>
            <a:off x="6879431" y="1318022"/>
            <a:ext cx="314325" cy="314325"/>
          </a:xfrm>
          <a:prstGeom prst="roundRect">
            <a:avLst>
              <a:gd name="adj" fmla="val 30300000"/>
            </a:avLst>
          </a:prstGeom>
          <a:solidFill>
            <a:srgbClr val="F59E0B">
              <a:alpha val="12000"/>
            </a:srgbClr>
          </a:solidFill>
          <a:ln/>
        </p:spPr>
        <p:txBody>
          <a:bodyPr wrap="square" rtlCol="0" anchor="ctr"/>
          <a:lstStyle/>
          <a:p>
            <a:pPr indent="0" marL="0">
              <a:buNone/>
            </a:pPr>
            <a:endParaRPr lang="en-US" dirty="0"/>
          </a:p>
        </p:txBody>
      </p:sp>
      <p:sp>
        <p:nvSpPr>
          <p:cNvPr id="16" name="Text 14"/>
          <p:cNvSpPr/>
          <p:nvPr/>
        </p:nvSpPr>
        <p:spPr>
          <a:xfrm>
            <a:off x="6922651" y="1361242"/>
            <a:ext cx="227886" cy="227886"/>
          </a:xfrm>
          <a:prstGeom prst="rect">
            <a:avLst/>
          </a:prstGeom>
          <a:noFill/>
          <a:ln/>
        </p:spPr>
        <p:txBody>
          <a:bodyPr wrap="none" lIns="0" tIns="0" rIns="0" bIns="0" rtlCol="0" anchor="ctr"/>
          <a:lstStyle/>
          <a:p>
            <a:pPr algn="ctr" indent="0" marL="0">
              <a:buNone/>
            </a:pPr>
            <a:r>
              <a:rPr lang="en-US" sz="1547" dirty="0">
                <a:solidFill>
                  <a:srgbClr val="FBBF24"/>
                </a:solidFill>
                <a:latin typeface="Segoe UI Symbol" pitchFamily="34" charset="0"/>
                <a:ea typeface="Segoe UI Symbol" pitchFamily="34" charset="-122"/>
                <a:cs typeface="Segoe UI Symbol" pitchFamily="34" charset="-120"/>
              </a:rPr>
              <a:t>◆</a:t>
            </a:r>
            <a:endParaRPr lang="en-US" sz="1547" dirty="0"/>
          </a:p>
        </p:txBody>
      </p:sp>
      <p:sp>
        <p:nvSpPr>
          <p:cNvPr id="17" name="Text 15"/>
          <p:cNvSpPr/>
          <p:nvPr/>
        </p:nvSpPr>
        <p:spPr>
          <a:xfrm>
            <a:off x="6879431" y="1703784"/>
            <a:ext cx="1628775" cy="194328"/>
          </a:xfrm>
          <a:prstGeom prst="rect">
            <a:avLst/>
          </a:prstGeom>
          <a:noFill/>
          <a:ln/>
        </p:spPr>
        <p:txBody>
          <a:bodyPr wrap="none" lIns="0" tIns="0" rIns="0" bIns="0" rtlCol="0" anchor="t"/>
          <a:lstStyle/>
          <a:p>
            <a:pPr algn="l" indent="0" marL="0">
              <a:lnSpc>
                <a:spcPts val="1418"/>
              </a:lnSpc>
              <a:buNone/>
            </a:pPr>
            <a:r>
              <a:rPr lang="en-US" sz="945" dirty="0">
                <a:solidFill>
                  <a:srgbClr val="E8ECF4"/>
                </a:solidFill>
                <a:latin typeface="Liberation Sans Narrow" pitchFamily="34" charset="0"/>
                <a:ea typeface="Liberation Sans Narrow" pitchFamily="34" charset="-122"/>
                <a:cs typeface="Liberation Sans Narrow" pitchFamily="34" charset="-120"/>
              </a:rPr>
              <a:t>2. Why It Matters</a:t>
            </a:r>
            <a:endParaRPr lang="en-US" sz="945" dirty="0"/>
          </a:p>
        </p:txBody>
      </p:sp>
      <p:sp>
        <p:nvSpPr>
          <p:cNvPr id="18" name="Text 16"/>
          <p:cNvSpPr/>
          <p:nvPr/>
        </p:nvSpPr>
        <p:spPr>
          <a:xfrm>
            <a:off x="6879431" y="1926580"/>
            <a:ext cx="1628775" cy="971104"/>
          </a:xfrm>
          <a:prstGeom prst="rect">
            <a:avLst/>
          </a:prstGeom>
          <a:noFill/>
          <a:ln/>
        </p:spPr>
        <p:txBody>
          <a:bodyPr wrap="square" lIns="0" tIns="0" rIns="0" bIns="0" rtlCol="0" anchor="t"/>
          <a:lstStyle/>
          <a:p>
            <a:pPr algn="l" indent="0" marL="0">
              <a:lnSpc>
                <a:spcPts val="1530"/>
              </a:lnSpc>
              <a:buNone/>
            </a:pPr>
            <a:r>
              <a:rPr lang="en-US" sz="956" dirty="0">
                <a:solidFill>
                  <a:srgbClr val="8B95AD"/>
                </a:solidFill>
                <a:latin typeface="Carlito" pitchFamily="34" charset="0"/>
                <a:ea typeface="Carlito" pitchFamily="34" charset="-122"/>
                <a:cs typeface="Carlito" pitchFamily="34" charset="-120"/>
              </a:rPr>
              <a:t>Context and reasoning behind every signal. Impact analysis, trend correlation, revenue implication.</a:t>
            </a:r>
            <a:endParaRPr lang="en-US" sz="956" dirty="0"/>
          </a:p>
        </p:txBody>
      </p:sp>
      <p:sp>
        <p:nvSpPr>
          <p:cNvPr id="19" name="Text 17"/>
          <p:cNvSpPr/>
          <p:nvPr/>
        </p:nvSpPr>
        <p:spPr>
          <a:xfrm>
            <a:off x="457200" y="3190577"/>
            <a:ext cx="4000500" cy="1742629"/>
          </a:xfrm>
          <a:prstGeom prst="roundRect">
            <a:avLst>
              <a:gd name="adj" fmla="val 8745"/>
            </a:avLst>
          </a:prstGeom>
          <a:solidFill>
            <a:srgbClr val="161C2A">
              <a:alpha val="70000"/>
            </a:srgbClr>
          </a:solidFill>
          <a:ln/>
        </p:spPr>
        <p:txBody>
          <a:bodyPr wrap="square" rtlCol="0" anchor="ctr"/>
          <a:lstStyle/>
          <a:p>
            <a:pPr indent="0" marL="0">
              <a:buNone/>
            </a:pPr>
            <a:endParaRPr lang="en-US" dirty="0"/>
          </a:p>
        </p:txBody>
      </p:sp>
      <p:sp>
        <p:nvSpPr>
          <p:cNvPr id="20" name="Shape 18"/>
          <p:cNvSpPr/>
          <p:nvPr/>
        </p:nvSpPr>
        <p:spPr>
          <a:xfrm>
            <a:off x="457200" y="3194149"/>
            <a:ext cx="4000500" cy="0"/>
          </a:xfrm>
          <a:prstGeom prst="line">
            <a:avLst/>
          </a:prstGeom>
          <a:noFill/>
          <a:ln w="7144">
            <a:solidFill>
              <a:srgbClr val="252E42"/>
            </a:solidFill>
            <a:prstDash val="solid"/>
          </a:ln>
        </p:spPr>
      </p:sp>
      <p:sp>
        <p:nvSpPr>
          <p:cNvPr id="21" name="Shape 19"/>
          <p:cNvSpPr/>
          <p:nvPr/>
        </p:nvSpPr>
        <p:spPr>
          <a:xfrm>
            <a:off x="4454128" y="3190577"/>
            <a:ext cx="0" cy="1742629"/>
          </a:xfrm>
          <a:prstGeom prst="line">
            <a:avLst/>
          </a:prstGeom>
          <a:noFill/>
          <a:ln w="7144">
            <a:solidFill>
              <a:srgbClr val="252E42"/>
            </a:solidFill>
            <a:prstDash val="solid"/>
          </a:ln>
        </p:spPr>
      </p:sp>
      <p:sp>
        <p:nvSpPr>
          <p:cNvPr id="22" name="Shape 20"/>
          <p:cNvSpPr/>
          <p:nvPr/>
        </p:nvSpPr>
        <p:spPr>
          <a:xfrm>
            <a:off x="457200" y="4929634"/>
            <a:ext cx="4000500" cy="0"/>
          </a:xfrm>
          <a:prstGeom prst="line">
            <a:avLst/>
          </a:prstGeom>
          <a:noFill/>
          <a:ln w="7144">
            <a:solidFill>
              <a:srgbClr val="252E42"/>
            </a:solidFill>
            <a:prstDash val="solid"/>
          </a:ln>
        </p:spPr>
      </p:sp>
      <p:sp>
        <p:nvSpPr>
          <p:cNvPr id="23" name="Shape 21"/>
          <p:cNvSpPr/>
          <p:nvPr/>
        </p:nvSpPr>
        <p:spPr>
          <a:xfrm>
            <a:off x="467916" y="3190577"/>
            <a:ext cx="0" cy="1742629"/>
          </a:xfrm>
          <a:prstGeom prst="line">
            <a:avLst/>
          </a:prstGeom>
          <a:noFill/>
          <a:ln w="21431">
            <a:solidFill>
              <a:srgbClr val="A855F7"/>
            </a:solidFill>
            <a:prstDash val="solid"/>
          </a:ln>
        </p:spPr>
      </p:sp>
      <p:sp>
        <p:nvSpPr>
          <p:cNvPr id="24" name="Text 22"/>
          <p:cNvSpPr/>
          <p:nvPr/>
        </p:nvSpPr>
        <p:spPr>
          <a:xfrm>
            <a:off x="650081" y="3369171"/>
            <a:ext cx="314325" cy="314325"/>
          </a:xfrm>
          <a:prstGeom prst="roundRect">
            <a:avLst>
              <a:gd name="adj" fmla="val 30300000"/>
            </a:avLst>
          </a:prstGeom>
          <a:solidFill>
            <a:srgbClr val="8B5CF6">
              <a:alpha val="12000"/>
            </a:srgbClr>
          </a:solidFill>
          <a:ln/>
        </p:spPr>
        <p:txBody>
          <a:bodyPr wrap="square" rtlCol="0" anchor="ctr"/>
          <a:lstStyle/>
          <a:p>
            <a:pPr indent="0" marL="0">
              <a:buNone/>
            </a:pPr>
            <a:endParaRPr lang="en-US" dirty="0"/>
          </a:p>
        </p:txBody>
      </p:sp>
      <p:sp>
        <p:nvSpPr>
          <p:cNvPr id="25" name="Text 23"/>
          <p:cNvSpPr/>
          <p:nvPr/>
        </p:nvSpPr>
        <p:spPr>
          <a:xfrm>
            <a:off x="693301" y="3412391"/>
            <a:ext cx="227886" cy="227886"/>
          </a:xfrm>
          <a:prstGeom prst="rect">
            <a:avLst/>
          </a:prstGeom>
          <a:noFill/>
          <a:ln/>
        </p:spPr>
        <p:txBody>
          <a:bodyPr wrap="none" lIns="0" tIns="0" rIns="0" bIns="0" rtlCol="0" anchor="ctr"/>
          <a:lstStyle/>
          <a:p>
            <a:pPr algn="ctr" indent="0" marL="0">
              <a:buNone/>
            </a:pPr>
            <a:r>
              <a:rPr lang="en-US" sz="1547" dirty="0">
                <a:solidFill>
                  <a:srgbClr val="A78BFA"/>
                </a:solidFill>
                <a:latin typeface="Segoe UI Symbol" pitchFamily="34" charset="0"/>
                <a:ea typeface="Segoe UI Symbol" pitchFamily="34" charset="-122"/>
                <a:cs typeface="Segoe UI Symbol" pitchFamily="34" charset="-120"/>
              </a:rPr>
              <a:t>♟</a:t>
            </a:r>
            <a:endParaRPr lang="en-US" sz="1547" dirty="0"/>
          </a:p>
        </p:txBody>
      </p:sp>
      <p:sp>
        <p:nvSpPr>
          <p:cNvPr id="26" name="Text 24"/>
          <p:cNvSpPr/>
          <p:nvPr/>
        </p:nvSpPr>
        <p:spPr>
          <a:xfrm>
            <a:off x="650081" y="3754934"/>
            <a:ext cx="3629025" cy="194328"/>
          </a:xfrm>
          <a:prstGeom prst="rect">
            <a:avLst/>
          </a:prstGeom>
          <a:noFill/>
          <a:ln/>
        </p:spPr>
        <p:txBody>
          <a:bodyPr wrap="none" lIns="0" tIns="0" rIns="0" bIns="0" rtlCol="0" anchor="t"/>
          <a:lstStyle/>
          <a:p>
            <a:pPr algn="l" indent="0" marL="0">
              <a:lnSpc>
                <a:spcPts val="1418"/>
              </a:lnSpc>
              <a:buNone/>
            </a:pPr>
            <a:r>
              <a:rPr lang="en-US" sz="945" dirty="0">
                <a:solidFill>
                  <a:srgbClr val="E8ECF4"/>
                </a:solidFill>
                <a:latin typeface="Liberation Sans Narrow" pitchFamily="34" charset="0"/>
                <a:ea typeface="Liberation Sans Narrow" pitchFamily="34" charset="-122"/>
                <a:cs typeface="Liberation Sans Narrow" pitchFamily="34" charset="-120"/>
              </a:rPr>
              <a:t>3. Who to Engage</a:t>
            </a:r>
            <a:endParaRPr lang="en-US" sz="945" dirty="0"/>
          </a:p>
        </p:txBody>
      </p:sp>
      <p:sp>
        <p:nvSpPr>
          <p:cNvPr id="27" name="Text 25"/>
          <p:cNvSpPr/>
          <p:nvPr/>
        </p:nvSpPr>
        <p:spPr>
          <a:xfrm>
            <a:off x="650081" y="3977729"/>
            <a:ext cx="3629025" cy="419517"/>
          </a:xfrm>
          <a:prstGeom prst="rect">
            <a:avLst/>
          </a:prstGeom>
          <a:noFill/>
          <a:ln/>
        </p:spPr>
        <p:txBody>
          <a:bodyPr wrap="square" lIns="0" tIns="0" rIns="0" bIns="0" rtlCol="0" anchor="t"/>
          <a:lstStyle/>
          <a:p>
            <a:pPr algn="l" indent="0" marL="0">
              <a:lnSpc>
                <a:spcPts val="1530"/>
              </a:lnSpc>
              <a:buNone/>
            </a:pPr>
            <a:r>
              <a:rPr lang="en-US" sz="956" dirty="0">
                <a:solidFill>
                  <a:srgbClr val="8B95AD"/>
                </a:solidFill>
                <a:latin typeface="Carlito" pitchFamily="34" charset="0"/>
                <a:ea typeface="Carlito" pitchFamily="34" charset="-122"/>
                <a:cs typeface="Carlito" pitchFamily="34" charset="-120"/>
              </a:rPr>
              <a:t>Account-specific recommendations. Priority-ranked engagement targets with reasoning.</a:t>
            </a:r>
            <a:endParaRPr lang="en-US" sz="956" dirty="0"/>
          </a:p>
        </p:txBody>
      </p:sp>
      <p:sp>
        <p:nvSpPr>
          <p:cNvPr id="28" name="Text 26"/>
          <p:cNvSpPr/>
          <p:nvPr/>
        </p:nvSpPr>
        <p:spPr>
          <a:xfrm>
            <a:off x="4572000" y="3190577"/>
            <a:ext cx="2000250" cy="1742629"/>
          </a:xfrm>
          <a:prstGeom prst="roundRect">
            <a:avLst>
              <a:gd name="adj" fmla="val 8745"/>
            </a:avLst>
          </a:prstGeom>
          <a:solidFill>
            <a:srgbClr val="161C2A">
              <a:alpha val="70000"/>
            </a:srgbClr>
          </a:solidFill>
          <a:ln/>
        </p:spPr>
        <p:txBody>
          <a:bodyPr wrap="square" rtlCol="0" anchor="ctr"/>
          <a:lstStyle/>
          <a:p>
            <a:pPr indent="0" marL="0">
              <a:buNone/>
            </a:pPr>
            <a:endParaRPr lang="en-US" dirty="0"/>
          </a:p>
        </p:txBody>
      </p:sp>
      <p:sp>
        <p:nvSpPr>
          <p:cNvPr id="29" name="Shape 27"/>
          <p:cNvSpPr/>
          <p:nvPr/>
        </p:nvSpPr>
        <p:spPr>
          <a:xfrm>
            <a:off x="4572000" y="3194149"/>
            <a:ext cx="2000250" cy="0"/>
          </a:xfrm>
          <a:prstGeom prst="line">
            <a:avLst/>
          </a:prstGeom>
          <a:noFill/>
          <a:ln w="7144">
            <a:solidFill>
              <a:srgbClr val="252E42"/>
            </a:solidFill>
            <a:prstDash val="solid"/>
          </a:ln>
        </p:spPr>
      </p:sp>
      <p:sp>
        <p:nvSpPr>
          <p:cNvPr id="30" name="Shape 28"/>
          <p:cNvSpPr/>
          <p:nvPr/>
        </p:nvSpPr>
        <p:spPr>
          <a:xfrm>
            <a:off x="6568678" y="3190577"/>
            <a:ext cx="0" cy="1742629"/>
          </a:xfrm>
          <a:prstGeom prst="line">
            <a:avLst/>
          </a:prstGeom>
          <a:noFill/>
          <a:ln w="7144">
            <a:solidFill>
              <a:srgbClr val="252E42"/>
            </a:solidFill>
            <a:prstDash val="solid"/>
          </a:ln>
        </p:spPr>
      </p:sp>
      <p:sp>
        <p:nvSpPr>
          <p:cNvPr id="31" name="Shape 29"/>
          <p:cNvSpPr/>
          <p:nvPr/>
        </p:nvSpPr>
        <p:spPr>
          <a:xfrm>
            <a:off x="4572000" y="4929634"/>
            <a:ext cx="2000250" cy="0"/>
          </a:xfrm>
          <a:prstGeom prst="line">
            <a:avLst/>
          </a:prstGeom>
          <a:noFill/>
          <a:ln w="7144">
            <a:solidFill>
              <a:srgbClr val="252E42"/>
            </a:solidFill>
            <a:prstDash val="solid"/>
          </a:ln>
        </p:spPr>
      </p:sp>
      <p:sp>
        <p:nvSpPr>
          <p:cNvPr id="32" name="Shape 30"/>
          <p:cNvSpPr/>
          <p:nvPr/>
        </p:nvSpPr>
        <p:spPr>
          <a:xfrm>
            <a:off x="4582716" y="3190577"/>
            <a:ext cx="0" cy="1742629"/>
          </a:xfrm>
          <a:prstGeom prst="line">
            <a:avLst/>
          </a:prstGeom>
          <a:noFill/>
          <a:ln w="21431">
            <a:solidFill>
              <a:srgbClr val="22C55E"/>
            </a:solidFill>
            <a:prstDash val="solid"/>
          </a:ln>
        </p:spPr>
      </p:sp>
      <p:sp>
        <p:nvSpPr>
          <p:cNvPr id="33" name="Text 31"/>
          <p:cNvSpPr/>
          <p:nvPr/>
        </p:nvSpPr>
        <p:spPr>
          <a:xfrm>
            <a:off x="4764881" y="3369171"/>
            <a:ext cx="314325" cy="314325"/>
          </a:xfrm>
          <a:prstGeom prst="roundRect">
            <a:avLst>
              <a:gd name="adj" fmla="val 30300000"/>
            </a:avLst>
          </a:prstGeom>
          <a:solidFill>
            <a:srgbClr val="22C55E">
              <a:alpha val="12000"/>
            </a:srgbClr>
          </a:solidFill>
          <a:ln/>
        </p:spPr>
        <p:txBody>
          <a:bodyPr wrap="square" rtlCol="0" anchor="ctr"/>
          <a:lstStyle/>
          <a:p>
            <a:pPr indent="0" marL="0">
              <a:buNone/>
            </a:pPr>
            <a:endParaRPr lang="en-US" dirty="0"/>
          </a:p>
        </p:txBody>
      </p:sp>
      <p:sp>
        <p:nvSpPr>
          <p:cNvPr id="34" name="Text 32"/>
          <p:cNvSpPr/>
          <p:nvPr/>
        </p:nvSpPr>
        <p:spPr>
          <a:xfrm>
            <a:off x="4808101" y="3412391"/>
            <a:ext cx="227886" cy="227886"/>
          </a:xfrm>
          <a:prstGeom prst="rect">
            <a:avLst/>
          </a:prstGeom>
          <a:noFill/>
          <a:ln/>
        </p:spPr>
        <p:txBody>
          <a:bodyPr wrap="none" lIns="0" tIns="0" rIns="0" bIns="0" rtlCol="0" anchor="ctr"/>
          <a:lstStyle/>
          <a:p>
            <a:pPr algn="ctr" indent="0" marL="0">
              <a:buNone/>
            </a:pPr>
            <a:r>
              <a:rPr lang="en-US" sz="1547" dirty="0">
                <a:solidFill>
                  <a:srgbClr val="4ADE80"/>
                </a:solidFill>
                <a:latin typeface="Segoe UI Symbol" pitchFamily="34" charset="0"/>
                <a:ea typeface="Segoe UI Symbol" pitchFamily="34" charset="-122"/>
                <a:cs typeface="Segoe UI Symbol" pitchFamily="34" charset="-120"/>
              </a:rPr>
              <a:t>◌</a:t>
            </a:r>
            <a:endParaRPr lang="en-US" sz="1547" dirty="0"/>
          </a:p>
        </p:txBody>
      </p:sp>
      <p:sp>
        <p:nvSpPr>
          <p:cNvPr id="35" name="Text 33"/>
          <p:cNvSpPr/>
          <p:nvPr/>
        </p:nvSpPr>
        <p:spPr>
          <a:xfrm>
            <a:off x="4764881" y="3754934"/>
            <a:ext cx="1628775" cy="194328"/>
          </a:xfrm>
          <a:prstGeom prst="rect">
            <a:avLst/>
          </a:prstGeom>
          <a:noFill/>
          <a:ln/>
        </p:spPr>
        <p:txBody>
          <a:bodyPr wrap="none" lIns="0" tIns="0" rIns="0" bIns="0" rtlCol="0" anchor="t"/>
          <a:lstStyle/>
          <a:p>
            <a:pPr algn="l" indent="0" marL="0">
              <a:lnSpc>
                <a:spcPts val="1418"/>
              </a:lnSpc>
              <a:buNone/>
            </a:pPr>
            <a:r>
              <a:rPr lang="en-US" sz="945" dirty="0">
                <a:solidFill>
                  <a:srgbClr val="E8ECF4"/>
                </a:solidFill>
                <a:latin typeface="Liberation Sans Narrow" pitchFamily="34" charset="0"/>
                <a:ea typeface="Liberation Sans Narrow" pitchFamily="34" charset="-122"/>
                <a:cs typeface="Liberation Sans Narrow" pitchFamily="34" charset="-120"/>
              </a:rPr>
              <a:t>4. What to Say</a:t>
            </a:r>
            <a:endParaRPr lang="en-US" sz="945" dirty="0"/>
          </a:p>
        </p:txBody>
      </p:sp>
      <p:sp>
        <p:nvSpPr>
          <p:cNvPr id="36" name="Text 34"/>
          <p:cNvSpPr/>
          <p:nvPr/>
        </p:nvSpPr>
        <p:spPr>
          <a:xfrm>
            <a:off x="4764881" y="3977729"/>
            <a:ext cx="1628775" cy="776883"/>
          </a:xfrm>
          <a:prstGeom prst="rect">
            <a:avLst/>
          </a:prstGeom>
          <a:noFill/>
          <a:ln/>
        </p:spPr>
        <p:txBody>
          <a:bodyPr wrap="square" lIns="0" tIns="0" rIns="0" bIns="0" rtlCol="0" anchor="t"/>
          <a:lstStyle/>
          <a:p>
            <a:pPr algn="l" indent="0" marL="0">
              <a:lnSpc>
                <a:spcPts val="1530"/>
              </a:lnSpc>
              <a:buNone/>
            </a:pPr>
            <a:r>
              <a:rPr lang="en-US" sz="956" dirty="0">
                <a:solidFill>
                  <a:srgbClr val="8B95AD"/>
                </a:solidFill>
                <a:latin typeface="Carlito" pitchFamily="34" charset="0"/>
                <a:ea typeface="Carlito" pitchFamily="34" charset="-122"/>
                <a:cs typeface="Carlito" pitchFamily="34" charset="-120"/>
              </a:rPr>
              <a:t>Conversation angles, talking points, and contextual intelligence for each engagement.</a:t>
            </a:r>
            <a:endParaRPr lang="en-US" sz="956" dirty="0"/>
          </a:p>
        </p:txBody>
      </p:sp>
      <p:sp>
        <p:nvSpPr>
          <p:cNvPr id="37" name="Text 35"/>
          <p:cNvSpPr/>
          <p:nvPr/>
        </p:nvSpPr>
        <p:spPr>
          <a:xfrm>
            <a:off x="6686550" y="3190577"/>
            <a:ext cx="2000250" cy="1742629"/>
          </a:xfrm>
          <a:prstGeom prst="roundRect">
            <a:avLst>
              <a:gd name="adj" fmla="val 8745"/>
            </a:avLst>
          </a:prstGeom>
          <a:solidFill>
            <a:srgbClr val="161C2A">
              <a:alpha val="70000"/>
            </a:srgbClr>
          </a:solidFill>
          <a:ln/>
        </p:spPr>
        <p:txBody>
          <a:bodyPr wrap="square" rtlCol="0" anchor="ctr"/>
          <a:lstStyle/>
          <a:p>
            <a:pPr indent="0" marL="0">
              <a:buNone/>
            </a:pPr>
            <a:endParaRPr lang="en-US" dirty="0"/>
          </a:p>
        </p:txBody>
      </p:sp>
      <p:sp>
        <p:nvSpPr>
          <p:cNvPr id="38" name="Shape 36"/>
          <p:cNvSpPr/>
          <p:nvPr/>
        </p:nvSpPr>
        <p:spPr>
          <a:xfrm>
            <a:off x="6686550" y="3194149"/>
            <a:ext cx="2000250" cy="0"/>
          </a:xfrm>
          <a:prstGeom prst="line">
            <a:avLst/>
          </a:prstGeom>
          <a:noFill/>
          <a:ln w="7144">
            <a:solidFill>
              <a:srgbClr val="252E42"/>
            </a:solidFill>
            <a:prstDash val="solid"/>
          </a:ln>
        </p:spPr>
      </p:sp>
      <p:sp>
        <p:nvSpPr>
          <p:cNvPr id="39" name="Shape 37"/>
          <p:cNvSpPr/>
          <p:nvPr/>
        </p:nvSpPr>
        <p:spPr>
          <a:xfrm>
            <a:off x="8683228" y="3190577"/>
            <a:ext cx="0" cy="1742629"/>
          </a:xfrm>
          <a:prstGeom prst="line">
            <a:avLst/>
          </a:prstGeom>
          <a:noFill/>
          <a:ln w="7144">
            <a:solidFill>
              <a:srgbClr val="252E42"/>
            </a:solidFill>
            <a:prstDash val="solid"/>
          </a:ln>
        </p:spPr>
      </p:sp>
      <p:sp>
        <p:nvSpPr>
          <p:cNvPr id="40" name="Shape 38"/>
          <p:cNvSpPr/>
          <p:nvPr/>
        </p:nvSpPr>
        <p:spPr>
          <a:xfrm>
            <a:off x="6686550" y="4929634"/>
            <a:ext cx="2000250" cy="0"/>
          </a:xfrm>
          <a:prstGeom prst="line">
            <a:avLst/>
          </a:prstGeom>
          <a:noFill/>
          <a:ln w="7144">
            <a:solidFill>
              <a:srgbClr val="252E42"/>
            </a:solidFill>
            <a:prstDash val="solid"/>
          </a:ln>
        </p:spPr>
      </p:sp>
      <p:sp>
        <p:nvSpPr>
          <p:cNvPr id="41" name="Shape 39"/>
          <p:cNvSpPr/>
          <p:nvPr/>
        </p:nvSpPr>
        <p:spPr>
          <a:xfrm>
            <a:off x="6697266" y="3190577"/>
            <a:ext cx="0" cy="1742629"/>
          </a:xfrm>
          <a:prstGeom prst="line">
            <a:avLst/>
          </a:prstGeom>
          <a:noFill/>
          <a:ln w="21431">
            <a:solidFill>
              <a:srgbClr val="06B6D4"/>
            </a:solidFill>
            <a:prstDash val="solid"/>
          </a:ln>
        </p:spPr>
      </p:sp>
      <p:sp>
        <p:nvSpPr>
          <p:cNvPr id="42" name="Text 40"/>
          <p:cNvSpPr/>
          <p:nvPr/>
        </p:nvSpPr>
        <p:spPr>
          <a:xfrm>
            <a:off x="6879431" y="3369171"/>
            <a:ext cx="314325" cy="314325"/>
          </a:xfrm>
          <a:prstGeom prst="roundRect">
            <a:avLst>
              <a:gd name="adj" fmla="val 30300000"/>
            </a:avLst>
          </a:prstGeom>
          <a:solidFill>
            <a:srgbClr val="06B6D4">
              <a:alpha val="12000"/>
            </a:srgbClr>
          </a:solidFill>
          <a:ln/>
        </p:spPr>
        <p:txBody>
          <a:bodyPr wrap="square" rtlCol="0" anchor="ctr"/>
          <a:lstStyle/>
          <a:p>
            <a:pPr indent="0" marL="0">
              <a:buNone/>
            </a:pPr>
            <a:endParaRPr lang="en-US" dirty="0"/>
          </a:p>
        </p:txBody>
      </p:sp>
      <p:sp>
        <p:nvSpPr>
          <p:cNvPr id="43" name="Text 41"/>
          <p:cNvSpPr/>
          <p:nvPr/>
        </p:nvSpPr>
        <p:spPr>
          <a:xfrm>
            <a:off x="6922651" y="3412391"/>
            <a:ext cx="227886" cy="227886"/>
          </a:xfrm>
          <a:prstGeom prst="rect">
            <a:avLst/>
          </a:prstGeom>
          <a:noFill/>
          <a:ln/>
        </p:spPr>
        <p:txBody>
          <a:bodyPr wrap="none" lIns="0" tIns="0" rIns="0" bIns="0" rtlCol="0" anchor="ctr"/>
          <a:lstStyle/>
          <a:p>
            <a:pPr algn="ctr" indent="0" marL="0">
              <a:buNone/>
            </a:pPr>
            <a:r>
              <a:rPr lang="en-US" sz="1547" dirty="0">
                <a:solidFill>
                  <a:srgbClr val="22D3EE"/>
                </a:solidFill>
                <a:latin typeface="Segoe UI Symbol" pitchFamily="34" charset="0"/>
                <a:ea typeface="Segoe UI Symbol" pitchFamily="34" charset="-122"/>
                <a:cs typeface="Segoe UI Symbol" pitchFamily="34" charset="-120"/>
              </a:rPr>
              <a:t>➤</a:t>
            </a:r>
            <a:endParaRPr lang="en-US" sz="1547" dirty="0"/>
          </a:p>
        </p:txBody>
      </p:sp>
      <p:sp>
        <p:nvSpPr>
          <p:cNvPr id="44" name="Text 42"/>
          <p:cNvSpPr/>
          <p:nvPr/>
        </p:nvSpPr>
        <p:spPr>
          <a:xfrm>
            <a:off x="6879431" y="3754934"/>
            <a:ext cx="1628775" cy="194328"/>
          </a:xfrm>
          <a:prstGeom prst="rect">
            <a:avLst/>
          </a:prstGeom>
          <a:noFill/>
          <a:ln/>
        </p:spPr>
        <p:txBody>
          <a:bodyPr wrap="none" lIns="0" tIns="0" rIns="0" bIns="0" rtlCol="0" anchor="t"/>
          <a:lstStyle/>
          <a:p>
            <a:pPr algn="l" indent="0" marL="0">
              <a:lnSpc>
                <a:spcPts val="1418"/>
              </a:lnSpc>
              <a:buNone/>
            </a:pPr>
            <a:r>
              <a:rPr lang="en-US" sz="945" dirty="0">
                <a:solidFill>
                  <a:srgbClr val="E8ECF4"/>
                </a:solidFill>
                <a:latin typeface="Liberation Sans Narrow" pitchFamily="34" charset="0"/>
                <a:ea typeface="Liberation Sans Narrow" pitchFamily="34" charset="-122"/>
                <a:cs typeface="Liberation Sans Narrow" pitchFamily="34" charset="-120"/>
              </a:rPr>
              <a:t>5. What to Do</a:t>
            </a:r>
            <a:endParaRPr lang="en-US" sz="945" dirty="0"/>
          </a:p>
        </p:txBody>
      </p:sp>
      <p:sp>
        <p:nvSpPr>
          <p:cNvPr id="45" name="Text 43"/>
          <p:cNvSpPr/>
          <p:nvPr/>
        </p:nvSpPr>
        <p:spPr>
          <a:xfrm>
            <a:off x="6879431" y="3977729"/>
            <a:ext cx="1628775" cy="776883"/>
          </a:xfrm>
          <a:prstGeom prst="rect">
            <a:avLst/>
          </a:prstGeom>
          <a:noFill/>
          <a:ln/>
        </p:spPr>
        <p:txBody>
          <a:bodyPr wrap="square" lIns="0" tIns="0" rIns="0" bIns="0" rtlCol="0" anchor="t"/>
          <a:lstStyle/>
          <a:p>
            <a:pPr algn="l" indent="0" marL="0">
              <a:lnSpc>
                <a:spcPts val="1530"/>
              </a:lnSpc>
              <a:buNone/>
            </a:pPr>
            <a:r>
              <a:rPr lang="en-US" sz="956" dirty="0">
                <a:solidFill>
                  <a:srgbClr val="8B95AD"/>
                </a:solidFill>
                <a:latin typeface="Carlito" pitchFamily="34" charset="0"/>
                <a:ea typeface="Carlito" pitchFamily="34" charset="-122"/>
                <a:cs typeface="Carlito" pitchFamily="34" charset="-120"/>
              </a:rPr>
              <a:t>Recommended actions with confidence scores, timelines, and evidence trails.</a:t>
            </a:r>
            <a:endParaRPr lang="en-US" sz="956" dirty="0"/>
          </a:p>
        </p:txBody>
      </p:sp>
      <p:sp>
        <p:nvSpPr>
          <p:cNvPr id="46" name="Text 44"/>
          <p:cNvSpPr/>
          <p:nvPr/>
        </p:nvSpPr>
        <p:spPr>
          <a:xfrm>
            <a:off x="460772" y="5051078"/>
            <a:ext cx="8222456" cy="738485"/>
          </a:xfrm>
          <a:prstGeom prst="roundRect">
            <a:avLst>
              <a:gd name="adj" fmla="val 20637"/>
            </a:avLst>
          </a:prstGeom>
          <a:solidFill>
            <a:srgbClr val="161C2A">
              <a:alpha val="70000"/>
            </a:srgbClr>
          </a:solidFill>
          <a:ln w="7144">
            <a:solidFill>
              <a:srgbClr val="3B82F6"/>
            </a:solidFill>
            <a:prstDash val="solid"/>
          </a:ln>
          <a:effectLst>
            <a:outerShdw sx="100000" sy="100000" kx="0" ky="0" algn="bl" rotWithShape="0" blurRad="285750" dist="50800" dir="16200000">
              <a:srgbClr val="3B82F6">
                <a:alpha val="15000"/>
              </a:srgbClr>
            </a:outerShdw>
          </a:effectLst>
        </p:spPr>
        <p:txBody>
          <a:bodyPr wrap="square" rtlCol="0" anchor="ctr"/>
          <a:lstStyle/>
          <a:p>
            <a:pPr indent="0" marL="0">
              <a:buNone/>
            </a:pPr>
            <a:endParaRPr lang="en-US" dirty="0"/>
          </a:p>
        </p:txBody>
      </p:sp>
      <p:sp>
        <p:nvSpPr>
          <p:cNvPr id="47" name="Text 45"/>
          <p:cNvSpPr/>
          <p:nvPr/>
        </p:nvSpPr>
        <p:spPr>
          <a:xfrm>
            <a:off x="612934" y="5303556"/>
            <a:ext cx="968715" cy="233529"/>
          </a:xfrm>
          <a:prstGeom prst="roundRect">
            <a:avLst>
              <a:gd name="adj" fmla="val 40783147"/>
            </a:avLst>
          </a:prstGeom>
          <a:solidFill>
            <a:srgbClr val="3B82F6">
              <a:alpha val="15000"/>
            </a:srgbClr>
          </a:solidFill>
          <a:ln w="7144">
            <a:solidFill>
              <a:srgbClr val="3B82F6"/>
            </a:solidFill>
            <a:prstDash val="solid"/>
          </a:ln>
        </p:spPr>
        <p:txBody>
          <a:bodyPr wrap="square" rtlCol="0" anchor="ctr"/>
          <a:lstStyle/>
          <a:p>
            <a:pPr indent="0" marL="0">
              <a:buNone/>
            </a:pPr>
            <a:endParaRPr lang="en-US" dirty="0"/>
          </a:p>
        </p:txBody>
      </p:sp>
      <p:sp>
        <p:nvSpPr>
          <p:cNvPr id="48" name="Text 46"/>
          <p:cNvSpPr/>
          <p:nvPr/>
        </p:nvSpPr>
        <p:spPr>
          <a:xfrm>
            <a:off x="635794" y="5316066"/>
            <a:ext cx="922995" cy="91440"/>
          </a:xfrm>
          <a:prstGeom prst="rect">
            <a:avLst/>
          </a:prstGeom>
          <a:noFill/>
          <a:ln/>
        </p:spPr>
        <p:txBody>
          <a:bodyPr wrap="none" lIns="0" tIns="0" rIns="0" bIns="0" rtlCol="0" anchor="ctr"/>
          <a:lstStyle/>
          <a:p>
            <a:pPr algn="ctr" indent="0" marL="0">
              <a:lnSpc>
                <a:spcPts val="1080"/>
              </a:lnSpc>
              <a:buNone/>
            </a:pPr>
            <a:r>
              <a:rPr lang="en-US" sz="800" spc="36" kern="0" dirty="0">
                <a:solidFill>
                  <a:srgbClr val="60A5FA"/>
                </a:solidFill>
                <a:latin typeface="Carlito" pitchFamily="34" charset="0"/>
                <a:ea typeface="Carlito" pitchFamily="34" charset="-122"/>
                <a:cs typeface="Carlito" pitchFamily="34" charset="-120"/>
              </a:rPr>
              <a:t>DESIGN RULE</a:t>
            </a:r>
            <a:endParaRPr lang="en-US" sz="800" dirty="0"/>
          </a:p>
        </p:txBody>
      </p:sp>
      <p:sp>
        <p:nvSpPr>
          <p:cNvPr id="49" name="Text 47"/>
          <p:cNvSpPr/>
          <p:nvPr/>
        </p:nvSpPr>
        <p:spPr>
          <a:xfrm>
            <a:off x="1673089" y="5226100"/>
            <a:ext cx="6835118" cy="91440"/>
          </a:xfrm>
          <a:prstGeom prst="rect">
            <a:avLst/>
          </a:prstGeom>
          <a:noFill/>
          <a:ln/>
        </p:spPr>
        <p:txBody>
          <a:bodyPr wrap="square" lIns="0" tIns="0" rIns="0" bIns="0" rtlCol="0" anchor="t"/>
          <a:lstStyle/>
          <a:p>
            <a:pPr algn="l" indent="0" marL="0">
              <a:lnSpc>
                <a:spcPts val="1530"/>
              </a:lnSpc>
              <a:buNone/>
            </a:pPr>
            <a:r>
              <a:rPr lang="en-US" sz="956" dirty="0">
                <a:solidFill>
                  <a:srgbClr val="E8ECF4"/>
                </a:solidFill>
                <a:latin typeface="Carlito" pitchFamily="34" charset="0"/>
                <a:ea typeface="Carlito" pitchFamily="34" charset="-122"/>
                <a:cs typeface="Carlito" pitchFamily="34" charset="-120"/>
              </a:rPr>
              <a:t>No intelligence element exists in the Hub that does not map to at least one of these five questions. If a component cannot answer which question it serves, it belongs in a deeper experience layer, not the Hub.</a:t>
            </a:r>
            <a:endParaRPr lang="en-US" sz="956"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428625" y="1705235"/>
            <a:ext cx="4892792" cy="1110996"/>
          </a:xfrm>
          <a:prstGeom prst="rect">
            <a:avLst/>
          </a:prstGeom>
          <a:noFill/>
          <a:ln/>
        </p:spPr>
        <p:txBody>
          <a:bodyPr wrap="none" lIns="0" tIns="0" rIns="0" bIns="0" rtlCol="0" anchor="t"/>
          <a:lstStyle/>
          <a:p>
            <a:pPr algn="l" indent="0" marL="0">
              <a:lnSpc>
                <a:spcPts val="8100"/>
              </a:lnSpc>
              <a:buNone/>
            </a:pPr>
            <a:r>
              <a:rPr lang="en-US" sz="8100" b="1" dirty="0">
                <a:solidFill>
                  <a:srgbClr val="3B82F6">
                    <a:alpha val="12000"/>
                  </a:srgbClr>
                </a:solidFill>
                <a:latin typeface="Liberation Sans Narrow" pitchFamily="34" charset="0"/>
                <a:ea typeface="Liberation Sans Narrow" pitchFamily="34" charset="-122"/>
                <a:cs typeface="Liberation Sans Narrow" pitchFamily="34" charset="-120"/>
              </a:rPr>
              <a:t>04–05</a:t>
            </a:r>
            <a:endParaRPr lang="en-US" sz="8100" dirty="0"/>
          </a:p>
        </p:txBody>
      </p:sp>
      <p:sp>
        <p:nvSpPr>
          <p:cNvPr id="5" name="Text 1"/>
          <p:cNvSpPr/>
          <p:nvPr/>
        </p:nvSpPr>
        <p:spPr>
          <a:xfrm>
            <a:off x="571500" y="2133860"/>
            <a:ext cx="8572500" cy="390343"/>
          </a:xfrm>
          <a:prstGeom prst="rect">
            <a:avLst/>
          </a:prstGeom>
          <a:noFill/>
          <a:ln/>
        </p:spPr>
        <p:txBody>
          <a:bodyPr wrap="square" lIns="0" tIns="0" rIns="0" bIns="0" rtlCol="0" anchor="t"/>
          <a:lstStyle/>
          <a:p>
            <a:pPr algn="l" indent="0" marL="0">
              <a:lnSpc>
                <a:spcPts val="2846"/>
              </a:lnSpc>
              <a:buNone/>
            </a:pPr>
            <a:r>
              <a:rPr lang="en-US" sz="2475" b="1" dirty="0">
                <a:solidFill>
                  <a:srgbClr val="E8ECF4"/>
                </a:solidFill>
                <a:latin typeface="Carlito" pitchFamily="34" charset="0"/>
                <a:ea typeface="Carlito" pitchFamily="34" charset="-122"/>
                <a:cs typeface="Carlito" pitchFamily="34" charset="-120"/>
              </a:rPr>
              <a:t>Information Architecture</a:t>
            </a:r>
            <a:endParaRPr lang="en-US" sz="2475" dirty="0"/>
          </a:p>
        </p:txBody>
      </p:sp>
      <p:sp>
        <p:nvSpPr>
          <p:cNvPr id="6" name="Text 2"/>
          <p:cNvSpPr/>
          <p:nvPr/>
        </p:nvSpPr>
        <p:spPr>
          <a:xfrm>
            <a:off x="571500" y="2609590"/>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7" name="Text 3"/>
          <p:cNvSpPr/>
          <p:nvPr/>
        </p:nvSpPr>
        <p:spPr>
          <a:xfrm>
            <a:off x="571500" y="2773896"/>
            <a:ext cx="4572000" cy="254603"/>
          </a:xfrm>
          <a:prstGeom prst="rect">
            <a:avLst/>
          </a:prstGeom>
          <a:noFill/>
          <a:ln/>
        </p:spPr>
        <p:txBody>
          <a:bodyPr wrap="square" lIns="0" tIns="0" rIns="0" bIns="0" rtlCol="0" anchor="t"/>
          <a:lstStyle/>
          <a:p>
            <a:pPr algn="l" indent="0" marL="0">
              <a:lnSpc>
                <a:spcPts val="1856"/>
              </a:lnSpc>
              <a:buNone/>
            </a:pPr>
            <a:r>
              <a:rPr lang="en-US" sz="1238" dirty="0">
                <a:solidFill>
                  <a:srgbClr val="8B95AD"/>
                </a:solidFill>
                <a:latin typeface="Carlito" pitchFamily="34" charset="0"/>
                <a:ea typeface="Carlito" pitchFamily="34" charset="-122"/>
                <a:cs typeface="Carlito" pitchFamily="34" charset="-120"/>
              </a:rPr>
              <a:t>Navigation · Progressive Disclosure · Trust Visualization</a:t>
            </a:r>
            <a:endParaRPr lang="en-US" sz="1238"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457200" y="314325"/>
            <a:ext cx="8636000" cy="324041"/>
          </a:xfrm>
          <a:prstGeom prst="rect">
            <a:avLst/>
          </a:prstGeom>
          <a:noFill/>
          <a:ln/>
        </p:spPr>
        <p:txBody>
          <a:bodyPr wrap="square" lIns="0" tIns="0" rIns="0" bIns="0" rtlCol="0" anchor="t"/>
          <a:lstStyle/>
          <a:p>
            <a:pPr algn="l" indent="0" marL="0">
              <a:lnSpc>
                <a:spcPts val="2363"/>
              </a:lnSpc>
              <a:buNone/>
            </a:pPr>
            <a:r>
              <a:rPr lang="en-US" sz="1575" b="1" dirty="0">
                <a:solidFill>
                  <a:srgbClr val="E8ECF4"/>
                </a:solidFill>
                <a:latin typeface="Carlito" pitchFamily="34" charset="0"/>
                <a:ea typeface="Carlito" pitchFamily="34" charset="-122"/>
                <a:cs typeface="Carlito" pitchFamily="34" charset="-120"/>
              </a:rPr>
              <a:t>Navigation Model — Intelligence Hub First</a:t>
            </a:r>
            <a:endParaRPr lang="en-US" sz="1575" dirty="0"/>
          </a:p>
        </p:txBody>
      </p:sp>
      <p:sp>
        <p:nvSpPr>
          <p:cNvPr id="3" name="Text 1"/>
          <p:cNvSpPr/>
          <p:nvPr/>
        </p:nvSpPr>
        <p:spPr>
          <a:xfrm>
            <a:off x="457200" y="657225"/>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4" name="Text 2"/>
          <p:cNvSpPr/>
          <p:nvPr/>
        </p:nvSpPr>
        <p:spPr>
          <a:xfrm>
            <a:off x="457200" y="935831"/>
            <a:ext cx="5116909" cy="173593"/>
          </a:xfrm>
          <a:prstGeom prst="rect">
            <a:avLst/>
          </a:prstGeom>
          <a:noFill/>
          <a:ln/>
        </p:spPr>
        <p:txBody>
          <a:bodyPr wrap="square" lIns="0" tIns="0" rIns="0" bIns="0" rtlCol="0" anchor="t"/>
          <a:lstStyle/>
          <a:p>
            <a:pPr algn="l" indent="0" marL="0">
              <a:lnSpc>
                <a:spcPts val="1266"/>
              </a:lnSpc>
              <a:buNone/>
            </a:pPr>
            <a:r>
              <a:rPr lang="en-US" sz="844" spc="84" kern="0" dirty="0">
                <a:solidFill>
                  <a:srgbClr val="8B95AD"/>
                </a:solidFill>
                <a:latin typeface="Carlito" pitchFamily="34" charset="0"/>
                <a:ea typeface="Carlito" pitchFamily="34" charset="-122"/>
                <a:cs typeface="Carlito" pitchFamily="34" charset="-120"/>
              </a:rPr>
              <a:t>INTELLIGENCE HUB AS PRIMARY EXPERIENCE</a:t>
            </a:r>
            <a:endParaRPr lang="en-US" sz="844" dirty="0"/>
          </a:p>
        </p:txBody>
      </p:sp>
      <p:sp>
        <p:nvSpPr>
          <p:cNvPr id="5" name="Text 3"/>
          <p:cNvSpPr/>
          <p:nvPr/>
        </p:nvSpPr>
        <p:spPr>
          <a:xfrm>
            <a:off x="457200" y="1168003"/>
            <a:ext cx="4526235" cy="629275"/>
          </a:xfrm>
          <a:prstGeom prst="rect">
            <a:avLst/>
          </a:prstGeom>
          <a:noFill/>
          <a:ln/>
        </p:spPr>
        <p:txBody>
          <a:bodyPr wrap="square" lIns="0" tIns="0" rIns="0" bIns="0" rtlCol="0" anchor="t"/>
          <a:lstStyle/>
          <a:p>
            <a:pPr algn="l" indent="0" marL="0">
              <a:lnSpc>
                <a:spcPts val="1530"/>
              </a:lnSpc>
              <a:buNone/>
            </a:pPr>
            <a:r>
              <a:rPr lang="en-US" sz="956" dirty="0">
                <a:solidFill>
                  <a:srgbClr val="E8ECF4"/>
                </a:solidFill>
                <a:latin typeface="Carlito" pitchFamily="34" charset="0"/>
                <a:ea typeface="Carlito" pitchFamily="34" charset="-122"/>
                <a:cs typeface="Carlito" pitchFamily="34" charset="-120"/>
              </a:rPr>
              <a:t>The Intelligence Hub is the default landing page — the Executive Briefing Room. It answers the 5 morning questions. It is NOT a "one screen to rule them all" dashboard.</a:t>
            </a:r>
            <a:endParaRPr lang="en-US" sz="956" dirty="0"/>
          </a:p>
        </p:txBody>
      </p:sp>
      <p:sp>
        <p:nvSpPr>
          <p:cNvPr id="6" name="Text 4"/>
          <p:cNvSpPr/>
          <p:nvPr/>
        </p:nvSpPr>
        <p:spPr>
          <a:xfrm>
            <a:off x="460772" y="1897112"/>
            <a:ext cx="4519092" cy="1993106"/>
          </a:xfrm>
          <a:prstGeom prst="roundRect">
            <a:avLst>
              <a:gd name="adj" fmla="val 7646"/>
            </a:avLst>
          </a:prstGeom>
          <a:solidFill>
            <a:srgbClr val="161C2A">
              <a:alpha val="85000"/>
            </a:srgbClr>
          </a:solidFill>
          <a:ln w="7144">
            <a:solidFill>
              <a:srgbClr val="3B82F6"/>
            </a:solidFill>
            <a:prstDash val="solid"/>
          </a:ln>
        </p:spPr>
        <p:txBody>
          <a:bodyPr wrap="square" rtlCol="0" anchor="ctr"/>
          <a:lstStyle/>
          <a:p>
            <a:pPr indent="0" marL="0">
              <a:buNone/>
            </a:pPr>
            <a:endParaRPr lang="en-US" dirty="0"/>
          </a:p>
        </p:txBody>
      </p:sp>
      <p:sp>
        <p:nvSpPr>
          <p:cNvPr id="7" name="Text 5"/>
          <p:cNvSpPr/>
          <p:nvPr/>
        </p:nvSpPr>
        <p:spPr>
          <a:xfrm>
            <a:off x="1921669" y="2083519"/>
            <a:ext cx="438894" cy="177254"/>
          </a:xfrm>
          <a:prstGeom prst="roundRect">
            <a:avLst>
              <a:gd name="adj" fmla="val 53731072"/>
            </a:avLst>
          </a:prstGeom>
          <a:solidFill>
            <a:srgbClr val="3B82F6">
              <a:alpha val="15000"/>
            </a:srgbClr>
          </a:solidFill>
          <a:ln/>
        </p:spPr>
        <p:txBody>
          <a:bodyPr wrap="square" rtlCol="0" anchor="ctr"/>
          <a:lstStyle/>
          <a:p>
            <a:pPr indent="0" marL="0">
              <a:buNone/>
            </a:pPr>
            <a:endParaRPr lang="en-US" dirty="0"/>
          </a:p>
        </p:txBody>
      </p:sp>
      <p:sp>
        <p:nvSpPr>
          <p:cNvPr id="8" name="Text 6"/>
          <p:cNvSpPr/>
          <p:nvPr/>
        </p:nvSpPr>
        <p:spPr>
          <a:xfrm>
            <a:off x="635794" y="2043559"/>
            <a:ext cx="4169048" cy="215456"/>
          </a:xfrm>
          <a:prstGeom prst="rect">
            <a:avLst/>
          </a:prstGeom>
          <a:noFill/>
          <a:ln/>
        </p:spPr>
        <p:txBody>
          <a:bodyPr wrap="none" lIns="0" tIns="0" rIns="0" bIns="0" rtlCol="0" anchor="t">
            <a:normAutofit/>
          </a:bodyPr>
          <a:lstStyle/>
          <a:p>
            <a:pPr algn="l" indent="0" marL="0">
              <a:lnSpc>
                <a:spcPts val="1913"/>
              </a:lnSpc>
              <a:buNone/>
            </a:pPr>
            <a:r>
              <a:rPr lang="en-US" sz="956" dirty="0">
                <a:solidFill>
                  <a:srgbClr val="60A5FA"/>
                </a:solidFill>
                <a:latin typeface="Courier New" pitchFamily="34" charset="0"/>
                <a:ea typeface="Courier New" pitchFamily="34" charset="-122"/>
                <a:cs typeface="Courier New" pitchFamily="34" charset="-120"/>
              </a:rPr>
              <a:t>Intelligence Hub </a:t>
            </a:r>
            <a:pPr algn="l" indent="0" marL="0">
              <a:lnSpc>
                <a:spcPts val="1913"/>
              </a:lnSpc>
              <a:buNone/>
            </a:pPr>
            <a:r>
              <a:rPr lang="en-US" sz="800" spc="29" kern="0" dirty="0">
                <a:solidFill>
                  <a:srgbClr val="60A5FA"/>
                </a:solidFill>
                <a:highlight>
                  <a:srgbClr val="3B82F6"/>
                </a:highlight>
                <a:latin typeface="Courier New" pitchFamily="34" charset="0"/>
                <a:ea typeface="Courier New" pitchFamily="34" charset="-122"/>
                <a:cs typeface="Courier New" pitchFamily="34" charset="-120"/>
              </a:rPr>
              <a:t>DEFAULT</a:t>
            </a:r>
            <a:endParaRPr lang="en-US" sz="956" dirty="0"/>
          </a:p>
        </p:txBody>
      </p:sp>
      <p:sp>
        <p:nvSpPr>
          <p:cNvPr id="9" name="Text 7"/>
          <p:cNvSpPr/>
          <p:nvPr/>
        </p:nvSpPr>
        <p:spPr>
          <a:xfrm>
            <a:off x="635794" y="2286446"/>
            <a:ext cx="4169048" cy="215456"/>
          </a:xfrm>
          <a:prstGeom prst="rect">
            <a:avLst/>
          </a:prstGeom>
          <a:noFill/>
          <a:ln/>
        </p:spPr>
        <p:txBody>
          <a:bodyPr wrap="none" lIns="142875" tIns="0" rIns="0" bIns="0" rtlCol="0" anchor="t">
            <a:normAutofit/>
          </a:bodyPr>
          <a:lstStyle/>
          <a:p>
            <a:pPr algn="l" indent="0" marL="0">
              <a:lnSpc>
                <a:spcPts val="1913"/>
              </a:lnSpc>
              <a:buNone/>
            </a:pPr>
            <a:r>
              <a:rPr lang="en-US" sz="956" dirty="0">
                <a:solidFill>
                  <a:srgbClr val="8B95AD"/>
                </a:solidFill>
                <a:latin typeface="Courier New" pitchFamily="34" charset="0"/>
                <a:ea typeface="Courier New" pitchFamily="34" charset="-122"/>
                <a:cs typeface="Courier New" pitchFamily="34" charset="-120"/>
              </a:rPr>
              <a:t>├── Market Intelligence</a:t>
            </a:r>
            <a:endParaRPr lang="en-US" sz="956" dirty="0"/>
          </a:p>
        </p:txBody>
      </p:sp>
      <p:sp>
        <p:nvSpPr>
          <p:cNvPr id="10" name="Text 8"/>
          <p:cNvSpPr/>
          <p:nvPr/>
        </p:nvSpPr>
        <p:spPr>
          <a:xfrm>
            <a:off x="635794" y="2529334"/>
            <a:ext cx="4169048" cy="215456"/>
          </a:xfrm>
          <a:prstGeom prst="rect">
            <a:avLst/>
          </a:prstGeom>
          <a:noFill/>
          <a:ln/>
        </p:spPr>
        <p:txBody>
          <a:bodyPr wrap="none" lIns="142875" tIns="0" rIns="0" bIns="0" rtlCol="0" anchor="t">
            <a:normAutofit/>
          </a:bodyPr>
          <a:lstStyle/>
          <a:p>
            <a:pPr algn="l" indent="0" marL="0">
              <a:lnSpc>
                <a:spcPts val="1913"/>
              </a:lnSpc>
              <a:buNone/>
            </a:pPr>
            <a:r>
              <a:rPr lang="en-US" sz="956" dirty="0">
                <a:solidFill>
                  <a:srgbClr val="8B95AD"/>
                </a:solidFill>
                <a:latin typeface="Courier New" pitchFamily="34" charset="0"/>
                <a:ea typeface="Courier New" pitchFamily="34" charset="-122"/>
                <a:cs typeface="Courier New" pitchFamily="34" charset="-120"/>
              </a:rPr>
              <a:t>├── Account Intelligence</a:t>
            </a:r>
            <a:endParaRPr lang="en-US" sz="956" dirty="0"/>
          </a:p>
        </p:txBody>
      </p:sp>
      <p:sp>
        <p:nvSpPr>
          <p:cNvPr id="11" name="Text 9"/>
          <p:cNvSpPr/>
          <p:nvPr/>
        </p:nvSpPr>
        <p:spPr>
          <a:xfrm>
            <a:off x="635794" y="2772221"/>
            <a:ext cx="4169048" cy="215456"/>
          </a:xfrm>
          <a:prstGeom prst="rect">
            <a:avLst/>
          </a:prstGeom>
          <a:noFill/>
          <a:ln/>
        </p:spPr>
        <p:txBody>
          <a:bodyPr wrap="none" lIns="142875" tIns="0" rIns="0" bIns="0" rtlCol="0" anchor="t">
            <a:normAutofit/>
          </a:bodyPr>
          <a:lstStyle/>
          <a:p>
            <a:pPr algn="l" indent="0" marL="0">
              <a:lnSpc>
                <a:spcPts val="1913"/>
              </a:lnSpc>
              <a:buNone/>
            </a:pPr>
            <a:r>
              <a:rPr lang="en-US" sz="956" dirty="0">
                <a:solidFill>
                  <a:srgbClr val="8B95AD"/>
                </a:solidFill>
                <a:latin typeface="Courier New" pitchFamily="34" charset="0"/>
                <a:ea typeface="Courier New" pitchFamily="34" charset="-122"/>
                <a:cs typeface="Courier New" pitchFamily="34" charset="-120"/>
              </a:rPr>
              <a:t>├── AI Advisors</a:t>
            </a:r>
            <a:endParaRPr lang="en-US" sz="956" dirty="0"/>
          </a:p>
        </p:txBody>
      </p:sp>
      <p:sp>
        <p:nvSpPr>
          <p:cNvPr id="12" name="Text 10"/>
          <p:cNvSpPr/>
          <p:nvPr/>
        </p:nvSpPr>
        <p:spPr>
          <a:xfrm>
            <a:off x="635794" y="3015109"/>
            <a:ext cx="4169048" cy="215456"/>
          </a:xfrm>
          <a:prstGeom prst="rect">
            <a:avLst/>
          </a:prstGeom>
          <a:noFill/>
          <a:ln/>
        </p:spPr>
        <p:txBody>
          <a:bodyPr wrap="none" lIns="142875" tIns="0" rIns="0" bIns="0" rtlCol="0" anchor="t">
            <a:normAutofit/>
          </a:bodyPr>
          <a:lstStyle/>
          <a:p>
            <a:pPr algn="l" indent="0" marL="0">
              <a:lnSpc>
                <a:spcPts val="1913"/>
              </a:lnSpc>
              <a:buNone/>
            </a:pPr>
            <a:r>
              <a:rPr lang="en-US" sz="956" dirty="0">
                <a:solidFill>
                  <a:srgbClr val="8B95AD"/>
                </a:solidFill>
                <a:latin typeface="Courier New" pitchFamily="34" charset="0"/>
                <a:ea typeface="Courier New" pitchFamily="34" charset="-122"/>
                <a:cs typeface="Courier New" pitchFamily="34" charset="-120"/>
              </a:rPr>
              <a:t>├── Workspace</a:t>
            </a:r>
            <a:endParaRPr lang="en-US" sz="956" dirty="0"/>
          </a:p>
        </p:txBody>
      </p:sp>
      <p:sp>
        <p:nvSpPr>
          <p:cNvPr id="13" name="Text 11"/>
          <p:cNvSpPr/>
          <p:nvPr/>
        </p:nvSpPr>
        <p:spPr>
          <a:xfrm>
            <a:off x="635794" y="3257996"/>
            <a:ext cx="4169048" cy="215456"/>
          </a:xfrm>
          <a:prstGeom prst="rect">
            <a:avLst/>
          </a:prstGeom>
          <a:noFill/>
          <a:ln/>
        </p:spPr>
        <p:txBody>
          <a:bodyPr wrap="none" lIns="142875" tIns="0" rIns="0" bIns="0" rtlCol="0" anchor="t">
            <a:normAutofit/>
          </a:bodyPr>
          <a:lstStyle/>
          <a:p>
            <a:pPr algn="l" indent="0" marL="0">
              <a:lnSpc>
                <a:spcPts val="1913"/>
              </a:lnSpc>
              <a:buNone/>
            </a:pPr>
            <a:r>
              <a:rPr lang="en-US" sz="956" dirty="0">
                <a:solidFill>
                  <a:srgbClr val="8B95AD"/>
                </a:solidFill>
                <a:latin typeface="Courier New" pitchFamily="34" charset="0"/>
                <a:ea typeface="Courier New" pitchFamily="34" charset="-122"/>
                <a:cs typeface="Courier New" pitchFamily="34" charset="-120"/>
              </a:rPr>
              <a:t>├── Operations</a:t>
            </a:r>
            <a:endParaRPr lang="en-US" sz="956" dirty="0"/>
          </a:p>
        </p:txBody>
      </p:sp>
      <p:sp>
        <p:nvSpPr>
          <p:cNvPr id="14" name="Text 12"/>
          <p:cNvSpPr/>
          <p:nvPr/>
        </p:nvSpPr>
        <p:spPr>
          <a:xfrm>
            <a:off x="635794" y="3500884"/>
            <a:ext cx="4169048" cy="242888"/>
          </a:xfrm>
          <a:prstGeom prst="rect">
            <a:avLst/>
          </a:prstGeom>
          <a:noFill/>
          <a:ln/>
        </p:spPr>
        <p:txBody>
          <a:bodyPr wrap="none" lIns="142875" tIns="0" rIns="0" bIns="0" rtlCol="0" anchor="t"/>
          <a:lstStyle/>
          <a:p>
            <a:pPr algn="l" indent="0" marL="0">
              <a:lnSpc>
                <a:spcPts val="1913"/>
              </a:lnSpc>
              <a:buNone/>
            </a:pPr>
            <a:r>
              <a:rPr lang="en-US" sz="956" dirty="0">
                <a:solidFill>
                  <a:srgbClr val="8B95AD"/>
                </a:solidFill>
                <a:latin typeface="Courier New" pitchFamily="34" charset="0"/>
                <a:ea typeface="Courier New" pitchFamily="34" charset="-122"/>
                <a:cs typeface="Courier New" pitchFamily="34" charset="-120"/>
              </a:rPr>
              <a:t>└── Command Center</a:t>
            </a:r>
            <a:endParaRPr lang="en-US" sz="956" dirty="0"/>
          </a:p>
        </p:txBody>
      </p:sp>
      <p:sp>
        <p:nvSpPr>
          <p:cNvPr id="15" name="Text 13"/>
          <p:cNvSpPr/>
          <p:nvPr/>
        </p:nvSpPr>
        <p:spPr>
          <a:xfrm>
            <a:off x="460772" y="4011662"/>
            <a:ext cx="4519092" cy="528638"/>
          </a:xfrm>
          <a:prstGeom prst="roundRect">
            <a:avLst>
              <a:gd name="adj" fmla="val 28829"/>
            </a:avLst>
          </a:prstGeom>
          <a:solidFill>
            <a:srgbClr val="F59E0B">
              <a:alpha val="6000"/>
            </a:srgbClr>
          </a:solidFill>
          <a:ln w="7144">
            <a:solidFill>
              <a:srgbClr val="F59E0B"/>
            </a:solidFill>
            <a:prstDash val="solid"/>
          </a:ln>
        </p:spPr>
        <p:txBody>
          <a:bodyPr wrap="square" rtlCol="0" anchor="ctr"/>
          <a:lstStyle/>
          <a:p>
            <a:pPr indent="0" marL="0">
              <a:buNone/>
            </a:pPr>
            <a:endParaRPr lang="en-US" dirty="0"/>
          </a:p>
        </p:txBody>
      </p:sp>
      <p:sp>
        <p:nvSpPr>
          <p:cNvPr id="16" name="Text 14"/>
          <p:cNvSpPr/>
          <p:nvPr/>
        </p:nvSpPr>
        <p:spPr>
          <a:xfrm>
            <a:off x="592931" y="4115246"/>
            <a:ext cx="4254773" cy="321469"/>
          </a:xfrm>
          <a:prstGeom prst="rect">
            <a:avLst/>
          </a:prstGeom>
          <a:noFill/>
          <a:ln/>
        </p:spPr>
        <p:txBody>
          <a:bodyPr wrap="square" lIns="0" tIns="0" rIns="0" bIns="0" rtlCol="0" anchor="t"/>
          <a:lstStyle/>
          <a:p>
            <a:pPr algn="l" indent="0" marL="0">
              <a:lnSpc>
                <a:spcPts val="1266"/>
              </a:lnSpc>
              <a:buNone/>
            </a:pPr>
            <a:r>
              <a:rPr lang="en-US" sz="844" dirty="0">
                <a:solidFill>
                  <a:srgbClr val="FBBF24"/>
                </a:solidFill>
                <a:latin typeface="Segoe UI Symbol" pitchFamily="34" charset="0"/>
                <a:ea typeface="Segoe UI Symbol" pitchFamily="34" charset="-122"/>
                <a:cs typeface="Segoe UI Symbol" pitchFamily="34" charset="-120"/>
              </a:rPr>
              <a:t>✦</a:t>
            </a:r>
            <a:pPr algn="l" indent="0" marL="0">
              <a:lnSpc>
                <a:spcPts val="1266"/>
              </a:lnSpc>
              <a:buNone/>
            </a:pPr>
            <a:r>
              <a:rPr lang="en-US" sz="844" dirty="0">
                <a:solidFill>
                  <a:srgbClr val="FBBF24"/>
                </a:solidFill>
                <a:latin typeface="Carlito" pitchFamily="34" charset="0"/>
                <a:ea typeface="Carlito" pitchFamily="34" charset="-122"/>
                <a:cs typeface="Carlito" pitchFamily="34" charset="-120"/>
              </a:rPr>
              <a:t> Design Principle: Surface intelligence first. Reveal complexity only when needed.</a:t>
            </a:r>
            <a:endParaRPr lang="en-US" sz="844" dirty="0"/>
          </a:p>
        </p:txBody>
      </p:sp>
      <p:sp>
        <p:nvSpPr>
          <p:cNvPr id="17" name="Text 15"/>
          <p:cNvSpPr/>
          <p:nvPr/>
        </p:nvSpPr>
        <p:spPr>
          <a:xfrm>
            <a:off x="457200" y="4658171"/>
            <a:ext cx="4526235" cy="405051"/>
          </a:xfrm>
          <a:prstGeom prst="rect">
            <a:avLst/>
          </a:prstGeom>
          <a:noFill/>
          <a:ln/>
        </p:spPr>
        <p:txBody>
          <a:bodyPr wrap="square" lIns="0" tIns="0" rIns="0" bIns="0" rtlCol="0" anchor="t"/>
          <a:lstStyle/>
          <a:p>
            <a:pPr algn="l" indent="0" marL="0">
              <a:lnSpc>
                <a:spcPts val="1477"/>
              </a:lnSpc>
              <a:buNone/>
            </a:pPr>
            <a:r>
              <a:rPr lang="en-US" sz="844" dirty="0">
                <a:solidFill>
                  <a:srgbClr val="8B95AD"/>
                </a:solidFill>
                <a:latin typeface="Carlito" pitchFamily="34" charset="0"/>
                <a:ea typeface="Carlito" pitchFamily="34" charset="-122"/>
                <a:cs typeface="Carlito" pitchFamily="34" charset="-120"/>
              </a:rPr>
              <a:t>The 75+ deeper screens remain as progressive disclosure depth inside these 7 experiences. They should NOT become top-level navigation items.</a:t>
            </a:r>
            <a:endParaRPr lang="en-US" sz="844" dirty="0"/>
          </a:p>
        </p:txBody>
      </p:sp>
      <p:sp>
        <p:nvSpPr>
          <p:cNvPr id="18" name="Text 16"/>
          <p:cNvSpPr/>
          <p:nvPr/>
        </p:nvSpPr>
        <p:spPr>
          <a:xfrm>
            <a:off x="5212035" y="935831"/>
            <a:ext cx="3931965" cy="173593"/>
          </a:xfrm>
          <a:prstGeom prst="rect">
            <a:avLst/>
          </a:prstGeom>
          <a:noFill/>
          <a:ln/>
        </p:spPr>
        <p:txBody>
          <a:bodyPr wrap="square" lIns="0" tIns="0" rIns="0" bIns="0" rtlCol="0" anchor="t"/>
          <a:lstStyle/>
          <a:p>
            <a:pPr algn="l" indent="0" marL="0">
              <a:lnSpc>
                <a:spcPts val="1266"/>
              </a:lnSpc>
              <a:buNone/>
            </a:pPr>
            <a:r>
              <a:rPr lang="en-US" sz="844" spc="84" kern="0" dirty="0">
                <a:solidFill>
                  <a:srgbClr val="8B95AD"/>
                </a:solidFill>
                <a:latin typeface="Carlito" pitchFamily="34" charset="0"/>
                <a:ea typeface="Carlito" pitchFamily="34" charset="-122"/>
                <a:cs typeface="Carlito" pitchFamily="34" charset="-120"/>
              </a:rPr>
              <a:t>KEY ARCHITECTURAL DECISIONS</a:t>
            </a:r>
            <a:endParaRPr lang="en-US" sz="844" dirty="0"/>
          </a:p>
        </p:txBody>
      </p:sp>
      <p:sp>
        <p:nvSpPr>
          <p:cNvPr id="19" name="Text 17"/>
          <p:cNvSpPr/>
          <p:nvPr/>
        </p:nvSpPr>
        <p:spPr>
          <a:xfrm>
            <a:off x="5212035" y="1196578"/>
            <a:ext cx="3703253" cy="728663"/>
          </a:xfrm>
          <a:prstGeom prst="roundRect">
            <a:avLst>
              <a:gd name="adj" fmla="val 20915"/>
            </a:avLst>
          </a:prstGeom>
          <a:solidFill>
            <a:srgbClr val="161C2A">
              <a:alpha val="70000"/>
            </a:srgbClr>
          </a:solidFill>
          <a:ln/>
        </p:spPr>
        <p:txBody>
          <a:bodyPr wrap="square" rtlCol="0" anchor="ctr"/>
          <a:lstStyle/>
          <a:p>
            <a:pPr indent="0" marL="0">
              <a:buNone/>
            </a:pPr>
            <a:endParaRPr lang="en-US" dirty="0"/>
          </a:p>
        </p:txBody>
      </p:sp>
      <p:sp>
        <p:nvSpPr>
          <p:cNvPr id="20" name="Shape 18"/>
          <p:cNvSpPr/>
          <p:nvPr/>
        </p:nvSpPr>
        <p:spPr>
          <a:xfrm>
            <a:off x="5212035" y="1200150"/>
            <a:ext cx="3703253" cy="0"/>
          </a:xfrm>
          <a:prstGeom prst="line">
            <a:avLst/>
          </a:prstGeom>
          <a:noFill/>
          <a:ln w="7144">
            <a:solidFill>
              <a:srgbClr val="252E42"/>
            </a:solidFill>
            <a:prstDash val="solid"/>
          </a:ln>
        </p:spPr>
      </p:sp>
      <p:sp>
        <p:nvSpPr>
          <p:cNvPr id="21" name="Shape 19"/>
          <p:cNvSpPr/>
          <p:nvPr/>
        </p:nvSpPr>
        <p:spPr>
          <a:xfrm>
            <a:off x="8911717" y="1196578"/>
            <a:ext cx="0" cy="728663"/>
          </a:xfrm>
          <a:prstGeom prst="line">
            <a:avLst/>
          </a:prstGeom>
          <a:noFill/>
          <a:ln w="7144">
            <a:solidFill>
              <a:srgbClr val="252E42"/>
            </a:solidFill>
            <a:prstDash val="solid"/>
          </a:ln>
        </p:spPr>
      </p:sp>
      <p:sp>
        <p:nvSpPr>
          <p:cNvPr id="22" name="Shape 20"/>
          <p:cNvSpPr/>
          <p:nvPr/>
        </p:nvSpPr>
        <p:spPr>
          <a:xfrm>
            <a:off x="5212035" y="1921669"/>
            <a:ext cx="3703253" cy="0"/>
          </a:xfrm>
          <a:prstGeom prst="line">
            <a:avLst/>
          </a:prstGeom>
          <a:noFill/>
          <a:ln w="7144">
            <a:solidFill>
              <a:srgbClr val="252E42"/>
            </a:solidFill>
            <a:prstDash val="solid"/>
          </a:ln>
        </p:spPr>
      </p:sp>
      <p:sp>
        <p:nvSpPr>
          <p:cNvPr id="23" name="Shape 21"/>
          <p:cNvSpPr/>
          <p:nvPr/>
        </p:nvSpPr>
        <p:spPr>
          <a:xfrm>
            <a:off x="5222751" y="1196578"/>
            <a:ext cx="0" cy="728663"/>
          </a:xfrm>
          <a:prstGeom prst="line">
            <a:avLst/>
          </a:prstGeom>
          <a:noFill/>
          <a:ln w="21431">
            <a:solidFill>
              <a:srgbClr val="3B82F6"/>
            </a:solidFill>
            <a:prstDash val="solid"/>
          </a:ln>
        </p:spPr>
      </p:sp>
      <p:sp>
        <p:nvSpPr>
          <p:cNvPr id="24" name="Text 22"/>
          <p:cNvSpPr/>
          <p:nvPr/>
        </p:nvSpPr>
        <p:spPr>
          <a:xfrm>
            <a:off x="5362054" y="1482328"/>
            <a:ext cx="157163" cy="157163"/>
          </a:xfrm>
          <a:prstGeom prst="rect">
            <a:avLst/>
          </a:prstGeom>
          <a:noFill/>
          <a:ln/>
        </p:spPr>
        <p:txBody>
          <a:bodyPr wrap="none" lIns="0" tIns="0" rIns="0" bIns="0" rtlCol="0" anchor="ctr"/>
          <a:lstStyle/>
          <a:p>
            <a:pPr algn="ctr" indent="0" marL="0">
              <a:buNone/>
            </a:pPr>
            <a:r>
              <a:rPr lang="en-US" sz="1547" dirty="0">
                <a:solidFill>
                  <a:srgbClr val="60A5FA"/>
                </a:solidFill>
                <a:latin typeface="Segoe UI Symbol" pitchFamily="34" charset="0"/>
                <a:ea typeface="Segoe UI Symbol" pitchFamily="34" charset="-122"/>
                <a:cs typeface="Segoe UI Symbol" pitchFamily="34" charset="-120"/>
              </a:rPr>
              <a:t>⌂</a:t>
            </a:r>
            <a:endParaRPr lang="en-US" sz="1547" dirty="0"/>
          </a:p>
        </p:txBody>
      </p:sp>
      <p:sp>
        <p:nvSpPr>
          <p:cNvPr id="25" name="Text 23"/>
          <p:cNvSpPr/>
          <p:nvPr/>
        </p:nvSpPr>
        <p:spPr>
          <a:xfrm>
            <a:off x="5590654" y="1303734"/>
            <a:ext cx="3188903" cy="176165"/>
          </a:xfrm>
          <a:prstGeom prst="rect">
            <a:avLst/>
          </a:prstGeom>
          <a:noFill/>
          <a:ln/>
        </p:spPr>
        <p:txBody>
          <a:bodyPr wrap="none" lIns="0" tIns="0" rIns="0" bIns="0" rtlCol="0" anchor="t">
            <a:normAutofit/>
          </a:bodyPr>
          <a:lstStyle/>
          <a:p>
            <a:pPr algn="l" indent="0" marL="0">
              <a:lnSpc>
                <a:spcPts val="1434"/>
              </a:lnSpc>
              <a:buNone/>
            </a:pPr>
            <a:r>
              <a:rPr lang="en-US" sz="956" dirty="0">
                <a:solidFill>
                  <a:srgbClr val="E8ECF4"/>
                </a:solidFill>
                <a:latin typeface="Carlito" pitchFamily="34" charset="0"/>
                <a:ea typeface="Carlito" pitchFamily="34" charset="-122"/>
                <a:cs typeface="Carlito" pitchFamily="34" charset="-120"/>
              </a:rPr>
              <a:t>Hub as Default</a:t>
            </a:r>
            <a:endParaRPr lang="en-US" sz="956" dirty="0"/>
          </a:p>
        </p:txBody>
      </p:sp>
      <p:sp>
        <p:nvSpPr>
          <p:cNvPr id="26" name="Text 24"/>
          <p:cNvSpPr/>
          <p:nvPr/>
        </p:nvSpPr>
        <p:spPr>
          <a:xfrm>
            <a:off x="5590654" y="1507331"/>
            <a:ext cx="3188903" cy="310753"/>
          </a:xfrm>
          <a:prstGeom prst="rect">
            <a:avLst/>
          </a:prstGeom>
          <a:noFill/>
          <a:ln/>
        </p:spPr>
        <p:txBody>
          <a:bodyPr wrap="square" lIns="0" tIns="0" rIns="0" bIns="0" rtlCol="0" anchor="t"/>
          <a:lstStyle/>
          <a:p>
            <a:pPr algn="l" indent="0" marL="0">
              <a:lnSpc>
                <a:spcPts val="1223"/>
              </a:lnSpc>
              <a:buNone/>
            </a:pPr>
            <a:r>
              <a:rPr lang="en-US" sz="844" dirty="0">
                <a:solidFill>
                  <a:srgbClr val="8B95AD"/>
                </a:solidFill>
                <a:latin typeface="Carlito" pitchFamily="34" charset="0"/>
                <a:ea typeface="Carlito" pitchFamily="34" charset="-122"/>
                <a:cs typeface="Carlito" pitchFamily="34" charset="-120"/>
              </a:rPr>
              <a:t>Every session starts at Intelligence Hub. No other screen is the default.</a:t>
            </a:r>
            <a:endParaRPr lang="en-US" sz="844" dirty="0"/>
          </a:p>
        </p:txBody>
      </p:sp>
      <p:sp>
        <p:nvSpPr>
          <p:cNvPr id="27" name="Text 25"/>
          <p:cNvSpPr/>
          <p:nvPr/>
        </p:nvSpPr>
        <p:spPr>
          <a:xfrm>
            <a:off x="5212035" y="2010966"/>
            <a:ext cx="3703253" cy="728663"/>
          </a:xfrm>
          <a:prstGeom prst="roundRect">
            <a:avLst>
              <a:gd name="adj" fmla="val 20915"/>
            </a:avLst>
          </a:prstGeom>
          <a:solidFill>
            <a:srgbClr val="161C2A">
              <a:alpha val="70000"/>
            </a:srgbClr>
          </a:solidFill>
          <a:ln/>
        </p:spPr>
        <p:txBody>
          <a:bodyPr wrap="square" rtlCol="0" anchor="ctr"/>
          <a:lstStyle/>
          <a:p>
            <a:pPr indent="0" marL="0">
              <a:buNone/>
            </a:pPr>
            <a:endParaRPr lang="en-US" dirty="0"/>
          </a:p>
        </p:txBody>
      </p:sp>
      <p:sp>
        <p:nvSpPr>
          <p:cNvPr id="28" name="Shape 26"/>
          <p:cNvSpPr/>
          <p:nvPr/>
        </p:nvSpPr>
        <p:spPr>
          <a:xfrm>
            <a:off x="5212035" y="2014538"/>
            <a:ext cx="3703253" cy="0"/>
          </a:xfrm>
          <a:prstGeom prst="line">
            <a:avLst/>
          </a:prstGeom>
          <a:noFill/>
          <a:ln w="7144">
            <a:solidFill>
              <a:srgbClr val="252E42"/>
            </a:solidFill>
            <a:prstDash val="solid"/>
          </a:ln>
        </p:spPr>
      </p:sp>
      <p:sp>
        <p:nvSpPr>
          <p:cNvPr id="29" name="Shape 27"/>
          <p:cNvSpPr/>
          <p:nvPr/>
        </p:nvSpPr>
        <p:spPr>
          <a:xfrm>
            <a:off x="8911717" y="2010966"/>
            <a:ext cx="0" cy="728663"/>
          </a:xfrm>
          <a:prstGeom prst="line">
            <a:avLst/>
          </a:prstGeom>
          <a:noFill/>
          <a:ln w="7144">
            <a:solidFill>
              <a:srgbClr val="252E42"/>
            </a:solidFill>
            <a:prstDash val="solid"/>
          </a:ln>
        </p:spPr>
      </p:sp>
      <p:sp>
        <p:nvSpPr>
          <p:cNvPr id="30" name="Shape 28"/>
          <p:cNvSpPr/>
          <p:nvPr/>
        </p:nvSpPr>
        <p:spPr>
          <a:xfrm>
            <a:off x="5212035" y="2736056"/>
            <a:ext cx="3703253" cy="0"/>
          </a:xfrm>
          <a:prstGeom prst="line">
            <a:avLst/>
          </a:prstGeom>
          <a:noFill/>
          <a:ln w="7144">
            <a:solidFill>
              <a:srgbClr val="252E42"/>
            </a:solidFill>
            <a:prstDash val="solid"/>
          </a:ln>
        </p:spPr>
      </p:sp>
      <p:sp>
        <p:nvSpPr>
          <p:cNvPr id="31" name="Shape 29"/>
          <p:cNvSpPr/>
          <p:nvPr/>
        </p:nvSpPr>
        <p:spPr>
          <a:xfrm>
            <a:off x="5222751" y="2010966"/>
            <a:ext cx="0" cy="728663"/>
          </a:xfrm>
          <a:prstGeom prst="line">
            <a:avLst/>
          </a:prstGeom>
          <a:noFill/>
          <a:ln w="21431">
            <a:solidFill>
              <a:srgbClr val="3B82F6"/>
            </a:solidFill>
            <a:prstDash val="solid"/>
          </a:ln>
        </p:spPr>
      </p:sp>
      <p:sp>
        <p:nvSpPr>
          <p:cNvPr id="32" name="Text 30"/>
          <p:cNvSpPr/>
          <p:nvPr/>
        </p:nvSpPr>
        <p:spPr>
          <a:xfrm>
            <a:off x="5362054" y="2296716"/>
            <a:ext cx="157163" cy="157163"/>
          </a:xfrm>
          <a:prstGeom prst="rect">
            <a:avLst/>
          </a:prstGeom>
          <a:noFill/>
          <a:ln/>
        </p:spPr>
        <p:txBody>
          <a:bodyPr wrap="none" lIns="0" tIns="0" rIns="0" bIns="0" rtlCol="0" anchor="ctr"/>
          <a:lstStyle/>
          <a:p>
            <a:pPr algn="ctr" indent="0" marL="0">
              <a:buNone/>
            </a:pPr>
            <a:r>
              <a:rPr lang="en-US" sz="1547" dirty="0">
                <a:solidFill>
                  <a:srgbClr val="60A5FA"/>
                </a:solidFill>
                <a:latin typeface="Segoe UI Symbol" pitchFamily="34" charset="0"/>
                <a:ea typeface="Segoe UI Symbol" pitchFamily="34" charset="-122"/>
                <a:cs typeface="Segoe UI Symbol" pitchFamily="34" charset="-120"/>
              </a:rPr>
              <a:t>✦</a:t>
            </a:r>
            <a:endParaRPr lang="en-US" sz="1547" dirty="0"/>
          </a:p>
        </p:txBody>
      </p:sp>
      <p:sp>
        <p:nvSpPr>
          <p:cNvPr id="33" name="Text 31"/>
          <p:cNvSpPr/>
          <p:nvPr/>
        </p:nvSpPr>
        <p:spPr>
          <a:xfrm>
            <a:off x="5590654" y="2118122"/>
            <a:ext cx="3298631" cy="176165"/>
          </a:xfrm>
          <a:prstGeom prst="rect">
            <a:avLst/>
          </a:prstGeom>
          <a:noFill/>
          <a:ln/>
        </p:spPr>
        <p:txBody>
          <a:bodyPr wrap="square" lIns="0" tIns="0" rIns="0" bIns="0" rtlCol="0" anchor="t">
            <a:normAutofit/>
          </a:bodyPr>
          <a:lstStyle/>
          <a:p>
            <a:pPr algn="l" indent="0" marL="0">
              <a:lnSpc>
                <a:spcPts val="1434"/>
              </a:lnSpc>
              <a:buNone/>
            </a:pPr>
            <a:r>
              <a:rPr lang="en-US" sz="956" dirty="0">
                <a:solidFill>
                  <a:srgbClr val="E8ECF4"/>
                </a:solidFill>
                <a:latin typeface="Liberation Sans Narrow" pitchFamily="34" charset="0"/>
                <a:ea typeface="Liberation Sans Narrow" pitchFamily="34" charset="-122"/>
                <a:cs typeface="Liberation Sans Narrow" pitchFamily="34" charset="-120"/>
              </a:rPr>
              <a:t>7 Experiences, Not 76 Screens</a:t>
            </a:r>
            <a:endParaRPr lang="en-US" sz="956" dirty="0"/>
          </a:p>
        </p:txBody>
      </p:sp>
      <p:sp>
        <p:nvSpPr>
          <p:cNvPr id="34" name="Text 32"/>
          <p:cNvSpPr/>
          <p:nvPr/>
        </p:nvSpPr>
        <p:spPr>
          <a:xfrm>
            <a:off x="5590654" y="2321719"/>
            <a:ext cx="3188903" cy="310753"/>
          </a:xfrm>
          <a:prstGeom prst="rect">
            <a:avLst/>
          </a:prstGeom>
          <a:noFill/>
          <a:ln/>
        </p:spPr>
        <p:txBody>
          <a:bodyPr wrap="square" lIns="0" tIns="0" rIns="0" bIns="0" rtlCol="0" anchor="t"/>
          <a:lstStyle/>
          <a:p>
            <a:pPr algn="l" indent="0" marL="0">
              <a:lnSpc>
                <a:spcPts val="1223"/>
              </a:lnSpc>
              <a:buNone/>
            </a:pPr>
            <a:r>
              <a:rPr lang="en-US" sz="844" dirty="0">
                <a:solidFill>
                  <a:srgbClr val="8B95AD"/>
                </a:solidFill>
                <a:latin typeface="Carlito" pitchFamily="34" charset="0"/>
                <a:ea typeface="Carlito" pitchFamily="34" charset="-122"/>
                <a:cs typeface="Carlito" pitchFamily="34" charset="-120"/>
              </a:rPr>
              <a:t>Navigation shows 7 experiences. Depth lives inside each experience.</a:t>
            </a:r>
            <a:endParaRPr lang="en-US" sz="844" dirty="0"/>
          </a:p>
        </p:txBody>
      </p:sp>
      <p:sp>
        <p:nvSpPr>
          <p:cNvPr id="35" name="Text 33"/>
          <p:cNvSpPr/>
          <p:nvPr/>
        </p:nvSpPr>
        <p:spPr>
          <a:xfrm>
            <a:off x="5212035" y="2825353"/>
            <a:ext cx="3703253" cy="728663"/>
          </a:xfrm>
          <a:prstGeom prst="roundRect">
            <a:avLst>
              <a:gd name="adj" fmla="val 20915"/>
            </a:avLst>
          </a:prstGeom>
          <a:solidFill>
            <a:srgbClr val="161C2A">
              <a:alpha val="70000"/>
            </a:srgbClr>
          </a:solidFill>
          <a:ln/>
        </p:spPr>
        <p:txBody>
          <a:bodyPr wrap="square" rtlCol="0" anchor="ctr"/>
          <a:lstStyle/>
          <a:p>
            <a:pPr indent="0" marL="0">
              <a:buNone/>
            </a:pPr>
            <a:endParaRPr lang="en-US" dirty="0"/>
          </a:p>
        </p:txBody>
      </p:sp>
      <p:sp>
        <p:nvSpPr>
          <p:cNvPr id="36" name="Shape 34"/>
          <p:cNvSpPr/>
          <p:nvPr/>
        </p:nvSpPr>
        <p:spPr>
          <a:xfrm>
            <a:off x="5212035" y="2828925"/>
            <a:ext cx="3703253" cy="0"/>
          </a:xfrm>
          <a:prstGeom prst="line">
            <a:avLst/>
          </a:prstGeom>
          <a:noFill/>
          <a:ln w="7144">
            <a:solidFill>
              <a:srgbClr val="252E42"/>
            </a:solidFill>
            <a:prstDash val="solid"/>
          </a:ln>
        </p:spPr>
      </p:sp>
      <p:sp>
        <p:nvSpPr>
          <p:cNvPr id="37" name="Shape 35"/>
          <p:cNvSpPr/>
          <p:nvPr/>
        </p:nvSpPr>
        <p:spPr>
          <a:xfrm>
            <a:off x="8911717" y="2825353"/>
            <a:ext cx="0" cy="728663"/>
          </a:xfrm>
          <a:prstGeom prst="line">
            <a:avLst/>
          </a:prstGeom>
          <a:noFill/>
          <a:ln w="7144">
            <a:solidFill>
              <a:srgbClr val="252E42"/>
            </a:solidFill>
            <a:prstDash val="solid"/>
          </a:ln>
        </p:spPr>
      </p:sp>
      <p:sp>
        <p:nvSpPr>
          <p:cNvPr id="38" name="Shape 36"/>
          <p:cNvSpPr/>
          <p:nvPr/>
        </p:nvSpPr>
        <p:spPr>
          <a:xfrm>
            <a:off x="5212035" y="3550444"/>
            <a:ext cx="3703253" cy="0"/>
          </a:xfrm>
          <a:prstGeom prst="line">
            <a:avLst/>
          </a:prstGeom>
          <a:noFill/>
          <a:ln w="7144">
            <a:solidFill>
              <a:srgbClr val="252E42"/>
            </a:solidFill>
            <a:prstDash val="solid"/>
          </a:ln>
        </p:spPr>
      </p:sp>
      <p:sp>
        <p:nvSpPr>
          <p:cNvPr id="39" name="Shape 37"/>
          <p:cNvSpPr/>
          <p:nvPr/>
        </p:nvSpPr>
        <p:spPr>
          <a:xfrm>
            <a:off x="5222751" y="2825353"/>
            <a:ext cx="0" cy="728663"/>
          </a:xfrm>
          <a:prstGeom prst="line">
            <a:avLst/>
          </a:prstGeom>
          <a:noFill/>
          <a:ln w="21431">
            <a:solidFill>
              <a:srgbClr val="3B82F6"/>
            </a:solidFill>
            <a:prstDash val="solid"/>
          </a:ln>
        </p:spPr>
      </p:sp>
      <p:sp>
        <p:nvSpPr>
          <p:cNvPr id="40" name="Text 38"/>
          <p:cNvSpPr/>
          <p:nvPr/>
        </p:nvSpPr>
        <p:spPr>
          <a:xfrm>
            <a:off x="5362054" y="3111103"/>
            <a:ext cx="157163" cy="157163"/>
          </a:xfrm>
          <a:prstGeom prst="rect">
            <a:avLst/>
          </a:prstGeom>
          <a:noFill/>
          <a:ln/>
        </p:spPr>
        <p:txBody>
          <a:bodyPr wrap="none" lIns="0" tIns="0" rIns="0" bIns="0" rtlCol="0" anchor="ctr"/>
          <a:lstStyle/>
          <a:p>
            <a:pPr algn="ctr" indent="0" marL="0">
              <a:buNone/>
            </a:pPr>
            <a:r>
              <a:rPr lang="en-US" sz="1547" dirty="0">
                <a:solidFill>
                  <a:srgbClr val="60A5FA"/>
                </a:solidFill>
                <a:latin typeface="Segoe UI Symbol" pitchFamily="34" charset="0"/>
                <a:ea typeface="Segoe UI Symbol" pitchFamily="34" charset="-122"/>
                <a:cs typeface="Segoe UI Symbol" pitchFamily="34" charset="-120"/>
              </a:rPr>
              <a:t>✦</a:t>
            </a:r>
            <a:endParaRPr lang="en-US" sz="1547" dirty="0"/>
          </a:p>
        </p:txBody>
      </p:sp>
      <p:sp>
        <p:nvSpPr>
          <p:cNvPr id="41" name="Text 39"/>
          <p:cNvSpPr/>
          <p:nvPr/>
        </p:nvSpPr>
        <p:spPr>
          <a:xfrm>
            <a:off x="5590654" y="2932509"/>
            <a:ext cx="3188903" cy="176165"/>
          </a:xfrm>
          <a:prstGeom prst="rect">
            <a:avLst/>
          </a:prstGeom>
          <a:noFill/>
          <a:ln/>
        </p:spPr>
        <p:txBody>
          <a:bodyPr wrap="none" lIns="0" tIns="0" rIns="0" bIns="0" rtlCol="0" anchor="t">
            <a:normAutofit/>
          </a:bodyPr>
          <a:lstStyle/>
          <a:p>
            <a:pPr algn="l" indent="0" marL="0">
              <a:lnSpc>
                <a:spcPts val="1434"/>
              </a:lnSpc>
              <a:buNone/>
            </a:pPr>
            <a:r>
              <a:rPr lang="en-US" sz="956" dirty="0">
                <a:solidFill>
                  <a:srgbClr val="E8ECF4"/>
                </a:solidFill>
                <a:latin typeface="Carlito" pitchFamily="34" charset="0"/>
                <a:ea typeface="Carlito" pitchFamily="34" charset="-122"/>
                <a:cs typeface="Carlito" pitchFamily="34" charset="-120"/>
              </a:rPr>
              <a:t>Progressive Disclosure</a:t>
            </a:r>
            <a:endParaRPr lang="en-US" sz="956" dirty="0"/>
          </a:p>
        </p:txBody>
      </p:sp>
      <p:sp>
        <p:nvSpPr>
          <p:cNvPr id="42" name="Text 40"/>
          <p:cNvSpPr/>
          <p:nvPr/>
        </p:nvSpPr>
        <p:spPr>
          <a:xfrm>
            <a:off x="5590654" y="3136106"/>
            <a:ext cx="3188903" cy="310753"/>
          </a:xfrm>
          <a:prstGeom prst="rect">
            <a:avLst/>
          </a:prstGeom>
          <a:noFill/>
          <a:ln/>
        </p:spPr>
        <p:txBody>
          <a:bodyPr wrap="square" lIns="0" tIns="0" rIns="0" bIns="0" rtlCol="0" anchor="t"/>
          <a:lstStyle/>
          <a:p>
            <a:pPr algn="l" indent="0" marL="0">
              <a:lnSpc>
                <a:spcPts val="1223"/>
              </a:lnSpc>
              <a:buNone/>
            </a:pPr>
            <a:r>
              <a:rPr lang="en-US" sz="844" dirty="0">
                <a:solidFill>
                  <a:srgbClr val="8B95AD"/>
                </a:solidFill>
                <a:latin typeface="Carlito" pitchFamily="34" charset="0"/>
                <a:ea typeface="Carlito" pitchFamily="34" charset="-122"/>
                <a:cs typeface="Carlito" pitchFamily="34" charset="-120"/>
              </a:rPr>
              <a:t>Information reveals itself in layers: Summary → Reasoning → Evidence → Related.</a:t>
            </a:r>
            <a:endParaRPr lang="en-US" sz="844" dirty="0"/>
          </a:p>
        </p:txBody>
      </p:sp>
      <p:sp>
        <p:nvSpPr>
          <p:cNvPr id="43" name="Text 41"/>
          <p:cNvSpPr/>
          <p:nvPr/>
        </p:nvSpPr>
        <p:spPr>
          <a:xfrm>
            <a:off x="5212035" y="3639741"/>
            <a:ext cx="3703253" cy="728663"/>
          </a:xfrm>
          <a:prstGeom prst="roundRect">
            <a:avLst>
              <a:gd name="adj" fmla="val 20915"/>
            </a:avLst>
          </a:prstGeom>
          <a:solidFill>
            <a:srgbClr val="161C2A">
              <a:alpha val="70000"/>
            </a:srgbClr>
          </a:solidFill>
          <a:ln/>
        </p:spPr>
        <p:txBody>
          <a:bodyPr wrap="square" rtlCol="0" anchor="ctr"/>
          <a:lstStyle/>
          <a:p>
            <a:pPr indent="0" marL="0">
              <a:buNone/>
            </a:pPr>
            <a:endParaRPr lang="en-US" dirty="0"/>
          </a:p>
        </p:txBody>
      </p:sp>
      <p:sp>
        <p:nvSpPr>
          <p:cNvPr id="44" name="Shape 42"/>
          <p:cNvSpPr/>
          <p:nvPr/>
        </p:nvSpPr>
        <p:spPr>
          <a:xfrm>
            <a:off x="5212035" y="3643313"/>
            <a:ext cx="3703253" cy="0"/>
          </a:xfrm>
          <a:prstGeom prst="line">
            <a:avLst/>
          </a:prstGeom>
          <a:noFill/>
          <a:ln w="7144">
            <a:solidFill>
              <a:srgbClr val="252E42"/>
            </a:solidFill>
            <a:prstDash val="solid"/>
          </a:ln>
        </p:spPr>
      </p:sp>
      <p:sp>
        <p:nvSpPr>
          <p:cNvPr id="45" name="Shape 43"/>
          <p:cNvSpPr/>
          <p:nvPr/>
        </p:nvSpPr>
        <p:spPr>
          <a:xfrm>
            <a:off x="8911717" y="3639741"/>
            <a:ext cx="0" cy="728663"/>
          </a:xfrm>
          <a:prstGeom prst="line">
            <a:avLst/>
          </a:prstGeom>
          <a:noFill/>
          <a:ln w="7144">
            <a:solidFill>
              <a:srgbClr val="252E42"/>
            </a:solidFill>
            <a:prstDash val="solid"/>
          </a:ln>
        </p:spPr>
      </p:sp>
      <p:sp>
        <p:nvSpPr>
          <p:cNvPr id="46" name="Shape 44"/>
          <p:cNvSpPr/>
          <p:nvPr/>
        </p:nvSpPr>
        <p:spPr>
          <a:xfrm>
            <a:off x="5212035" y="4364831"/>
            <a:ext cx="3703253" cy="0"/>
          </a:xfrm>
          <a:prstGeom prst="line">
            <a:avLst/>
          </a:prstGeom>
          <a:noFill/>
          <a:ln w="7144">
            <a:solidFill>
              <a:srgbClr val="252E42"/>
            </a:solidFill>
            <a:prstDash val="solid"/>
          </a:ln>
        </p:spPr>
      </p:sp>
      <p:sp>
        <p:nvSpPr>
          <p:cNvPr id="47" name="Shape 45"/>
          <p:cNvSpPr/>
          <p:nvPr/>
        </p:nvSpPr>
        <p:spPr>
          <a:xfrm>
            <a:off x="5222751" y="3639741"/>
            <a:ext cx="0" cy="728663"/>
          </a:xfrm>
          <a:prstGeom prst="line">
            <a:avLst/>
          </a:prstGeom>
          <a:noFill/>
          <a:ln w="21431">
            <a:solidFill>
              <a:srgbClr val="3B82F6"/>
            </a:solidFill>
            <a:prstDash val="solid"/>
          </a:ln>
        </p:spPr>
      </p:sp>
      <p:sp>
        <p:nvSpPr>
          <p:cNvPr id="48" name="Text 46"/>
          <p:cNvSpPr/>
          <p:nvPr/>
        </p:nvSpPr>
        <p:spPr>
          <a:xfrm>
            <a:off x="5362054" y="3925491"/>
            <a:ext cx="157163" cy="157163"/>
          </a:xfrm>
          <a:prstGeom prst="rect">
            <a:avLst/>
          </a:prstGeom>
          <a:noFill/>
          <a:ln/>
        </p:spPr>
        <p:txBody>
          <a:bodyPr wrap="none" lIns="0" tIns="0" rIns="0" bIns="0" rtlCol="0" anchor="ctr"/>
          <a:lstStyle/>
          <a:p>
            <a:pPr algn="ctr" indent="0" marL="0">
              <a:buNone/>
            </a:pPr>
            <a:r>
              <a:rPr lang="en-US" sz="1547" dirty="0">
                <a:solidFill>
                  <a:srgbClr val="60A5FA"/>
                </a:solidFill>
                <a:latin typeface="Segoe UI Symbol" pitchFamily="34" charset="0"/>
                <a:ea typeface="Segoe UI Symbol" pitchFamily="34" charset="-122"/>
                <a:cs typeface="Segoe UI Symbol" pitchFamily="34" charset="-120"/>
              </a:rPr>
              <a:t>➤</a:t>
            </a:r>
            <a:endParaRPr lang="en-US" sz="1547" dirty="0"/>
          </a:p>
        </p:txBody>
      </p:sp>
      <p:sp>
        <p:nvSpPr>
          <p:cNvPr id="49" name="Text 47"/>
          <p:cNvSpPr/>
          <p:nvPr/>
        </p:nvSpPr>
        <p:spPr>
          <a:xfrm>
            <a:off x="5590654" y="3746897"/>
            <a:ext cx="3188903" cy="176165"/>
          </a:xfrm>
          <a:prstGeom prst="rect">
            <a:avLst/>
          </a:prstGeom>
          <a:noFill/>
          <a:ln/>
        </p:spPr>
        <p:txBody>
          <a:bodyPr wrap="none" lIns="0" tIns="0" rIns="0" bIns="0" rtlCol="0" anchor="t">
            <a:normAutofit/>
          </a:bodyPr>
          <a:lstStyle/>
          <a:p>
            <a:pPr algn="l" indent="0" marL="0">
              <a:lnSpc>
                <a:spcPts val="1434"/>
              </a:lnSpc>
              <a:buNone/>
            </a:pPr>
            <a:r>
              <a:rPr lang="en-US" sz="956" dirty="0">
                <a:solidFill>
                  <a:srgbClr val="E8ECF4"/>
                </a:solidFill>
                <a:latin typeface="Carlito" pitchFamily="34" charset="0"/>
                <a:ea typeface="Carlito" pitchFamily="34" charset="-122"/>
                <a:cs typeface="Carlito" pitchFamily="34" charset="-120"/>
              </a:rPr>
              <a:t>Navigation Intelligence</a:t>
            </a:r>
            <a:endParaRPr lang="en-US" sz="956" dirty="0"/>
          </a:p>
        </p:txBody>
      </p:sp>
      <p:sp>
        <p:nvSpPr>
          <p:cNvPr id="50" name="Text 48"/>
          <p:cNvSpPr/>
          <p:nvPr/>
        </p:nvSpPr>
        <p:spPr>
          <a:xfrm>
            <a:off x="5590654" y="3950494"/>
            <a:ext cx="3188903" cy="310753"/>
          </a:xfrm>
          <a:prstGeom prst="rect">
            <a:avLst/>
          </a:prstGeom>
          <a:noFill/>
          <a:ln/>
        </p:spPr>
        <p:txBody>
          <a:bodyPr wrap="square" lIns="0" tIns="0" rIns="0" bIns="0" rtlCol="0" anchor="t"/>
          <a:lstStyle/>
          <a:p>
            <a:pPr algn="l" indent="0" marL="0">
              <a:lnSpc>
                <a:spcPts val="1223"/>
              </a:lnSpc>
              <a:buNone/>
            </a:pPr>
            <a:r>
              <a:rPr lang="en-US" sz="844" dirty="0">
                <a:solidFill>
                  <a:srgbClr val="8B95AD"/>
                </a:solidFill>
                <a:latin typeface="Carlito" pitchFamily="34" charset="0"/>
                <a:ea typeface="Carlito" pitchFamily="34" charset="-122"/>
                <a:cs typeface="Carlito" pitchFamily="34" charset="-120"/>
              </a:rPr>
              <a:t>The nav itself answers: what should I focus on next? (Design Pattern #4)</a:t>
            </a:r>
            <a:endParaRPr lang="en-US" sz="844"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457200" y="314325"/>
            <a:ext cx="8636000" cy="648081"/>
          </a:xfrm>
          <a:prstGeom prst="rect">
            <a:avLst/>
          </a:prstGeom>
          <a:noFill/>
          <a:ln/>
        </p:spPr>
        <p:txBody>
          <a:bodyPr wrap="square" lIns="0" tIns="0" rIns="0" bIns="0" rtlCol="0" anchor="t"/>
          <a:lstStyle/>
          <a:p>
            <a:pPr algn="l" indent="0" marL="0">
              <a:lnSpc>
                <a:spcPts val="2363"/>
              </a:lnSpc>
              <a:buNone/>
            </a:pPr>
            <a:r>
              <a:rPr lang="en-US" sz="1575" b="1" dirty="0">
                <a:solidFill>
                  <a:srgbClr val="E8ECF4"/>
                </a:solidFill>
                <a:latin typeface="Carlito" pitchFamily="34" charset="0"/>
                <a:ea typeface="Carlito" pitchFamily="34" charset="-122"/>
                <a:cs typeface="Carlito" pitchFamily="34" charset="-120"/>
              </a:rPr>
              <a:t>Design Pattern #2 &amp; #3 — Progressive Disclosure &amp; Cognitive Load Reduction</a:t>
            </a:r>
            <a:endParaRPr lang="en-US" sz="1575" dirty="0"/>
          </a:p>
        </p:txBody>
      </p:sp>
      <p:sp>
        <p:nvSpPr>
          <p:cNvPr id="3" name="Text 1"/>
          <p:cNvSpPr/>
          <p:nvPr/>
        </p:nvSpPr>
        <p:spPr>
          <a:xfrm>
            <a:off x="457200" y="957263"/>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4" name="Text 2"/>
          <p:cNvSpPr/>
          <p:nvPr/>
        </p:nvSpPr>
        <p:spPr>
          <a:xfrm>
            <a:off x="457200" y="1293019"/>
            <a:ext cx="2444614" cy="2733377"/>
          </a:xfrm>
          <a:prstGeom prst="roundRect">
            <a:avLst>
              <a:gd name="adj" fmla="val 6234"/>
            </a:avLst>
          </a:prstGeom>
          <a:solidFill>
            <a:srgbClr val="161C2A">
              <a:alpha val="70000"/>
            </a:srgbClr>
          </a:solidFill>
          <a:ln/>
          <a:effectLst>
            <a:outerShdw sx="100000" sy="100000" kx="0" ky="0" algn="bl" rotWithShape="0" blurRad="285750" dist="50800" dir="16200000">
              <a:srgbClr val="3B82F6">
                <a:alpha val="15000"/>
              </a:srgbClr>
            </a:outerShdw>
          </a:effectLst>
        </p:spPr>
        <p:txBody>
          <a:bodyPr wrap="square" rtlCol="0" anchor="ctr"/>
          <a:lstStyle/>
          <a:p>
            <a:pPr indent="0" marL="0">
              <a:buNone/>
            </a:pPr>
            <a:endParaRPr lang="en-US" dirty="0"/>
          </a:p>
        </p:txBody>
      </p:sp>
      <p:sp>
        <p:nvSpPr>
          <p:cNvPr id="5" name="Shape 3"/>
          <p:cNvSpPr/>
          <p:nvPr/>
        </p:nvSpPr>
        <p:spPr>
          <a:xfrm>
            <a:off x="457200" y="1303734"/>
            <a:ext cx="2444614" cy="0"/>
          </a:xfrm>
          <a:prstGeom prst="line">
            <a:avLst/>
          </a:prstGeom>
          <a:noFill/>
          <a:ln w="21431">
            <a:solidFill>
              <a:srgbClr val="3B82F6"/>
            </a:solidFill>
            <a:prstDash val="solid"/>
          </a:ln>
        </p:spPr>
      </p:sp>
      <p:sp>
        <p:nvSpPr>
          <p:cNvPr id="6" name="Shape 4"/>
          <p:cNvSpPr/>
          <p:nvPr/>
        </p:nvSpPr>
        <p:spPr>
          <a:xfrm>
            <a:off x="2898242" y="1293019"/>
            <a:ext cx="0" cy="2733377"/>
          </a:xfrm>
          <a:prstGeom prst="line">
            <a:avLst/>
          </a:prstGeom>
          <a:noFill/>
          <a:ln w="7144">
            <a:solidFill>
              <a:srgbClr val="3B82F6"/>
            </a:solidFill>
            <a:prstDash val="solid"/>
          </a:ln>
        </p:spPr>
      </p:sp>
      <p:sp>
        <p:nvSpPr>
          <p:cNvPr id="7" name="Shape 5"/>
          <p:cNvSpPr/>
          <p:nvPr/>
        </p:nvSpPr>
        <p:spPr>
          <a:xfrm>
            <a:off x="457200" y="4022824"/>
            <a:ext cx="2444614" cy="0"/>
          </a:xfrm>
          <a:prstGeom prst="line">
            <a:avLst/>
          </a:prstGeom>
          <a:noFill/>
          <a:ln w="7144">
            <a:solidFill>
              <a:srgbClr val="3B82F6"/>
            </a:solidFill>
            <a:prstDash val="solid"/>
          </a:ln>
        </p:spPr>
      </p:sp>
      <p:sp>
        <p:nvSpPr>
          <p:cNvPr id="8" name="Shape 6"/>
          <p:cNvSpPr/>
          <p:nvPr/>
        </p:nvSpPr>
        <p:spPr>
          <a:xfrm>
            <a:off x="460772" y="1293019"/>
            <a:ext cx="0" cy="2733377"/>
          </a:xfrm>
          <a:prstGeom prst="line">
            <a:avLst/>
          </a:prstGeom>
          <a:noFill/>
          <a:ln w="7144">
            <a:solidFill>
              <a:srgbClr val="3B82F6"/>
            </a:solidFill>
            <a:prstDash val="solid"/>
          </a:ln>
        </p:spPr>
      </p:sp>
      <p:sp>
        <p:nvSpPr>
          <p:cNvPr id="9" name="Text 7"/>
          <p:cNvSpPr/>
          <p:nvPr/>
        </p:nvSpPr>
        <p:spPr>
          <a:xfrm>
            <a:off x="639366" y="1552426"/>
            <a:ext cx="607330" cy="338435"/>
          </a:xfrm>
          <a:prstGeom prst="roundRect">
            <a:avLst>
              <a:gd name="adj" fmla="val 28141438"/>
            </a:avLst>
          </a:prstGeom>
          <a:solidFill>
            <a:srgbClr val="3B82F6">
              <a:alpha val="15000"/>
            </a:srgbClr>
          </a:solidFill>
          <a:ln w="7144">
            <a:solidFill>
              <a:srgbClr val="3B82F6"/>
            </a:solidFill>
            <a:prstDash val="solid"/>
          </a:ln>
        </p:spPr>
        <p:txBody>
          <a:bodyPr wrap="square" rtlCol="0" anchor="ctr"/>
          <a:lstStyle/>
          <a:p>
            <a:pPr indent="0" marL="0">
              <a:buNone/>
            </a:pPr>
            <a:endParaRPr lang="en-US" dirty="0"/>
          </a:p>
        </p:txBody>
      </p:sp>
      <p:sp>
        <p:nvSpPr>
          <p:cNvPr id="10" name="Text 8"/>
          <p:cNvSpPr/>
          <p:nvPr/>
        </p:nvSpPr>
        <p:spPr>
          <a:xfrm>
            <a:off x="635794" y="1548854"/>
            <a:ext cx="643049" cy="414695"/>
          </a:xfrm>
          <a:prstGeom prst="rect">
            <a:avLst/>
          </a:prstGeom>
          <a:noFill/>
          <a:ln/>
        </p:spPr>
        <p:txBody>
          <a:bodyPr wrap="none" lIns="85725" tIns="28575" rIns="85725" bIns="28575" rtlCol="0" anchor="t"/>
          <a:lstStyle/>
          <a:p>
            <a:pPr algn="l" indent="0" marL="0">
              <a:lnSpc>
                <a:spcPts val="1080"/>
              </a:lnSpc>
              <a:buNone/>
            </a:pPr>
            <a:r>
              <a:rPr lang="en-US" sz="800" spc="36" kern="0" dirty="0">
                <a:solidFill>
                  <a:srgbClr val="60A5FA"/>
                </a:solidFill>
                <a:latin typeface="Liberation Sans Narrow" pitchFamily="34" charset="0"/>
                <a:ea typeface="Liberation Sans Narrow" pitchFamily="34" charset="-122"/>
                <a:cs typeface="Liberation Sans Narrow" pitchFamily="34" charset="-120"/>
              </a:rPr>
              <a:t>LEVEL 1</a:t>
            </a:r>
            <a:endParaRPr lang="en-US" sz="800" dirty="0"/>
          </a:p>
        </p:txBody>
      </p:sp>
      <p:sp>
        <p:nvSpPr>
          <p:cNvPr id="11" name="Text 9"/>
          <p:cNvSpPr/>
          <p:nvPr/>
        </p:nvSpPr>
        <p:spPr>
          <a:xfrm>
            <a:off x="1307418" y="1485900"/>
            <a:ext cx="1415802" cy="509207"/>
          </a:xfrm>
          <a:prstGeom prst="rect">
            <a:avLst/>
          </a:prstGeom>
          <a:noFill/>
          <a:ln/>
        </p:spPr>
        <p:txBody>
          <a:bodyPr wrap="none" lIns="0" tIns="0" rIns="0" bIns="0" rtlCol="0" anchor="t"/>
          <a:lstStyle/>
          <a:p>
            <a:pPr algn="l" indent="0" marL="0">
              <a:lnSpc>
                <a:spcPts val="1856"/>
              </a:lnSpc>
              <a:buNone/>
            </a:pPr>
            <a:r>
              <a:rPr lang="en-US" sz="1238" b="1" dirty="0">
                <a:solidFill>
                  <a:srgbClr val="60A5FA"/>
                </a:solidFill>
                <a:latin typeface="Carlito" pitchFamily="34" charset="0"/>
                <a:ea typeface="Carlito" pitchFamily="34" charset="-122"/>
                <a:cs typeface="Carlito" pitchFamily="34" charset="-120"/>
              </a:rPr>
              <a:t>DECISION LAYER</a:t>
            </a:r>
            <a:endParaRPr lang="en-US" sz="1238" dirty="0"/>
          </a:p>
        </p:txBody>
      </p:sp>
      <p:sp>
        <p:nvSpPr>
          <p:cNvPr id="12" name="Text 10"/>
          <p:cNvSpPr/>
          <p:nvPr/>
        </p:nvSpPr>
        <p:spPr>
          <a:xfrm>
            <a:off x="635794" y="2028825"/>
            <a:ext cx="2087426" cy="196739"/>
          </a:xfrm>
          <a:prstGeom prst="rect">
            <a:avLst/>
          </a:prstGeom>
          <a:noFill/>
          <a:ln/>
        </p:spPr>
        <p:txBody>
          <a:bodyPr wrap="none" lIns="0" tIns="0" rIns="0" bIns="0" rtlCol="0" anchor="t"/>
          <a:lstStyle/>
          <a:p>
            <a:pPr algn="l" indent="0" marL="0">
              <a:lnSpc>
                <a:spcPts val="1434"/>
              </a:lnSpc>
              <a:buNone/>
            </a:pPr>
            <a:r>
              <a:rPr lang="en-US" sz="956" dirty="0">
                <a:solidFill>
                  <a:srgbClr val="E8ECF4"/>
                </a:solidFill>
                <a:latin typeface="Carlito" pitchFamily="34" charset="0"/>
                <a:ea typeface="Carlito" pitchFamily="34" charset="-122"/>
                <a:cs typeface="Carlito" pitchFamily="34" charset="-120"/>
              </a:rPr>
              <a:t>What &amp; Why</a:t>
            </a:r>
            <a:endParaRPr lang="en-US" sz="956" dirty="0"/>
          </a:p>
        </p:txBody>
      </p:sp>
      <p:sp>
        <p:nvSpPr>
          <p:cNvPr id="13" name="Text 11"/>
          <p:cNvSpPr/>
          <p:nvPr/>
        </p:nvSpPr>
        <p:spPr>
          <a:xfrm>
            <a:off x="635794" y="2253853"/>
            <a:ext cx="2087426" cy="1048792"/>
          </a:xfrm>
          <a:prstGeom prst="rect">
            <a:avLst/>
          </a:prstGeom>
          <a:noFill/>
          <a:ln/>
        </p:spPr>
        <p:txBody>
          <a:bodyPr wrap="square" lIns="0" tIns="0" rIns="0" bIns="0" rtlCol="0" anchor="t"/>
          <a:lstStyle/>
          <a:p>
            <a:pPr algn="l" indent="0" marL="0">
              <a:lnSpc>
                <a:spcPts val="1530"/>
              </a:lnSpc>
              <a:buNone/>
            </a:pPr>
            <a:r>
              <a:rPr lang="en-US" sz="956" dirty="0">
                <a:solidFill>
                  <a:srgbClr val="8B95AD"/>
                </a:solidFill>
                <a:latin typeface="Carlito" pitchFamily="34" charset="0"/>
                <a:ea typeface="Carlito" pitchFamily="34" charset="-122"/>
                <a:cs typeface="Carlito" pitchFamily="34" charset="-120"/>
              </a:rPr>
              <a:t>Headline, confidence score, priority badge, timestamp. The user sees intelligence at a glance — enough to decide: do I need to act on this now?</a:t>
            </a:r>
            <a:endParaRPr lang="en-US" sz="956" dirty="0"/>
          </a:p>
        </p:txBody>
      </p:sp>
      <p:sp>
        <p:nvSpPr>
          <p:cNvPr id="14" name="Text 12"/>
          <p:cNvSpPr/>
          <p:nvPr/>
        </p:nvSpPr>
        <p:spPr>
          <a:xfrm>
            <a:off x="2901814" y="2545407"/>
            <a:ext cx="228600" cy="228600"/>
          </a:xfrm>
          <a:prstGeom prst="rect">
            <a:avLst/>
          </a:prstGeom>
          <a:noFill/>
          <a:ln/>
        </p:spPr>
        <p:txBody>
          <a:bodyPr wrap="none" lIns="0" tIns="0" rIns="0" bIns="0" rtlCol="0" anchor="ctr"/>
          <a:lstStyle/>
          <a:p>
            <a:pPr algn="ctr" indent="0" marL="0">
              <a:buNone/>
            </a:pPr>
            <a:r>
              <a:rPr lang="en-US" sz="1969" dirty="0">
                <a:solidFill>
                  <a:srgbClr val="2D3854"/>
                </a:solidFill>
                <a:latin typeface="Segoe UI Symbol" pitchFamily="34" charset="0"/>
                <a:ea typeface="Segoe UI Symbol" pitchFamily="34" charset="-122"/>
                <a:cs typeface="Segoe UI Symbol" pitchFamily="34" charset="-120"/>
              </a:rPr>
              <a:t>→</a:t>
            </a:r>
            <a:endParaRPr lang="en-US" sz="1969" dirty="0"/>
          </a:p>
        </p:txBody>
      </p:sp>
      <p:sp>
        <p:nvSpPr>
          <p:cNvPr id="15" name="Text 13"/>
          <p:cNvSpPr/>
          <p:nvPr/>
        </p:nvSpPr>
        <p:spPr>
          <a:xfrm>
            <a:off x="3130414" y="1293019"/>
            <a:ext cx="1955713" cy="2733377"/>
          </a:xfrm>
          <a:prstGeom prst="roundRect">
            <a:avLst>
              <a:gd name="adj" fmla="val 7793"/>
            </a:avLst>
          </a:prstGeom>
          <a:solidFill>
            <a:srgbClr val="161C2A">
              <a:alpha val="70000"/>
            </a:srgbClr>
          </a:solidFill>
          <a:ln/>
        </p:spPr>
        <p:txBody>
          <a:bodyPr wrap="square" rtlCol="0" anchor="ctr"/>
          <a:lstStyle/>
          <a:p>
            <a:pPr indent="0" marL="0">
              <a:buNone/>
            </a:pPr>
            <a:endParaRPr lang="en-US" dirty="0"/>
          </a:p>
        </p:txBody>
      </p:sp>
      <p:sp>
        <p:nvSpPr>
          <p:cNvPr id="16" name="Shape 14"/>
          <p:cNvSpPr/>
          <p:nvPr/>
        </p:nvSpPr>
        <p:spPr>
          <a:xfrm>
            <a:off x="3130414" y="1303734"/>
            <a:ext cx="1955713" cy="0"/>
          </a:xfrm>
          <a:prstGeom prst="line">
            <a:avLst/>
          </a:prstGeom>
          <a:noFill/>
          <a:ln w="21431">
            <a:solidFill>
              <a:srgbClr val="A855F7"/>
            </a:solidFill>
            <a:prstDash val="solid"/>
          </a:ln>
        </p:spPr>
      </p:sp>
      <p:sp>
        <p:nvSpPr>
          <p:cNvPr id="17" name="Shape 15"/>
          <p:cNvSpPr/>
          <p:nvPr/>
        </p:nvSpPr>
        <p:spPr>
          <a:xfrm>
            <a:off x="5082555" y="1293019"/>
            <a:ext cx="0" cy="2733377"/>
          </a:xfrm>
          <a:prstGeom prst="line">
            <a:avLst/>
          </a:prstGeom>
          <a:noFill/>
          <a:ln w="7144">
            <a:solidFill>
              <a:srgbClr val="252E42"/>
            </a:solidFill>
            <a:prstDash val="solid"/>
          </a:ln>
        </p:spPr>
      </p:sp>
      <p:sp>
        <p:nvSpPr>
          <p:cNvPr id="18" name="Shape 16"/>
          <p:cNvSpPr/>
          <p:nvPr/>
        </p:nvSpPr>
        <p:spPr>
          <a:xfrm>
            <a:off x="3130414" y="4022824"/>
            <a:ext cx="1955713" cy="0"/>
          </a:xfrm>
          <a:prstGeom prst="line">
            <a:avLst/>
          </a:prstGeom>
          <a:noFill/>
          <a:ln w="7144">
            <a:solidFill>
              <a:srgbClr val="252E42"/>
            </a:solidFill>
            <a:prstDash val="solid"/>
          </a:ln>
        </p:spPr>
      </p:sp>
      <p:sp>
        <p:nvSpPr>
          <p:cNvPr id="19" name="Shape 17"/>
          <p:cNvSpPr/>
          <p:nvPr/>
        </p:nvSpPr>
        <p:spPr>
          <a:xfrm>
            <a:off x="3133985" y="1293019"/>
            <a:ext cx="0" cy="2733377"/>
          </a:xfrm>
          <a:prstGeom prst="line">
            <a:avLst/>
          </a:prstGeom>
          <a:noFill/>
          <a:ln w="7144">
            <a:solidFill>
              <a:srgbClr val="252E42"/>
            </a:solidFill>
            <a:prstDash val="solid"/>
          </a:ln>
        </p:spPr>
      </p:sp>
      <p:sp>
        <p:nvSpPr>
          <p:cNvPr id="20" name="Text 18"/>
          <p:cNvSpPr/>
          <p:nvPr/>
        </p:nvSpPr>
        <p:spPr>
          <a:xfrm>
            <a:off x="3312579" y="1489472"/>
            <a:ext cx="541920" cy="338435"/>
          </a:xfrm>
          <a:prstGeom prst="roundRect">
            <a:avLst>
              <a:gd name="adj" fmla="val 28141438"/>
            </a:avLst>
          </a:prstGeom>
          <a:solidFill>
            <a:srgbClr val="8B5CF6">
              <a:alpha val="15000"/>
            </a:srgbClr>
          </a:solidFill>
          <a:ln w="7144">
            <a:solidFill>
              <a:srgbClr val="8B5CF6"/>
            </a:solidFill>
            <a:prstDash val="solid"/>
          </a:ln>
        </p:spPr>
        <p:txBody>
          <a:bodyPr wrap="square" rtlCol="0" anchor="ctr"/>
          <a:lstStyle/>
          <a:p>
            <a:pPr indent="0" marL="0">
              <a:buNone/>
            </a:pPr>
            <a:endParaRPr lang="en-US" dirty="0"/>
          </a:p>
        </p:txBody>
      </p:sp>
      <p:sp>
        <p:nvSpPr>
          <p:cNvPr id="21" name="Text 19"/>
          <p:cNvSpPr/>
          <p:nvPr/>
        </p:nvSpPr>
        <p:spPr>
          <a:xfrm>
            <a:off x="3309007" y="1485900"/>
            <a:ext cx="577639" cy="414695"/>
          </a:xfrm>
          <a:prstGeom prst="rect">
            <a:avLst/>
          </a:prstGeom>
          <a:noFill/>
          <a:ln/>
        </p:spPr>
        <p:txBody>
          <a:bodyPr wrap="none" lIns="85725" tIns="28575" rIns="85725" bIns="28575" rtlCol="0" anchor="t"/>
          <a:lstStyle/>
          <a:p>
            <a:pPr algn="l" indent="0" marL="0">
              <a:lnSpc>
                <a:spcPts val="1080"/>
              </a:lnSpc>
              <a:buNone/>
            </a:pPr>
            <a:r>
              <a:rPr lang="en-US" sz="800" spc="36" kern="0" dirty="0">
                <a:solidFill>
                  <a:srgbClr val="A78BFA"/>
                </a:solidFill>
                <a:latin typeface="Liberation Sans Narrow" pitchFamily="34" charset="0"/>
                <a:ea typeface="Liberation Sans Narrow" pitchFamily="34" charset="-122"/>
                <a:cs typeface="Liberation Sans Narrow" pitchFamily="34" charset="-120"/>
              </a:rPr>
              <a:t>LEVEL 2</a:t>
            </a:r>
            <a:endParaRPr lang="en-US" sz="800" dirty="0"/>
          </a:p>
        </p:txBody>
      </p:sp>
      <p:sp>
        <p:nvSpPr>
          <p:cNvPr id="22" name="Text 20"/>
          <p:cNvSpPr/>
          <p:nvPr/>
        </p:nvSpPr>
        <p:spPr>
          <a:xfrm>
            <a:off x="3915221" y="1487239"/>
            <a:ext cx="992312" cy="370332"/>
          </a:xfrm>
          <a:prstGeom prst="rect">
            <a:avLst/>
          </a:prstGeom>
          <a:noFill/>
          <a:ln/>
        </p:spPr>
        <p:txBody>
          <a:bodyPr wrap="none" lIns="0" tIns="0" rIns="0" bIns="0" rtlCol="0" anchor="t"/>
          <a:lstStyle/>
          <a:p>
            <a:pPr algn="l" indent="0" marL="0">
              <a:lnSpc>
                <a:spcPts val="1350"/>
              </a:lnSpc>
              <a:buNone/>
            </a:pPr>
            <a:r>
              <a:rPr lang="en-US" sz="900" b="1" dirty="0">
                <a:solidFill>
                  <a:srgbClr val="A78BFA"/>
                </a:solidFill>
                <a:latin typeface="Carlito" pitchFamily="34" charset="0"/>
                <a:ea typeface="Carlito" pitchFamily="34" charset="-122"/>
                <a:cs typeface="Carlito" pitchFamily="34" charset="-120"/>
              </a:rPr>
              <a:t>REASONING LAYER</a:t>
            </a:r>
            <a:endParaRPr lang="en-US" sz="900" dirty="0"/>
          </a:p>
        </p:txBody>
      </p:sp>
      <p:sp>
        <p:nvSpPr>
          <p:cNvPr id="23" name="Text 21"/>
          <p:cNvSpPr/>
          <p:nvPr/>
        </p:nvSpPr>
        <p:spPr>
          <a:xfrm>
            <a:off x="3309007" y="1902916"/>
            <a:ext cx="1598526" cy="379762"/>
          </a:xfrm>
          <a:prstGeom prst="rect">
            <a:avLst/>
          </a:prstGeom>
          <a:noFill/>
          <a:ln/>
        </p:spPr>
        <p:txBody>
          <a:bodyPr wrap="square" lIns="0" tIns="0" rIns="0" bIns="0" rtlCol="0" anchor="t">
            <a:normAutofit/>
          </a:bodyPr>
          <a:lstStyle/>
          <a:p>
            <a:pPr algn="l" indent="0" marL="0">
              <a:lnSpc>
                <a:spcPts val="1434"/>
              </a:lnSpc>
              <a:buNone/>
            </a:pPr>
            <a:r>
              <a:rPr lang="en-US" sz="956" dirty="0">
                <a:solidFill>
                  <a:srgbClr val="E8ECF4"/>
                </a:solidFill>
                <a:latin typeface="Carlito" pitchFamily="34" charset="0"/>
                <a:ea typeface="Carlito" pitchFamily="34" charset="-122"/>
                <a:cs typeface="Carlito" pitchFamily="34" charset="-120"/>
              </a:rPr>
              <a:t>Why Does the System Think This?</a:t>
            </a:r>
            <a:endParaRPr lang="en-US" sz="956" dirty="0"/>
          </a:p>
        </p:txBody>
      </p:sp>
      <p:sp>
        <p:nvSpPr>
          <p:cNvPr id="24" name="Text 22"/>
          <p:cNvSpPr/>
          <p:nvPr/>
        </p:nvSpPr>
        <p:spPr>
          <a:xfrm>
            <a:off x="3309007" y="2310110"/>
            <a:ext cx="1598526" cy="1110996"/>
          </a:xfrm>
          <a:prstGeom prst="rect">
            <a:avLst/>
          </a:prstGeom>
          <a:noFill/>
          <a:ln/>
        </p:spPr>
        <p:txBody>
          <a:bodyPr wrap="square" lIns="0" tIns="0" rIns="0" bIns="0" rtlCol="0" anchor="t"/>
          <a:lstStyle/>
          <a:p>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Primary reasoning statement, positive and negative confidence factors, impact analysis. Answers the trust question before the user asks it.</a:t>
            </a:r>
            <a:endParaRPr lang="en-US" sz="844" dirty="0"/>
          </a:p>
        </p:txBody>
      </p:sp>
      <p:sp>
        <p:nvSpPr>
          <p:cNvPr id="25" name="Text 23"/>
          <p:cNvSpPr/>
          <p:nvPr/>
        </p:nvSpPr>
        <p:spPr>
          <a:xfrm>
            <a:off x="5086127" y="2545407"/>
            <a:ext cx="228600" cy="228600"/>
          </a:xfrm>
          <a:prstGeom prst="rect">
            <a:avLst/>
          </a:prstGeom>
          <a:noFill/>
          <a:ln/>
        </p:spPr>
        <p:txBody>
          <a:bodyPr wrap="none" lIns="0" tIns="0" rIns="0" bIns="0" rtlCol="0" anchor="ctr"/>
          <a:lstStyle/>
          <a:p>
            <a:pPr algn="ctr" indent="0" marL="0">
              <a:buNone/>
            </a:pPr>
            <a:r>
              <a:rPr lang="en-US" sz="1969" dirty="0">
                <a:solidFill>
                  <a:srgbClr val="2D3854"/>
                </a:solidFill>
                <a:latin typeface="Segoe UI Symbol" pitchFamily="34" charset="0"/>
                <a:ea typeface="Segoe UI Symbol" pitchFamily="34" charset="-122"/>
                <a:cs typeface="Segoe UI Symbol" pitchFamily="34" charset="-120"/>
              </a:rPr>
              <a:t>→</a:t>
            </a:r>
            <a:endParaRPr lang="en-US" sz="1969" dirty="0"/>
          </a:p>
        </p:txBody>
      </p:sp>
      <p:sp>
        <p:nvSpPr>
          <p:cNvPr id="26" name="Text 24"/>
          <p:cNvSpPr/>
          <p:nvPr/>
        </p:nvSpPr>
        <p:spPr>
          <a:xfrm>
            <a:off x="5314727" y="1293019"/>
            <a:ext cx="1589038" cy="2733377"/>
          </a:xfrm>
          <a:prstGeom prst="roundRect">
            <a:avLst>
              <a:gd name="adj" fmla="val 9591"/>
            </a:avLst>
          </a:prstGeom>
          <a:solidFill>
            <a:srgbClr val="161C2A">
              <a:alpha val="70000"/>
            </a:srgbClr>
          </a:solidFill>
          <a:ln/>
        </p:spPr>
        <p:txBody>
          <a:bodyPr wrap="square" rtlCol="0" anchor="ctr"/>
          <a:lstStyle/>
          <a:p>
            <a:pPr indent="0" marL="0">
              <a:buNone/>
            </a:pPr>
            <a:endParaRPr lang="en-US" dirty="0"/>
          </a:p>
        </p:txBody>
      </p:sp>
      <p:sp>
        <p:nvSpPr>
          <p:cNvPr id="27" name="Shape 25"/>
          <p:cNvSpPr/>
          <p:nvPr/>
        </p:nvSpPr>
        <p:spPr>
          <a:xfrm>
            <a:off x="5314727" y="1303734"/>
            <a:ext cx="1589038" cy="0"/>
          </a:xfrm>
          <a:prstGeom prst="line">
            <a:avLst/>
          </a:prstGeom>
          <a:noFill/>
          <a:ln w="21431">
            <a:solidFill>
              <a:srgbClr val="22C55E"/>
            </a:solidFill>
            <a:prstDash val="solid"/>
          </a:ln>
        </p:spPr>
      </p:sp>
      <p:sp>
        <p:nvSpPr>
          <p:cNvPr id="28" name="Shape 26"/>
          <p:cNvSpPr/>
          <p:nvPr/>
        </p:nvSpPr>
        <p:spPr>
          <a:xfrm>
            <a:off x="6900193" y="1293019"/>
            <a:ext cx="0" cy="2733377"/>
          </a:xfrm>
          <a:prstGeom prst="line">
            <a:avLst/>
          </a:prstGeom>
          <a:noFill/>
          <a:ln w="7144">
            <a:solidFill>
              <a:srgbClr val="252E42"/>
            </a:solidFill>
            <a:prstDash val="solid"/>
          </a:ln>
        </p:spPr>
      </p:sp>
      <p:sp>
        <p:nvSpPr>
          <p:cNvPr id="29" name="Shape 27"/>
          <p:cNvSpPr/>
          <p:nvPr/>
        </p:nvSpPr>
        <p:spPr>
          <a:xfrm>
            <a:off x="5314727" y="4022824"/>
            <a:ext cx="1589038" cy="0"/>
          </a:xfrm>
          <a:prstGeom prst="line">
            <a:avLst/>
          </a:prstGeom>
          <a:noFill/>
          <a:ln w="7144">
            <a:solidFill>
              <a:srgbClr val="252E42"/>
            </a:solidFill>
            <a:prstDash val="solid"/>
          </a:ln>
        </p:spPr>
      </p:sp>
      <p:sp>
        <p:nvSpPr>
          <p:cNvPr id="30" name="Shape 28"/>
          <p:cNvSpPr/>
          <p:nvPr/>
        </p:nvSpPr>
        <p:spPr>
          <a:xfrm>
            <a:off x="5318299" y="1293019"/>
            <a:ext cx="0" cy="2733377"/>
          </a:xfrm>
          <a:prstGeom prst="line">
            <a:avLst/>
          </a:prstGeom>
          <a:noFill/>
          <a:ln w="7144">
            <a:solidFill>
              <a:srgbClr val="252E42"/>
            </a:solidFill>
            <a:prstDash val="solid"/>
          </a:ln>
        </p:spPr>
      </p:sp>
      <p:sp>
        <p:nvSpPr>
          <p:cNvPr id="31" name="Text 29"/>
          <p:cNvSpPr/>
          <p:nvPr/>
        </p:nvSpPr>
        <p:spPr>
          <a:xfrm>
            <a:off x="5496892" y="1489472"/>
            <a:ext cx="513680" cy="338435"/>
          </a:xfrm>
          <a:prstGeom prst="roundRect">
            <a:avLst>
              <a:gd name="adj" fmla="val 28141438"/>
            </a:avLst>
          </a:prstGeom>
          <a:solidFill>
            <a:srgbClr val="22C55E">
              <a:alpha val="15000"/>
            </a:srgbClr>
          </a:solidFill>
          <a:ln w="7144">
            <a:solidFill>
              <a:srgbClr val="22C55E"/>
            </a:solidFill>
            <a:prstDash val="solid"/>
          </a:ln>
        </p:spPr>
        <p:txBody>
          <a:bodyPr wrap="square" rtlCol="0" anchor="ctr"/>
          <a:lstStyle/>
          <a:p>
            <a:pPr indent="0" marL="0">
              <a:buNone/>
            </a:pPr>
            <a:endParaRPr lang="en-US" dirty="0"/>
          </a:p>
        </p:txBody>
      </p:sp>
      <p:sp>
        <p:nvSpPr>
          <p:cNvPr id="32" name="Text 30"/>
          <p:cNvSpPr/>
          <p:nvPr/>
        </p:nvSpPr>
        <p:spPr>
          <a:xfrm>
            <a:off x="5493321" y="1485900"/>
            <a:ext cx="549399" cy="414695"/>
          </a:xfrm>
          <a:prstGeom prst="rect">
            <a:avLst/>
          </a:prstGeom>
          <a:noFill/>
          <a:ln/>
        </p:spPr>
        <p:txBody>
          <a:bodyPr wrap="none" lIns="85725" tIns="28575" rIns="85725" bIns="28575" rtlCol="0" anchor="t"/>
          <a:lstStyle/>
          <a:p>
            <a:pPr algn="l" indent="0" marL="0">
              <a:lnSpc>
                <a:spcPts val="1080"/>
              </a:lnSpc>
              <a:buNone/>
            </a:pPr>
            <a:r>
              <a:rPr lang="en-US" sz="800" spc="36" kern="0" dirty="0">
                <a:solidFill>
                  <a:srgbClr val="4ADE80"/>
                </a:solidFill>
                <a:latin typeface="Liberation Sans Narrow" pitchFamily="34" charset="0"/>
                <a:ea typeface="Liberation Sans Narrow" pitchFamily="34" charset="-122"/>
                <a:cs typeface="Liberation Sans Narrow" pitchFamily="34" charset="-120"/>
              </a:rPr>
              <a:t>LEVEL 3</a:t>
            </a:r>
            <a:endParaRPr lang="en-US" sz="800" dirty="0"/>
          </a:p>
        </p:txBody>
      </p:sp>
      <p:sp>
        <p:nvSpPr>
          <p:cNvPr id="33" name="Text 31"/>
          <p:cNvSpPr/>
          <p:nvPr/>
        </p:nvSpPr>
        <p:spPr>
          <a:xfrm>
            <a:off x="6071295" y="1504317"/>
            <a:ext cx="653876" cy="333443"/>
          </a:xfrm>
          <a:prstGeom prst="rect">
            <a:avLst/>
          </a:prstGeom>
          <a:noFill/>
          <a:ln/>
        </p:spPr>
        <p:txBody>
          <a:bodyPr wrap="square" lIns="0" tIns="0" rIns="0" bIns="0" rtlCol="0" anchor="t"/>
          <a:lstStyle/>
          <a:p>
            <a:pPr algn="l" indent="0" marL="0">
              <a:lnSpc>
                <a:spcPts val="1215"/>
              </a:lnSpc>
              <a:buNone/>
            </a:pPr>
            <a:r>
              <a:rPr lang="en-US" sz="810" b="1" dirty="0">
                <a:solidFill>
                  <a:srgbClr val="4ADE80"/>
                </a:solidFill>
                <a:latin typeface="Carlito" pitchFamily="34" charset="0"/>
                <a:ea typeface="Carlito" pitchFamily="34" charset="-122"/>
                <a:cs typeface="Carlito" pitchFamily="34" charset="-120"/>
              </a:rPr>
              <a:t>EVIDENCE LAYER</a:t>
            </a:r>
            <a:endParaRPr lang="en-US" sz="810" dirty="0"/>
          </a:p>
        </p:txBody>
      </p:sp>
      <p:sp>
        <p:nvSpPr>
          <p:cNvPr id="34" name="Text 32"/>
          <p:cNvSpPr/>
          <p:nvPr/>
        </p:nvSpPr>
        <p:spPr>
          <a:xfrm>
            <a:off x="5493321" y="1888629"/>
            <a:ext cx="1231850" cy="161877"/>
          </a:xfrm>
          <a:prstGeom prst="rect">
            <a:avLst/>
          </a:prstGeom>
          <a:noFill/>
          <a:ln/>
        </p:spPr>
        <p:txBody>
          <a:bodyPr wrap="none" lIns="0" tIns="0" rIns="0" bIns="0" rtlCol="0" anchor="t">
            <a:normAutofit/>
          </a:bodyPr>
          <a:lstStyle/>
          <a:p>
            <a:pPr algn="l" indent="0" marL="0">
              <a:lnSpc>
                <a:spcPts val="1266"/>
              </a:lnSpc>
              <a:buNone/>
            </a:pPr>
            <a:r>
              <a:rPr lang="en-US" sz="844" dirty="0">
                <a:solidFill>
                  <a:srgbClr val="E8ECF4"/>
                </a:solidFill>
                <a:latin typeface="Carlito" pitchFamily="34" charset="0"/>
                <a:ea typeface="Carlito" pitchFamily="34" charset="-122"/>
                <a:cs typeface="Carlito" pitchFamily="34" charset="-120"/>
              </a:rPr>
              <a:t>Show Me the Proof</a:t>
            </a:r>
            <a:endParaRPr lang="en-US" sz="844" dirty="0"/>
          </a:p>
        </p:txBody>
      </p:sp>
      <p:sp>
        <p:nvSpPr>
          <p:cNvPr id="35" name="Text 33"/>
          <p:cNvSpPr/>
          <p:nvPr/>
        </p:nvSpPr>
        <p:spPr>
          <a:xfrm>
            <a:off x="5493321" y="2077938"/>
            <a:ext cx="1305761" cy="1110996"/>
          </a:xfrm>
          <a:prstGeom prst="rect">
            <a:avLst/>
          </a:prstGeom>
          <a:noFill/>
          <a:ln/>
        </p:spPr>
        <p:txBody>
          <a:bodyPr wrap="square" lIns="0" tIns="0" rIns="0" bIns="0" rtlCol="0" anchor="t"/>
          <a:lstStyle/>
          <a:p>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Evidence chain with sources, dates, relevance scores, and verification links. Full transparency for users who need to validate.</a:t>
            </a:r>
            <a:endParaRPr lang="en-US" sz="844" dirty="0"/>
          </a:p>
        </p:txBody>
      </p:sp>
      <p:sp>
        <p:nvSpPr>
          <p:cNvPr id="36" name="Text 34"/>
          <p:cNvSpPr/>
          <p:nvPr/>
        </p:nvSpPr>
        <p:spPr>
          <a:xfrm>
            <a:off x="6903765" y="2545407"/>
            <a:ext cx="228600" cy="228600"/>
          </a:xfrm>
          <a:prstGeom prst="rect">
            <a:avLst/>
          </a:prstGeom>
          <a:noFill/>
          <a:ln/>
        </p:spPr>
        <p:txBody>
          <a:bodyPr wrap="none" lIns="0" tIns="0" rIns="0" bIns="0" rtlCol="0" anchor="ctr"/>
          <a:lstStyle/>
          <a:p>
            <a:pPr algn="ctr" indent="0" marL="0">
              <a:buNone/>
            </a:pPr>
            <a:r>
              <a:rPr lang="en-US" sz="1969" dirty="0">
                <a:solidFill>
                  <a:srgbClr val="2D3854"/>
                </a:solidFill>
                <a:latin typeface="Segoe UI Symbol" pitchFamily="34" charset="0"/>
                <a:ea typeface="Segoe UI Symbol" pitchFamily="34" charset="-122"/>
                <a:cs typeface="Segoe UI Symbol" pitchFamily="34" charset="-120"/>
              </a:rPr>
              <a:t>→</a:t>
            </a:r>
            <a:endParaRPr lang="en-US" sz="1969" dirty="0"/>
          </a:p>
        </p:txBody>
      </p:sp>
      <p:sp>
        <p:nvSpPr>
          <p:cNvPr id="37" name="Text 35"/>
          <p:cNvSpPr/>
          <p:nvPr/>
        </p:nvSpPr>
        <p:spPr>
          <a:xfrm>
            <a:off x="7132365" y="1293019"/>
            <a:ext cx="1554435" cy="2733377"/>
          </a:xfrm>
          <a:prstGeom prst="roundRect">
            <a:avLst>
              <a:gd name="adj" fmla="val 9804"/>
            </a:avLst>
          </a:prstGeom>
          <a:solidFill>
            <a:srgbClr val="161C2A">
              <a:alpha val="70000"/>
            </a:srgbClr>
          </a:solidFill>
          <a:ln/>
        </p:spPr>
        <p:txBody>
          <a:bodyPr wrap="square" rtlCol="0" anchor="ctr"/>
          <a:lstStyle/>
          <a:p>
            <a:pPr indent="0" marL="0">
              <a:buNone/>
            </a:pPr>
            <a:endParaRPr lang="en-US" dirty="0"/>
          </a:p>
        </p:txBody>
      </p:sp>
      <p:sp>
        <p:nvSpPr>
          <p:cNvPr id="38" name="Shape 36"/>
          <p:cNvSpPr/>
          <p:nvPr/>
        </p:nvSpPr>
        <p:spPr>
          <a:xfrm>
            <a:off x="7132365" y="1303734"/>
            <a:ext cx="1554435" cy="0"/>
          </a:xfrm>
          <a:prstGeom prst="line">
            <a:avLst/>
          </a:prstGeom>
          <a:noFill/>
          <a:ln w="21431">
            <a:solidFill>
              <a:srgbClr val="F59E0B"/>
            </a:solidFill>
            <a:prstDash val="solid"/>
          </a:ln>
        </p:spPr>
      </p:sp>
      <p:sp>
        <p:nvSpPr>
          <p:cNvPr id="39" name="Shape 37"/>
          <p:cNvSpPr/>
          <p:nvPr/>
        </p:nvSpPr>
        <p:spPr>
          <a:xfrm>
            <a:off x="8683228" y="1293019"/>
            <a:ext cx="0" cy="2733377"/>
          </a:xfrm>
          <a:prstGeom prst="line">
            <a:avLst/>
          </a:prstGeom>
          <a:noFill/>
          <a:ln w="7144">
            <a:solidFill>
              <a:srgbClr val="252E42"/>
            </a:solidFill>
            <a:prstDash val="solid"/>
          </a:ln>
        </p:spPr>
      </p:sp>
      <p:sp>
        <p:nvSpPr>
          <p:cNvPr id="40" name="Shape 38"/>
          <p:cNvSpPr/>
          <p:nvPr/>
        </p:nvSpPr>
        <p:spPr>
          <a:xfrm>
            <a:off x="7132365" y="4022824"/>
            <a:ext cx="1554435" cy="0"/>
          </a:xfrm>
          <a:prstGeom prst="line">
            <a:avLst/>
          </a:prstGeom>
          <a:noFill/>
          <a:ln w="7144">
            <a:solidFill>
              <a:srgbClr val="252E42"/>
            </a:solidFill>
            <a:prstDash val="solid"/>
          </a:ln>
        </p:spPr>
      </p:sp>
      <p:sp>
        <p:nvSpPr>
          <p:cNvPr id="41" name="Shape 39"/>
          <p:cNvSpPr/>
          <p:nvPr/>
        </p:nvSpPr>
        <p:spPr>
          <a:xfrm>
            <a:off x="7135937" y="1293019"/>
            <a:ext cx="0" cy="2733377"/>
          </a:xfrm>
          <a:prstGeom prst="line">
            <a:avLst/>
          </a:prstGeom>
          <a:noFill/>
          <a:ln w="7144">
            <a:solidFill>
              <a:srgbClr val="252E42"/>
            </a:solidFill>
            <a:prstDash val="solid"/>
          </a:ln>
        </p:spPr>
      </p:sp>
      <p:sp>
        <p:nvSpPr>
          <p:cNvPr id="42" name="Text 40"/>
          <p:cNvSpPr/>
          <p:nvPr/>
        </p:nvSpPr>
        <p:spPr>
          <a:xfrm>
            <a:off x="7310958" y="1473098"/>
            <a:ext cx="436997" cy="302647"/>
          </a:xfrm>
          <a:prstGeom prst="roundRect">
            <a:avLst>
              <a:gd name="adj" fmla="val 31469162"/>
            </a:avLst>
          </a:prstGeom>
          <a:solidFill>
            <a:srgbClr val="F59E0B">
              <a:alpha val="15000"/>
            </a:srgbClr>
          </a:solidFill>
          <a:ln w="7144">
            <a:solidFill>
              <a:srgbClr val="F59E0B"/>
            </a:solidFill>
            <a:prstDash val="solid"/>
          </a:ln>
        </p:spPr>
        <p:txBody>
          <a:bodyPr wrap="square" rtlCol="0" anchor="ctr"/>
          <a:lstStyle/>
          <a:p>
            <a:pPr indent="0" marL="0">
              <a:buNone/>
            </a:pPr>
            <a:endParaRPr lang="en-US" dirty="0"/>
          </a:p>
        </p:txBody>
      </p:sp>
      <p:sp>
        <p:nvSpPr>
          <p:cNvPr id="43" name="Text 41"/>
          <p:cNvSpPr/>
          <p:nvPr/>
        </p:nvSpPr>
        <p:spPr>
          <a:xfrm>
            <a:off x="7310958" y="1485900"/>
            <a:ext cx="436997" cy="277044"/>
          </a:xfrm>
          <a:prstGeom prst="rect">
            <a:avLst/>
          </a:prstGeom>
          <a:noFill/>
          <a:ln/>
        </p:spPr>
        <p:txBody>
          <a:bodyPr wrap="none" lIns="0" tIns="0" rIns="0" bIns="0" rtlCol="0" anchor="ctr"/>
          <a:lstStyle/>
          <a:p>
            <a:pPr algn="ctr" indent="0" marL="0">
              <a:lnSpc>
                <a:spcPts val="810"/>
              </a:lnSpc>
              <a:buNone/>
            </a:pPr>
            <a:r>
              <a:rPr lang="en-US" sz="800" spc="27" kern="0" dirty="0">
                <a:solidFill>
                  <a:srgbClr val="FBBF24"/>
                </a:solidFill>
                <a:latin typeface="Liberation Sans Narrow" pitchFamily="34" charset="0"/>
                <a:ea typeface="Liberation Sans Narrow" pitchFamily="34" charset="-122"/>
                <a:cs typeface="Liberation Sans Narrow" pitchFamily="34" charset="-120"/>
              </a:rPr>
              <a:t>LEVEL 4</a:t>
            </a:r>
            <a:endParaRPr lang="en-US" sz="800" dirty="0"/>
          </a:p>
        </p:txBody>
      </p:sp>
      <p:sp>
        <p:nvSpPr>
          <p:cNvPr id="44" name="Text 42"/>
          <p:cNvSpPr/>
          <p:nvPr/>
        </p:nvSpPr>
        <p:spPr>
          <a:xfrm>
            <a:off x="7765574" y="1555886"/>
            <a:ext cx="767877" cy="164485"/>
          </a:xfrm>
          <a:prstGeom prst="rect">
            <a:avLst/>
          </a:prstGeom>
          <a:noFill/>
          <a:ln/>
        </p:spPr>
        <p:txBody>
          <a:bodyPr wrap="none" lIns="0" tIns="0" rIns="0" bIns="0" rtlCol="0" anchor="t"/>
          <a:lstStyle/>
          <a:p>
            <a:pPr algn="l" indent="0" marL="0">
              <a:lnSpc>
                <a:spcPts val="1080"/>
              </a:lnSpc>
              <a:buNone/>
            </a:pPr>
            <a:r>
              <a:rPr lang="en-US" sz="720" b="1" dirty="0">
                <a:solidFill>
                  <a:srgbClr val="FBBF24"/>
                </a:solidFill>
                <a:latin typeface="Carlito" pitchFamily="34" charset="0"/>
                <a:ea typeface="Carlito" pitchFamily="34" charset="-122"/>
                <a:cs typeface="Carlito" pitchFamily="34" charset="-120"/>
              </a:rPr>
              <a:t>EXPLORATION</a:t>
            </a:r>
            <a:endParaRPr lang="en-US" sz="720" dirty="0"/>
          </a:p>
        </p:txBody>
      </p:sp>
      <p:sp>
        <p:nvSpPr>
          <p:cNvPr id="45" name="Text 43"/>
          <p:cNvSpPr/>
          <p:nvPr/>
        </p:nvSpPr>
        <p:spPr>
          <a:xfrm>
            <a:off x="7310958" y="1805806"/>
            <a:ext cx="1197248" cy="322612"/>
          </a:xfrm>
          <a:prstGeom prst="rect">
            <a:avLst/>
          </a:prstGeom>
          <a:noFill/>
          <a:ln/>
        </p:spPr>
        <p:txBody>
          <a:bodyPr wrap="none" lIns="0" tIns="0" rIns="0" bIns="0" rtlCol="0" anchor="t">
            <a:normAutofit/>
          </a:bodyPr>
          <a:lstStyle/>
          <a:p>
            <a:pPr algn="l" indent="0" marL="0">
              <a:lnSpc>
                <a:spcPts val="1266"/>
              </a:lnSpc>
              <a:buNone/>
            </a:pPr>
            <a:r>
              <a:rPr lang="en-US" sz="844" dirty="0">
                <a:solidFill>
                  <a:srgbClr val="E8ECF4"/>
                </a:solidFill>
                <a:latin typeface="Carlito" pitchFamily="34" charset="0"/>
                <a:ea typeface="Carlito" pitchFamily="34" charset="-122"/>
                <a:cs typeface="Carlito" pitchFamily="34" charset="-120"/>
              </a:rPr>
              <a:t>What Else Should I Know?</a:t>
            </a:r>
            <a:endParaRPr lang="en-US" sz="844" dirty="0"/>
          </a:p>
        </p:txBody>
      </p:sp>
      <p:sp>
        <p:nvSpPr>
          <p:cNvPr id="46" name="Text 44"/>
          <p:cNvSpPr/>
          <p:nvPr/>
        </p:nvSpPr>
        <p:spPr>
          <a:xfrm>
            <a:off x="7310958" y="2155850"/>
            <a:ext cx="1269083" cy="877342"/>
          </a:xfrm>
          <a:prstGeom prst="rect">
            <a:avLst/>
          </a:prstGeom>
          <a:noFill/>
          <a:ln/>
        </p:spPr>
        <p:txBody>
          <a:bodyPr wrap="square" lIns="0" tIns="0" rIns="0" bIns="0" rtlCol="0" anchor="t"/>
          <a:lstStyle/>
          <a:p>
            <a:pPr algn="l" indent="0" marL="0">
              <a:lnSpc>
                <a:spcPts val="1152"/>
              </a:lnSpc>
              <a:buNone/>
            </a:pPr>
            <a:r>
              <a:rPr lang="en-US" sz="800" dirty="0">
                <a:solidFill>
                  <a:srgbClr val="8B95AD"/>
                </a:solidFill>
                <a:latin typeface="Carlito" pitchFamily="34" charset="0"/>
                <a:ea typeface="Carlito" pitchFamily="34" charset="-122"/>
                <a:cs typeface="Carlito" pitchFamily="34" charset="-120"/>
              </a:rPr>
              <a:t>Related signals, connected insights, adjacent opportunities, and deeper research paths.</a:t>
            </a:r>
            <a:endParaRPr lang="en-US" sz="800" dirty="0"/>
          </a:p>
        </p:txBody>
      </p:sp>
      <p:sp>
        <p:nvSpPr>
          <p:cNvPr id="47" name="Text 45"/>
          <p:cNvSpPr/>
          <p:nvPr/>
        </p:nvSpPr>
        <p:spPr>
          <a:xfrm>
            <a:off x="460772" y="4172843"/>
            <a:ext cx="8222456" cy="652760"/>
          </a:xfrm>
          <a:prstGeom prst="roundRect">
            <a:avLst>
              <a:gd name="adj" fmla="val 23347"/>
            </a:avLst>
          </a:prstGeom>
          <a:solidFill>
            <a:srgbClr val="161C2A">
              <a:alpha val="70000"/>
            </a:srgbClr>
          </a:solidFill>
          <a:ln w="7144">
            <a:solidFill>
              <a:srgbClr val="3B82F6"/>
            </a:solidFill>
            <a:prstDash val="solid"/>
          </a:ln>
          <a:effectLst>
            <a:outerShdw sx="100000" sy="100000" kx="0" ky="0" algn="bl" rotWithShape="0" blurRad="285750" dist="50800" dir="16200000">
              <a:srgbClr val="3B82F6">
                <a:alpha val="15000"/>
              </a:srgbClr>
            </a:outerShdw>
          </a:effectLst>
        </p:spPr>
        <p:txBody>
          <a:bodyPr wrap="square" rtlCol="0" anchor="ctr"/>
          <a:lstStyle/>
          <a:p>
            <a:pPr indent="0" marL="0">
              <a:buNone/>
            </a:pPr>
            <a:endParaRPr lang="en-US" dirty="0"/>
          </a:p>
        </p:txBody>
      </p:sp>
      <p:sp>
        <p:nvSpPr>
          <p:cNvPr id="48" name="Text 46"/>
          <p:cNvSpPr/>
          <p:nvPr/>
        </p:nvSpPr>
        <p:spPr>
          <a:xfrm>
            <a:off x="635794" y="4319290"/>
            <a:ext cx="157163" cy="157163"/>
          </a:xfrm>
          <a:prstGeom prst="rect">
            <a:avLst/>
          </a:prstGeom>
          <a:noFill/>
          <a:ln/>
        </p:spPr>
        <p:txBody>
          <a:bodyPr wrap="none" lIns="0" tIns="0" rIns="0" bIns="0" rtlCol="0" anchor="ctr"/>
          <a:lstStyle/>
          <a:p>
            <a:pPr algn="ctr" indent="0" marL="0">
              <a:buNone/>
            </a:pPr>
            <a:r>
              <a:rPr lang="en-US" sz="1547" dirty="0">
                <a:solidFill>
                  <a:srgbClr val="3B82F6"/>
                </a:solidFill>
                <a:latin typeface="Segoe UI Symbol" pitchFamily="34" charset="0"/>
                <a:ea typeface="Segoe UI Symbol" pitchFamily="34" charset="-122"/>
                <a:cs typeface="Segoe UI Symbol" pitchFamily="34" charset="-120"/>
              </a:rPr>
              <a:t>◯</a:t>
            </a:r>
            <a:endParaRPr lang="en-US" sz="1547" dirty="0"/>
          </a:p>
        </p:txBody>
      </p:sp>
      <p:sp>
        <p:nvSpPr>
          <p:cNvPr id="49" name="Text 47"/>
          <p:cNvSpPr/>
          <p:nvPr/>
        </p:nvSpPr>
        <p:spPr>
          <a:xfrm>
            <a:off x="892969" y="4305002"/>
            <a:ext cx="7615238" cy="388441"/>
          </a:xfrm>
          <a:prstGeom prst="rect">
            <a:avLst/>
          </a:prstGeom>
          <a:noFill/>
          <a:ln/>
        </p:spPr>
        <p:txBody>
          <a:bodyPr wrap="square" lIns="0" tIns="0" rIns="0" bIns="0" rtlCol="0" anchor="t"/>
          <a:lstStyle/>
          <a:p>
            <a:pPr algn="l" indent="0" marL="0">
              <a:lnSpc>
                <a:spcPts val="1530"/>
              </a:lnSpc>
              <a:buNone/>
            </a:pPr>
            <a:r>
              <a:rPr lang="en-US" sz="956" dirty="0">
                <a:solidFill>
                  <a:srgbClr val="E8ECF4"/>
                </a:solidFill>
                <a:latin typeface="Carlito" pitchFamily="34" charset="0"/>
                <a:ea typeface="Carlito" pitchFamily="34" charset="-122"/>
                <a:cs typeface="Carlito" pitchFamily="34" charset="-120"/>
              </a:rPr>
              <a:t>Each level is independently accessible. Users who trust the system stay at L1. Skeptics drill to L3. Researchers explore L4. The experience adapts to the user's trust level — the user is never forced to digest complexity they do not need.</a:t>
            </a:r>
            <a:endParaRPr lang="en-US" sz="956"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457200" y="314325"/>
            <a:ext cx="8636000" cy="324041"/>
          </a:xfrm>
          <a:prstGeom prst="rect">
            <a:avLst/>
          </a:prstGeom>
          <a:noFill/>
          <a:ln/>
        </p:spPr>
        <p:txBody>
          <a:bodyPr wrap="square" lIns="0" tIns="0" rIns="0" bIns="0" rtlCol="0" anchor="t"/>
          <a:lstStyle/>
          <a:p>
            <a:pPr algn="l" indent="0" marL="0">
              <a:lnSpc>
                <a:spcPts val="2363"/>
              </a:lnSpc>
              <a:buNone/>
            </a:pPr>
            <a:r>
              <a:rPr lang="en-US" sz="1575" b="1" dirty="0">
                <a:solidFill>
                  <a:srgbClr val="E8ECF4"/>
                </a:solidFill>
                <a:latin typeface="Carlito" pitchFamily="34" charset="0"/>
                <a:ea typeface="Carlito" pitchFamily="34" charset="-122"/>
                <a:cs typeface="Carlito" pitchFamily="34" charset="-120"/>
              </a:rPr>
              <a:t>Design Patterns #6 &amp; #7 — Trust Visualization &amp; Confidence Language</a:t>
            </a:r>
            <a:endParaRPr lang="en-US" sz="1575" dirty="0"/>
          </a:p>
        </p:txBody>
      </p:sp>
      <p:sp>
        <p:nvSpPr>
          <p:cNvPr id="3" name="Text 1"/>
          <p:cNvSpPr/>
          <p:nvPr/>
        </p:nvSpPr>
        <p:spPr>
          <a:xfrm>
            <a:off x="457200" y="657225"/>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4" name="Text 2"/>
          <p:cNvSpPr/>
          <p:nvPr/>
        </p:nvSpPr>
        <p:spPr>
          <a:xfrm>
            <a:off x="457200" y="935831"/>
            <a:ext cx="2676451" cy="1988641"/>
          </a:xfrm>
          <a:prstGeom prst="roundRect">
            <a:avLst>
              <a:gd name="adj" fmla="val 7664"/>
            </a:avLst>
          </a:prstGeom>
          <a:solidFill>
            <a:srgbClr val="161C2A">
              <a:alpha val="70000"/>
            </a:srgbClr>
          </a:solidFill>
          <a:ln/>
        </p:spPr>
        <p:txBody>
          <a:bodyPr wrap="square" rtlCol="0" anchor="ctr"/>
          <a:lstStyle/>
          <a:p>
            <a:pPr indent="0" marL="0">
              <a:buNone/>
            </a:pPr>
            <a:endParaRPr lang="en-US" dirty="0"/>
          </a:p>
        </p:txBody>
      </p:sp>
      <p:sp>
        <p:nvSpPr>
          <p:cNvPr id="5" name="Shape 3"/>
          <p:cNvSpPr/>
          <p:nvPr/>
        </p:nvSpPr>
        <p:spPr>
          <a:xfrm>
            <a:off x="457200" y="946547"/>
            <a:ext cx="2676451" cy="0"/>
          </a:xfrm>
          <a:prstGeom prst="line">
            <a:avLst/>
          </a:prstGeom>
          <a:noFill/>
          <a:ln w="21431">
            <a:solidFill>
              <a:srgbClr val="3B82F6"/>
            </a:solidFill>
            <a:prstDash val="solid"/>
          </a:ln>
        </p:spPr>
      </p:sp>
      <p:sp>
        <p:nvSpPr>
          <p:cNvPr id="6" name="Shape 4"/>
          <p:cNvSpPr/>
          <p:nvPr/>
        </p:nvSpPr>
        <p:spPr>
          <a:xfrm>
            <a:off x="3130079" y="935831"/>
            <a:ext cx="0" cy="1988641"/>
          </a:xfrm>
          <a:prstGeom prst="line">
            <a:avLst/>
          </a:prstGeom>
          <a:noFill/>
          <a:ln w="7144">
            <a:solidFill>
              <a:srgbClr val="252E42"/>
            </a:solidFill>
            <a:prstDash val="solid"/>
          </a:ln>
        </p:spPr>
      </p:sp>
      <p:sp>
        <p:nvSpPr>
          <p:cNvPr id="7" name="Shape 5"/>
          <p:cNvSpPr/>
          <p:nvPr/>
        </p:nvSpPr>
        <p:spPr>
          <a:xfrm>
            <a:off x="457200" y="2920901"/>
            <a:ext cx="2676451" cy="0"/>
          </a:xfrm>
          <a:prstGeom prst="line">
            <a:avLst/>
          </a:prstGeom>
          <a:noFill/>
          <a:ln w="7144">
            <a:solidFill>
              <a:srgbClr val="252E42"/>
            </a:solidFill>
            <a:prstDash val="solid"/>
          </a:ln>
        </p:spPr>
      </p:sp>
      <p:sp>
        <p:nvSpPr>
          <p:cNvPr id="8" name="Shape 6"/>
          <p:cNvSpPr/>
          <p:nvPr/>
        </p:nvSpPr>
        <p:spPr>
          <a:xfrm>
            <a:off x="460772" y="935831"/>
            <a:ext cx="0" cy="1988641"/>
          </a:xfrm>
          <a:prstGeom prst="line">
            <a:avLst/>
          </a:prstGeom>
          <a:noFill/>
          <a:ln w="7144">
            <a:solidFill>
              <a:srgbClr val="252E42"/>
            </a:solidFill>
            <a:prstDash val="solid"/>
          </a:ln>
        </p:spPr>
      </p:sp>
      <p:sp>
        <p:nvSpPr>
          <p:cNvPr id="9" name="Text 7"/>
          <p:cNvSpPr/>
          <p:nvPr/>
        </p:nvSpPr>
        <p:spPr>
          <a:xfrm>
            <a:off x="635794" y="1215777"/>
            <a:ext cx="1516334" cy="185166"/>
          </a:xfrm>
          <a:prstGeom prst="rect">
            <a:avLst/>
          </a:prstGeom>
          <a:noFill/>
          <a:ln/>
        </p:spPr>
        <p:txBody>
          <a:bodyPr wrap="none" lIns="0" tIns="0" rIns="0" bIns="0" rtlCol="0" anchor="t"/>
          <a:lstStyle/>
          <a:p>
            <a:pPr algn="l" indent="0" marL="0">
              <a:lnSpc>
                <a:spcPts val="1350"/>
              </a:lnSpc>
              <a:buNone/>
            </a:pPr>
            <a:r>
              <a:rPr lang="en-US" sz="900" dirty="0">
                <a:solidFill>
                  <a:srgbClr val="E8ECF4"/>
                </a:solidFill>
                <a:latin typeface="Carlito" pitchFamily="34" charset="0"/>
                <a:ea typeface="Carlito" pitchFamily="34" charset="-122"/>
                <a:cs typeface="Carlito" pitchFamily="34" charset="-120"/>
              </a:rPr>
              <a:t>ConfidenceIndicator</a:t>
            </a:r>
            <a:endParaRPr lang="en-US" sz="900" dirty="0"/>
          </a:p>
        </p:txBody>
      </p:sp>
      <p:sp>
        <p:nvSpPr>
          <p:cNvPr id="10" name="Text 8"/>
          <p:cNvSpPr/>
          <p:nvPr/>
        </p:nvSpPr>
        <p:spPr>
          <a:xfrm>
            <a:off x="1933166" y="1132284"/>
            <a:ext cx="1018319" cy="338435"/>
          </a:xfrm>
          <a:prstGeom prst="roundRect">
            <a:avLst>
              <a:gd name="adj" fmla="val 28141438"/>
            </a:avLst>
          </a:prstGeom>
          <a:solidFill>
            <a:srgbClr val="22C55E">
              <a:alpha val="15000"/>
            </a:srgbClr>
          </a:solidFill>
          <a:ln w="7144">
            <a:solidFill>
              <a:srgbClr val="22C55E"/>
            </a:solidFill>
            <a:prstDash val="solid"/>
          </a:ln>
        </p:spPr>
        <p:txBody>
          <a:bodyPr wrap="square" rtlCol="0" anchor="ctr"/>
          <a:lstStyle/>
          <a:p>
            <a:pPr indent="0" marL="0">
              <a:buNone/>
            </a:pPr>
            <a:endParaRPr lang="en-US" dirty="0"/>
          </a:p>
        </p:txBody>
      </p:sp>
      <p:sp>
        <p:nvSpPr>
          <p:cNvPr id="11" name="Text 9"/>
          <p:cNvSpPr/>
          <p:nvPr/>
        </p:nvSpPr>
        <p:spPr>
          <a:xfrm>
            <a:off x="1929594" y="1128713"/>
            <a:ext cx="1025463" cy="414695"/>
          </a:xfrm>
          <a:prstGeom prst="rect">
            <a:avLst/>
          </a:prstGeom>
          <a:noFill/>
          <a:ln/>
        </p:spPr>
        <p:txBody>
          <a:bodyPr wrap="none" lIns="85725" tIns="28575" rIns="85725" bIns="28575" rtlCol="0" anchor="t"/>
          <a:lstStyle/>
          <a:p>
            <a:pPr algn="l" indent="0" marL="0">
              <a:lnSpc>
                <a:spcPts val="1080"/>
              </a:lnSpc>
              <a:buNone/>
            </a:pPr>
            <a:r>
              <a:rPr lang="en-US" sz="800" spc="36" kern="0" dirty="0">
                <a:solidFill>
                  <a:srgbClr val="4ADE80"/>
                </a:solidFill>
                <a:latin typeface="Carlito" pitchFamily="34" charset="0"/>
                <a:ea typeface="Carlito" pitchFamily="34" charset="-122"/>
                <a:cs typeface="Carlito" pitchFamily="34" charset="-120"/>
              </a:rPr>
              <a:t>EVALUATE → INCORPORATE</a:t>
            </a:r>
            <a:endParaRPr lang="en-US" sz="800" dirty="0"/>
          </a:p>
        </p:txBody>
      </p:sp>
      <p:sp>
        <p:nvSpPr>
          <p:cNvPr id="12" name="Text 10"/>
          <p:cNvSpPr/>
          <p:nvPr/>
        </p:nvSpPr>
        <p:spPr>
          <a:xfrm>
            <a:off x="635794" y="1545729"/>
            <a:ext cx="2319263" cy="1110996"/>
          </a:xfrm>
          <a:prstGeom prst="rect">
            <a:avLst/>
          </a:prstGeom>
          <a:noFill/>
          <a:ln/>
        </p:spPr>
        <p:txBody>
          <a:bodyPr wrap="square" lIns="0" tIns="0" rIns="0" bIns="0" rtlCol="0" anchor="t"/>
          <a:lstStyle/>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Existing:</a:t>
            </a:r>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 4 modes (ring/bar/badge/score), animated, design-tokenized.</a:t>
            </a:r>
            <a:endParaRPr lang="en-US" sz="844" dirty="0"/>
          </a:p>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Assessment:</a:t>
            </a:r>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 Strong alignment with MS6 principles.</a:t>
            </a:r>
            <a:endParaRPr lang="en-US" sz="844" dirty="0"/>
          </a:p>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Action:</a:t>
            </a:r>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 Incorporate into Design System as universal confidence display.</a:t>
            </a:r>
            <a:endParaRPr lang="en-US" sz="844" dirty="0"/>
          </a:p>
        </p:txBody>
      </p:sp>
      <p:sp>
        <p:nvSpPr>
          <p:cNvPr id="13" name="Text 11"/>
          <p:cNvSpPr/>
          <p:nvPr/>
        </p:nvSpPr>
        <p:spPr>
          <a:xfrm>
            <a:off x="3233663" y="935831"/>
            <a:ext cx="2676562" cy="1988641"/>
          </a:xfrm>
          <a:prstGeom prst="roundRect">
            <a:avLst>
              <a:gd name="adj" fmla="val 7664"/>
            </a:avLst>
          </a:prstGeom>
          <a:solidFill>
            <a:srgbClr val="161C2A">
              <a:alpha val="70000"/>
            </a:srgbClr>
          </a:solidFill>
          <a:ln/>
        </p:spPr>
        <p:txBody>
          <a:bodyPr wrap="square" rtlCol="0" anchor="ctr"/>
          <a:lstStyle/>
          <a:p>
            <a:pPr indent="0" marL="0">
              <a:buNone/>
            </a:pPr>
            <a:endParaRPr lang="en-US" dirty="0"/>
          </a:p>
        </p:txBody>
      </p:sp>
      <p:sp>
        <p:nvSpPr>
          <p:cNvPr id="14" name="Shape 12"/>
          <p:cNvSpPr/>
          <p:nvPr/>
        </p:nvSpPr>
        <p:spPr>
          <a:xfrm>
            <a:off x="3233663" y="946547"/>
            <a:ext cx="2676562" cy="0"/>
          </a:xfrm>
          <a:prstGeom prst="line">
            <a:avLst/>
          </a:prstGeom>
          <a:noFill/>
          <a:ln w="21431">
            <a:solidFill>
              <a:srgbClr val="A855F7"/>
            </a:solidFill>
            <a:prstDash val="solid"/>
          </a:ln>
        </p:spPr>
      </p:sp>
      <p:sp>
        <p:nvSpPr>
          <p:cNvPr id="15" name="Shape 13"/>
          <p:cNvSpPr/>
          <p:nvPr/>
        </p:nvSpPr>
        <p:spPr>
          <a:xfrm>
            <a:off x="5906653" y="935831"/>
            <a:ext cx="0" cy="1988641"/>
          </a:xfrm>
          <a:prstGeom prst="line">
            <a:avLst/>
          </a:prstGeom>
          <a:noFill/>
          <a:ln w="7144">
            <a:solidFill>
              <a:srgbClr val="252E42"/>
            </a:solidFill>
            <a:prstDash val="solid"/>
          </a:ln>
        </p:spPr>
      </p:sp>
      <p:sp>
        <p:nvSpPr>
          <p:cNvPr id="16" name="Shape 14"/>
          <p:cNvSpPr/>
          <p:nvPr/>
        </p:nvSpPr>
        <p:spPr>
          <a:xfrm>
            <a:off x="3233663" y="2920901"/>
            <a:ext cx="2676562" cy="0"/>
          </a:xfrm>
          <a:prstGeom prst="line">
            <a:avLst/>
          </a:prstGeom>
          <a:noFill/>
          <a:ln w="7144">
            <a:solidFill>
              <a:srgbClr val="252E42"/>
            </a:solidFill>
            <a:prstDash val="solid"/>
          </a:ln>
        </p:spPr>
      </p:sp>
      <p:sp>
        <p:nvSpPr>
          <p:cNvPr id="17" name="Shape 15"/>
          <p:cNvSpPr/>
          <p:nvPr/>
        </p:nvSpPr>
        <p:spPr>
          <a:xfrm>
            <a:off x="3237235" y="935831"/>
            <a:ext cx="0" cy="1988641"/>
          </a:xfrm>
          <a:prstGeom prst="line">
            <a:avLst/>
          </a:prstGeom>
          <a:noFill/>
          <a:ln w="7144">
            <a:solidFill>
              <a:srgbClr val="252E42"/>
            </a:solidFill>
            <a:prstDash val="solid"/>
          </a:ln>
        </p:spPr>
      </p:sp>
      <p:sp>
        <p:nvSpPr>
          <p:cNvPr id="18" name="Text 16"/>
          <p:cNvSpPr/>
          <p:nvPr/>
        </p:nvSpPr>
        <p:spPr>
          <a:xfrm>
            <a:off x="3412257" y="1215777"/>
            <a:ext cx="1102550" cy="185166"/>
          </a:xfrm>
          <a:prstGeom prst="rect">
            <a:avLst/>
          </a:prstGeom>
          <a:noFill/>
          <a:ln/>
        </p:spPr>
        <p:txBody>
          <a:bodyPr wrap="none" lIns="0" tIns="0" rIns="0" bIns="0" rtlCol="0" anchor="t"/>
          <a:lstStyle/>
          <a:p>
            <a:pPr algn="l" indent="0" marL="0">
              <a:lnSpc>
                <a:spcPts val="1350"/>
              </a:lnSpc>
              <a:buNone/>
            </a:pPr>
            <a:r>
              <a:rPr lang="en-US" sz="900" dirty="0">
                <a:solidFill>
                  <a:srgbClr val="E8ECF4"/>
                </a:solidFill>
                <a:latin typeface="Carlito" pitchFamily="34" charset="0"/>
                <a:ea typeface="Carlito" pitchFamily="34" charset="-122"/>
                <a:cs typeface="Carlito" pitchFamily="34" charset="-120"/>
              </a:rPr>
              <a:t>EvidenceChain</a:t>
            </a:r>
            <a:endParaRPr lang="en-US" sz="900" dirty="0"/>
          </a:p>
        </p:txBody>
      </p:sp>
      <p:sp>
        <p:nvSpPr>
          <p:cNvPr id="19" name="Text 17"/>
          <p:cNvSpPr/>
          <p:nvPr/>
        </p:nvSpPr>
        <p:spPr>
          <a:xfrm>
            <a:off x="4356571" y="1132284"/>
            <a:ext cx="1371488" cy="338435"/>
          </a:xfrm>
          <a:prstGeom prst="roundRect">
            <a:avLst>
              <a:gd name="adj" fmla="val 28141438"/>
            </a:avLst>
          </a:prstGeom>
          <a:solidFill>
            <a:srgbClr val="22C55E">
              <a:alpha val="15000"/>
            </a:srgbClr>
          </a:solidFill>
          <a:ln w="7144">
            <a:solidFill>
              <a:srgbClr val="22C55E"/>
            </a:solidFill>
            <a:prstDash val="solid"/>
          </a:ln>
        </p:spPr>
        <p:txBody>
          <a:bodyPr wrap="square" rtlCol="0" anchor="ctr"/>
          <a:lstStyle/>
          <a:p>
            <a:pPr indent="0" marL="0">
              <a:buNone/>
            </a:pPr>
            <a:endParaRPr lang="en-US" dirty="0"/>
          </a:p>
        </p:txBody>
      </p:sp>
      <p:sp>
        <p:nvSpPr>
          <p:cNvPr id="20" name="Text 18"/>
          <p:cNvSpPr/>
          <p:nvPr/>
        </p:nvSpPr>
        <p:spPr>
          <a:xfrm>
            <a:off x="4352999" y="1128713"/>
            <a:ext cx="1378632" cy="414695"/>
          </a:xfrm>
          <a:prstGeom prst="rect">
            <a:avLst/>
          </a:prstGeom>
          <a:noFill/>
          <a:ln/>
        </p:spPr>
        <p:txBody>
          <a:bodyPr wrap="none" lIns="85725" tIns="28575" rIns="85725" bIns="28575" rtlCol="0" anchor="t"/>
          <a:lstStyle/>
          <a:p>
            <a:pPr algn="l" indent="0" marL="0">
              <a:lnSpc>
                <a:spcPts val="1080"/>
              </a:lnSpc>
              <a:buNone/>
            </a:pPr>
            <a:r>
              <a:rPr lang="en-US" sz="800" spc="36" kern="0" dirty="0">
                <a:solidFill>
                  <a:srgbClr val="4ADE80"/>
                </a:solidFill>
                <a:latin typeface="Carlito" pitchFamily="34" charset="0"/>
                <a:ea typeface="Carlito" pitchFamily="34" charset="-122"/>
                <a:cs typeface="Carlito" pitchFamily="34" charset="-120"/>
              </a:rPr>
              <a:t>EVALUATE → INCORPORATE</a:t>
            </a:r>
            <a:endParaRPr lang="en-US" sz="800" dirty="0"/>
          </a:p>
        </p:txBody>
      </p:sp>
      <p:sp>
        <p:nvSpPr>
          <p:cNvPr id="21" name="Text 19"/>
          <p:cNvSpPr/>
          <p:nvPr/>
        </p:nvSpPr>
        <p:spPr>
          <a:xfrm>
            <a:off x="3412257" y="1545729"/>
            <a:ext cx="2319375" cy="1200150"/>
          </a:xfrm>
          <a:prstGeom prst="rect">
            <a:avLst/>
          </a:prstGeom>
          <a:noFill/>
          <a:ln/>
        </p:spPr>
        <p:txBody>
          <a:bodyPr wrap="square" lIns="0" tIns="0" rIns="0" bIns="0" rtlCol="0" anchor="t"/>
          <a:lstStyle/>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Existing:</a:t>
            </a:r>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 Visual evidence trail with numbered steps, source icons, relevance scores.</a:t>
            </a:r>
            <a:endParaRPr lang="en-US" sz="844" dirty="0"/>
          </a:p>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Assessment:</a:t>
            </a:r>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 Core trust pattern.</a:t>
            </a:r>
            <a:endParaRPr lang="en-US" sz="844" dirty="0"/>
          </a:p>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Action:</a:t>
            </a:r>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 Redesign visual styling to match premium enterprise language while preserving interaction model.</a:t>
            </a:r>
            <a:endParaRPr lang="en-US" sz="844" dirty="0"/>
          </a:p>
        </p:txBody>
      </p:sp>
      <p:sp>
        <p:nvSpPr>
          <p:cNvPr id="22" name="Text 20"/>
          <p:cNvSpPr/>
          <p:nvPr/>
        </p:nvSpPr>
        <p:spPr>
          <a:xfrm>
            <a:off x="6010238" y="935831"/>
            <a:ext cx="2676451" cy="1988641"/>
          </a:xfrm>
          <a:prstGeom prst="roundRect">
            <a:avLst>
              <a:gd name="adj" fmla="val 7664"/>
            </a:avLst>
          </a:prstGeom>
          <a:solidFill>
            <a:srgbClr val="161C2A">
              <a:alpha val="70000"/>
            </a:srgbClr>
          </a:solidFill>
          <a:ln/>
        </p:spPr>
        <p:txBody>
          <a:bodyPr wrap="square" rtlCol="0" anchor="ctr"/>
          <a:lstStyle/>
          <a:p>
            <a:pPr indent="0" marL="0">
              <a:buNone/>
            </a:pPr>
            <a:endParaRPr lang="en-US" dirty="0"/>
          </a:p>
        </p:txBody>
      </p:sp>
      <p:sp>
        <p:nvSpPr>
          <p:cNvPr id="23" name="Shape 21"/>
          <p:cNvSpPr/>
          <p:nvPr/>
        </p:nvSpPr>
        <p:spPr>
          <a:xfrm>
            <a:off x="6010238" y="946547"/>
            <a:ext cx="2676451" cy="0"/>
          </a:xfrm>
          <a:prstGeom prst="line">
            <a:avLst/>
          </a:prstGeom>
          <a:noFill/>
          <a:ln w="21431">
            <a:solidFill>
              <a:srgbClr val="22C55E"/>
            </a:solidFill>
            <a:prstDash val="solid"/>
          </a:ln>
        </p:spPr>
      </p:sp>
      <p:sp>
        <p:nvSpPr>
          <p:cNvPr id="24" name="Shape 22"/>
          <p:cNvSpPr/>
          <p:nvPr/>
        </p:nvSpPr>
        <p:spPr>
          <a:xfrm>
            <a:off x="8683117" y="935831"/>
            <a:ext cx="0" cy="1988641"/>
          </a:xfrm>
          <a:prstGeom prst="line">
            <a:avLst/>
          </a:prstGeom>
          <a:noFill/>
          <a:ln w="7144">
            <a:solidFill>
              <a:srgbClr val="252E42"/>
            </a:solidFill>
            <a:prstDash val="solid"/>
          </a:ln>
        </p:spPr>
      </p:sp>
      <p:sp>
        <p:nvSpPr>
          <p:cNvPr id="25" name="Shape 23"/>
          <p:cNvSpPr/>
          <p:nvPr/>
        </p:nvSpPr>
        <p:spPr>
          <a:xfrm>
            <a:off x="6010238" y="2920901"/>
            <a:ext cx="2676451" cy="0"/>
          </a:xfrm>
          <a:prstGeom prst="line">
            <a:avLst/>
          </a:prstGeom>
          <a:noFill/>
          <a:ln w="7144">
            <a:solidFill>
              <a:srgbClr val="252E42"/>
            </a:solidFill>
            <a:prstDash val="solid"/>
          </a:ln>
        </p:spPr>
      </p:sp>
      <p:sp>
        <p:nvSpPr>
          <p:cNvPr id="26" name="Shape 24"/>
          <p:cNvSpPr/>
          <p:nvPr/>
        </p:nvSpPr>
        <p:spPr>
          <a:xfrm>
            <a:off x="6013810" y="935831"/>
            <a:ext cx="0" cy="1988641"/>
          </a:xfrm>
          <a:prstGeom prst="line">
            <a:avLst/>
          </a:prstGeom>
          <a:noFill/>
          <a:ln w="7144">
            <a:solidFill>
              <a:srgbClr val="252E42"/>
            </a:solidFill>
            <a:prstDash val="solid"/>
          </a:ln>
        </p:spPr>
      </p:sp>
      <p:sp>
        <p:nvSpPr>
          <p:cNvPr id="27" name="Text 25"/>
          <p:cNvSpPr/>
          <p:nvPr/>
        </p:nvSpPr>
        <p:spPr>
          <a:xfrm>
            <a:off x="6188832" y="1215777"/>
            <a:ext cx="1212047" cy="185166"/>
          </a:xfrm>
          <a:prstGeom prst="rect">
            <a:avLst/>
          </a:prstGeom>
          <a:noFill/>
          <a:ln/>
        </p:spPr>
        <p:txBody>
          <a:bodyPr wrap="none" lIns="0" tIns="0" rIns="0" bIns="0" rtlCol="0" anchor="t"/>
          <a:lstStyle/>
          <a:p>
            <a:pPr algn="l" indent="0" marL="0">
              <a:lnSpc>
                <a:spcPts val="1350"/>
              </a:lnSpc>
              <a:buNone/>
            </a:pPr>
            <a:r>
              <a:rPr lang="en-US" sz="900" dirty="0">
                <a:solidFill>
                  <a:srgbClr val="E8ECF4"/>
                </a:solidFill>
                <a:latin typeface="Carlito" pitchFamily="34" charset="0"/>
                <a:ea typeface="Carlito" pitchFamily="34" charset="-122"/>
                <a:cs typeface="Carlito" pitchFamily="34" charset="-120"/>
              </a:rPr>
              <a:t>InlineReasoning</a:t>
            </a:r>
            <a:endParaRPr lang="en-US" sz="900" dirty="0"/>
          </a:p>
        </p:txBody>
      </p:sp>
      <p:sp>
        <p:nvSpPr>
          <p:cNvPr id="28" name="Text 26"/>
          <p:cNvSpPr/>
          <p:nvPr/>
        </p:nvSpPr>
        <p:spPr>
          <a:xfrm>
            <a:off x="7226573" y="1132284"/>
            <a:ext cx="1277950" cy="338435"/>
          </a:xfrm>
          <a:prstGeom prst="roundRect">
            <a:avLst>
              <a:gd name="adj" fmla="val 28141438"/>
            </a:avLst>
          </a:prstGeom>
          <a:solidFill>
            <a:srgbClr val="22C55E">
              <a:alpha val="15000"/>
            </a:srgbClr>
          </a:solidFill>
          <a:ln w="7144">
            <a:solidFill>
              <a:srgbClr val="22C55E"/>
            </a:solidFill>
            <a:prstDash val="solid"/>
          </a:ln>
        </p:spPr>
        <p:txBody>
          <a:bodyPr wrap="square" rtlCol="0" anchor="ctr"/>
          <a:lstStyle/>
          <a:p>
            <a:pPr indent="0" marL="0">
              <a:buNone/>
            </a:pPr>
            <a:endParaRPr lang="en-US" dirty="0"/>
          </a:p>
        </p:txBody>
      </p:sp>
      <p:sp>
        <p:nvSpPr>
          <p:cNvPr id="29" name="Text 27"/>
          <p:cNvSpPr/>
          <p:nvPr/>
        </p:nvSpPr>
        <p:spPr>
          <a:xfrm>
            <a:off x="7223001" y="1128713"/>
            <a:ext cx="1285094" cy="414695"/>
          </a:xfrm>
          <a:prstGeom prst="rect">
            <a:avLst/>
          </a:prstGeom>
          <a:noFill/>
          <a:ln/>
        </p:spPr>
        <p:txBody>
          <a:bodyPr wrap="none" lIns="85725" tIns="28575" rIns="85725" bIns="28575" rtlCol="0" anchor="t"/>
          <a:lstStyle/>
          <a:p>
            <a:pPr algn="l" indent="0" marL="0">
              <a:lnSpc>
                <a:spcPts val="1080"/>
              </a:lnSpc>
              <a:buNone/>
            </a:pPr>
            <a:r>
              <a:rPr lang="en-US" sz="800" spc="36" kern="0" dirty="0">
                <a:solidFill>
                  <a:srgbClr val="4ADE80"/>
                </a:solidFill>
                <a:latin typeface="Carlito" pitchFamily="34" charset="0"/>
                <a:ea typeface="Carlito" pitchFamily="34" charset="-122"/>
                <a:cs typeface="Carlito" pitchFamily="34" charset="-120"/>
              </a:rPr>
              <a:t>EVALUATE → INCORPORATE</a:t>
            </a:r>
            <a:endParaRPr lang="en-US" sz="800" dirty="0"/>
          </a:p>
        </p:txBody>
      </p:sp>
      <p:sp>
        <p:nvSpPr>
          <p:cNvPr id="30" name="Text 28"/>
          <p:cNvSpPr/>
          <p:nvPr/>
        </p:nvSpPr>
        <p:spPr>
          <a:xfrm>
            <a:off x="6188832" y="1545729"/>
            <a:ext cx="2319263" cy="925830"/>
          </a:xfrm>
          <a:prstGeom prst="rect">
            <a:avLst/>
          </a:prstGeom>
          <a:noFill/>
          <a:ln/>
        </p:spPr>
        <p:txBody>
          <a:bodyPr wrap="square" lIns="0" tIns="0" rIns="0" bIns="0" rtlCol="0" anchor="t"/>
          <a:lstStyle/>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Existing:</a:t>
            </a:r>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 Reasoning text + positive/negative factor tags.</a:t>
            </a:r>
            <a:endParaRPr lang="en-US" sz="844" dirty="0"/>
          </a:p>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Assessment:</a:t>
            </a:r>
            <a:pPr algn="l" indent="0" marL="0">
              <a:lnSpc>
                <a:spcPts val="1350"/>
              </a:lnSpc>
              <a:buNone/>
            </a:pPr>
            <a:r>
              <a:rPr lang="en-US" sz="844" dirty="0">
                <a:solidFill>
                  <a:srgbClr val="8B95AD"/>
                </a:solidFill>
                <a:latin typeface="Liberation Sans Narrow" pitchFamily="34" charset="0"/>
                <a:ea typeface="Liberation Sans Narrow" pitchFamily="34" charset="-122"/>
                <a:cs typeface="Liberation Sans Narrow" pitchFamily="34" charset="-120"/>
              </a:rPr>
              <a:t> Key L2 surface.</a:t>
            </a:r>
            <a:endParaRPr lang="en-US" sz="844" dirty="0"/>
          </a:p>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Action:</a:t>
            </a:r>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 Refine factor visualization, add expand-to-evidence link pattern.</a:t>
            </a:r>
            <a:endParaRPr lang="en-US" sz="844" dirty="0"/>
          </a:p>
        </p:txBody>
      </p:sp>
      <p:sp>
        <p:nvSpPr>
          <p:cNvPr id="31" name="Text 29"/>
          <p:cNvSpPr/>
          <p:nvPr/>
        </p:nvSpPr>
        <p:spPr>
          <a:xfrm>
            <a:off x="457200" y="3024485"/>
            <a:ext cx="2676451" cy="1988641"/>
          </a:xfrm>
          <a:prstGeom prst="roundRect">
            <a:avLst>
              <a:gd name="adj" fmla="val 7664"/>
            </a:avLst>
          </a:prstGeom>
          <a:solidFill>
            <a:srgbClr val="161C2A">
              <a:alpha val="70000"/>
            </a:srgbClr>
          </a:solidFill>
          <a:ln/>
        </p:spPr>
        <p:txBody>
          <a:bodyPr wrap="square" rtlCol="0" anchor="ctr"/>
          <a:lstStyle/>
          <a:p>
            <a:pPr indent="0" marL="0">
              <a:buNone/>
            </a:pPr>
            <a:endParaRPr lang="en-US" dirty="0"/>
          </a:p>
        </p:txBody>
      </p:sp>
      <p:sp>
        <p:nvSpPr>
          <p:cNvPr id="32" name="Shape 30"/>
          <p:cNvSpPr/>
          <p:nvPr/>
        </p:nvSpPr>
        <p:spPr>
          <a:xfrm>
            <a:off x="457200" y="3035201"/>
            <a:ext cx="2676451" cy="0"/>
          </a:xfrm>
          <a:prstGeom prst="line">
            <a:avLst/>
          </a:prstGeom>
          <a:noFill/>
          <a:ln w="21431">
            <a:solidFill>
              <a:srgbClr val="F59E0B"/>
            </a:solidFill>
            <a:prstDash val="solid"/>
          </a:ln>
        </p:spPr>
      </p:sp>
      <p:sp>
        <p:nvSpPr>
          <p:cNvPr id="33" name="Shape 31"/>
          <p:cNvSpPr/>
          <p:nvPr/>
        </p:nvSpPr>
        <p:spPr>
          <a:xfrm>
            <a:off x="3130079" y="3024485"/>
            <a:ext cx="0" cy="1988641"/>
          </a:xfrm>
          <a:prstGeom prst="line">
            <a:avLst/>
          </a:prstGeom>
          <a:noFill/>
          <a:ln w="7144">
            <a:solidFill>
              <a:srgbClr val="252E42"/>
            </a:solidFill>
            <a:prstDash val="solid"/>
          </a:ln>
        </p:spPr>
      </p:sp>
      <p:sp>
        <p:nvSpPr>
          <p:cNvPr id="34" name="Shape 32"/>
          <p:cNvSpPr/>
          <p:nvPr/>
        </p:nvSpPr>
        <p:spPr>
          <a:xfrm>
            <a:off x="457200" y="5009555"/>
            <a:ext cx="2676451" cy="0"/>
          </a:xfrm>
          <a:prstGeom prst="line">
            <a:avLst/>
          </a:prstGeom>
          <a:noFill/>
          <a:ln w="7144">
            <a:solidFill>
              <a:srgbClr val="252E42"/>
            </a:solidFill>
            <a:prstDash val="solid"/>
          </a:ln>
        </p:spPr>
      </p:sp>
      <p:sp>
        <p:nvSpPr>
          <p:cNvPr id="35" name="Shape 33"/>
          <p:cNvSpPr/>
          <p:nvPr/>
        </p:nvSpPr>
        <p:spPr>
          <a:xfrm>
            <a:off x="460772" y="3024485"/>
            <a:ext cx="0" cy="1988641"/>
          </a:xfrm>
          <a:prstGeom prst="line">
            <a:avLst/>
          </a:prstGeom>
          <a:noFill/>
          <a:ln w="7144">
            <a:solidFill>
              <a:srgbClr val="252E42"/>
            </a:solidFill>
            <a:prstDash val="solid"/>
          </a:ln>
        </p:spPr>
      </p:sp>
      <p:sp>
        <p:nvSpPr>
          <p:cNvPr id="36" name="Text 34"/>
          <p:cNvSpPr/>
          <p:nvPr/>
        </p:nvSpPr>
        <p:spPr>
          <a:xfrm>
            <a:off x="635794" y="3304431"/>
            <a:ext cx="1603460" cy="185166"/>
          </a:xfrm>
          <a:prstGeom prst="rect">
            <a:avLst/>
          </a:prstGeom>
          <a:noFill/>
          <a:ln/>
        </p:spPr>
        <p:txBody>
          <a:bodyPr wrap="none" lIns="0" tIns="0" rIns="0" bIns="0" rtlCol="0" anchor="t"/>
          <a:lstStyle/>
          <a:p>
            <a:pPr algn="l" indent="0" marL="0">
              <a:lnSpc>
                <a:spcPts val="1350"/>
              </a:lnSpc>
              <a:buNone/>
            </a:pPr>
            <a:r>
              <a:rPr lang="en-US" sz="900" dirty="0">
                <a:solidFill>
                  <a:srgbClr val="E8ECF4"/>
                </a:solidFill>
                <a:latin typeface="Carlito" pitchFamily="34" charset="0"/>
                <a:ea typeface="Carlito" pitchFamily="34" charset="-122"/>
                <a:cs typeface="Carlito" pitchFamily="34" charset="-120"/>
              </a:rPr>
              <a:t>IntelligenceNarrative</a:t>
            </a:r>
            <a:endParaRPr lang="en-US" sz="900" dirty="0"/>
          </a:p>
        </p:txBody>
      </p:sp>
      <p:sp>
        <p:nvSpPr>
          <p:cNvPr id="37" name="Text 35"/>
          <p:cNvSpPr/>
          <p:nvPr/>
        </p:nvSpPr>
        <p:spPr>
          <a:xfrm>
            <a:off x="2007505" y="3220938"/>
            <a:ext cx="943980" cy="338435"/>
          </a:xfrm>
          <a:prstGeom prst="roundRect">
            <a:avLst>
              <a:gd name="adj" fmla="val 28141438"/>
            </a:avLst>
          </a:prstGeom>
          <a:solidFill>
            <a:srgbClr val="F59E0B">
              <a:alpha val="15000"/>
            </a:srgbClr>
          </a:solidFill>
          <a:ln w="7144">
            <a:solidFill>
              <a:srgbClr val="F59E0B"/>
            </a:solidFill>
            <a:prstDash val="solid"/>
          </a:ln>
        </p:spPr>
        <p:txBody>
          <a:bodyPr wrap="square" rtlCol="0" anchor="ctr"/>
          <a:lstStyle/>
          <a:p>
            <a:pPr indent="0" marL="0">
              <a:buNone/>
            </a:pPr>
            <a:endParaRPr lang="en-US" dirty="0"/>
          </a:p>
        </p:txBody>
      </p:sp>
      <p:sp>
        <p:nvSpPr>
          <p:cNvPr id="38" name="Text 36"/>
          <p:cNvSpPr/>
          <p:nvPr/>
        </p:nvSpPr>
        <p:spPr>
          <a:xfrm>
            <a:off x="2003933" y="3217366"/>
            <a:ext cx="951123" cy="414695"/>
          </a:xfrm>
          <a:prstGeom prst="rect">
            <a:avLst/>
          </a:prstGeom>
          <a:noFill/>
          <a:ln/>
        </p:spPr>
        <p:txBody>
          <a:bodyPr wrap="none" lIns="85725" tIns="28575" rIns="85725" bIns="28575" rtlCol="0" anchor="t"/>
          <a:lstStyle/>
          <a:p>
            <a:pPr algn="l" indent="0" marL="0">
              <a:lnSpc>
                <a:spcPts val="1080"/>
              </a:lnSpc>
              <a:buNone/>
            </a:pPr>
            <a:r>
              <a:rPr lang="en-US" sz="800" spc="36" kern="0" dirty="0">
                <a:solidFill>
                  <a:srgbClr val="FBBF24"/>
                </a:solidFill>
                <a:latin typeface="Carlito" pitchFamily="34" charset="0"/>
                <a:ea typeface="Carlito" pitchFamily="34" charset="-122"/>
                <a:cs typeface="Carlito" pitchFamily="34" charset="-120"/>
              </a:rPr>
              <a:t>EVALUATE → REDESIGN</a:t>
            </a:r>
            <a:endParaRPr lang="en-US" sz="800" dirty="0"/>
          </a:p>
        </p:txBody>
      </p:sp>
      <p:sp>
        <p:nvSpPr>
          <p:cNvPr id="39" name="Text 37"/>
          <p:cNvSpPr/>
          <p:nvPr/>
        </p:nvSpPr>
        <p:spPr>
          <a:xfrm>
            <a:off x="635794" y="3634383"/>
            <a:ext cx="2319263" cy="1110996"/>
          </a:xfrm>
          <a:prstGeom prst="rect">
            <a:avLst/>
          </a:prstGeom>
          <a:noFill/>
          <a:ln/>
        </p:spPr>
        <p:txBody>
          <a:bodyPr wrap="square" lIns="0" tIns="0" rIns="0" bIns="0" rtlCol="0" anchor="t"/>
          <a:lstStyle/>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Existing:</a:t>
            </a:r>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 811-line core narrative component, 6 variants, L1–L4 disclosure.</a:t>
            </a:r>
            <a:endParaRPr lang="en-US" sz="844" dirty="0"/>
          </a:p>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Assessment:</a:t>
            </a:r>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 Right pattern, wrong complexity.</a:t>
            </a:r>
            <a:endParaRPr lang="en-US" sz="844" dirty="0"/>
          </a:p>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Action:</a:t>
            </a:r>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 Decompose into composable atoms, reduce API surface.</a:t>
            </a:r>
            <a:endParaRPr lang="en-US" sz="844" dirty="0"/>
          </a:p>
        </p:txBody>
      </p:sp>
      <p:sp>
        <p:nvSpPr>
          <p:cNvPr id="40" name="Text 38"/>
          <p:cNvSpPr/>
          <p:nvPr/>
        </p:nvSpPr>
        <p:spPr>
          <a:xfrm>
            <a:off x="3233663" y="3024485"/>
            <a:ext cx="2676562" cy="1988641"/>
          </a:xfrm>
          <a:prstGeom prst="roundRect">
            <a:avLst>
              <a:gd name="adj" fmla="val 7664"/>
            </a:avLst>
          </a:prstGeom>
          <a:solidFill>
            <a:srgbClr val="161C2A">
              <a:alpha val="70000"/>
            </a:srgbClr>
          </a:solidFill>
          <a:ln/>
        </p:spPr>
        <p:txBody>
          <a:bodyPr wrap="square" rtlCol="0" anchor="ctr"/>
          <a:lstStyle/>
          <a:p>
            <a:pPr indent="0" marL="0">
              <a:buNone/>
            </a:pPr>
            <a:endParaRPr lang="en-US" dirty="0"/>
          </a:p>
        </p:txBody>
      </p:sp>
      <p:sp>
        <p:nvSpPr>
          <p:cNvPr id="41" name="Shape 39"/>
          <p:cNvSpPr/>
          <p:nvPr/>
        </p:nvSpPr>
        <p:spPr>
          <a:xfrm>
            <a:off x="3233663" y="3035201"/>
            <a:ext cx="2676562" cy="0"/>
          </a:xfrm>
          <a:prstGeom prst="line">
            <a:avLst/>
          </a:prstGeom>
          <a:noFill/>
          <a:ln w="21431">
            <a:solidFill>
              <a:srgbClr val="06B6D4"/>
            </a:solidFill>
            <a:prstDash val="solid"/>
          </a:ln>
        </p:spPr>
      </p:sp>
      <p:sp>
        <p:nvSpPr>
          <p:cNvPr id="42" name="Shape 40"/>
          <p:cNvSpPr/>
          <p:nvPr/>
        </p:nvSpPr>
        <p:spPr>
          <a:xfrm>
            <a:off x="5906653" y="3024485"/>
            <a:ext cx="0" cy="1988641"/>
          </a:xfrm>
          <a:prstGeom prst="line">
            <a:avLst/>
          </a:prstGeom>
          <a:noFill/>
          <a:ln w="7144">
            <a:solidFill>
              <a:srgbClr val="252E42"/>
            </a:solidFill>
            <a:prstDash val="solid"/>
          </a:ln>
        </p:spPr>
      </p:sp>
      <p:sp>
        <p:nvSpPr>
          <p:cNvPr id="43" name="Shape 41"/>
          <p:cNvSpPr/>
          <p:nvPr/>
        </p:nvSpPr>
        <p:spPr>
          <a:xfrm>
            <a:off x="3233663" y="5009555"/>
            <a:ext cx="2676562" cy="0"/>
          </a:xfrm>
          <a:prstGeom prst="line">
            <a:avLst/>
          </a:prstGeom>
          <a:noFill/>
          <a:ln w="7144">
            <a:solidFill>
              <a:srgbClr val="252E42"/>
            </a:solidFill>
            <a:prstDash val="solid"/>
          </a:ln>
        </p:spPr>
      </p:sp>
      <p:sp>
        <p:nvSpPr>
          <p:cNvPr id="44" name="Shape 42"/>
          <p:cNvSpPr/>
          <p:nvPr/>
        </p:nvSpPr>
        <p:spPr>
          <a:xfrm>
            <a:off x="3237235" y="3024485"/>
            <a:ext cx="0" cy="1988641"/>
          </a:xfrm>
          <a:prstGeom prst="line">
            <a:avLst/>
          </a:prstGeom>
          <a:noFill/>
          <a:ln w="7144">
            <a:solidFill>
              <a:srgbClr val="252E42"/>
            </a:solidFill>
            <a:prstDash val="solid"/>
          </a:ln>
        </p:spPr>
      </p:sp>
      <p:sp>
        <p:nvSpPr>
          <p:cNvPr id="45" name="Text 43"/>
          <p:cNvSpPr/>
          <p:nvPr/>
        </p:nvSpPr>
        <p:spPr>
          <a:xfrm>
            <a:off x="3412257" y="3304431"/>
            <a:ext cx="1504172" cy="185166"/>
          </a:xfrm>
          <a:prstGeom prst="rect">
            <a:avLst/>
          </a:prstGeom>
          <a:noFill/>
          <a:ln/>
        </p:spPr>
        <p:txBody>
          <a:bodyPr wrap="none" lIns="0" tIns="0" rIns="0" bIns="0" rtlCol="0" anchor="t"/>
          <a:lstStyle/>
          <a:p>
            <a:pPr algn="l" indent="0" marL="0">
              <a:lnSpc>
                <a:spcPts val="1350"/>
              </a:lnSpc>
              <a:buNone/>
            </a:pPr>
            <a:r>
              <a:rPr lang="en-US" sz="900" dirty="0">
                <a:solidFill>
                  <a:srgbClr val="E8ECF4"/>
                </a:solidFill>
                <a:latin typeface="Carlito" pitchFamily="34" charset="0"/>
                <a:ea typeface="Carlito" pitchFamily="34" charset="-122"/>
                <a:cs typeface="Carlito" pitchFamily="34" charset="-120"/>
              </a:rPr>
              <a:t>ProgressiveDisclosure</a:t>
            </a:r>
            <a:endParaRPr lang="en-US" sz="900" dirty="0"/>
          </a:p>
        </p:txBody>
      </p:sp>
      <p:sp>
        <p:nvSpPr>
          <p:cNvPr id="46" name="Text 44"/>
          <p:cNvSpPr/>
          <p:nvPr/>
        </p:nvSpPr>
        <p:spPr>
          <a:xfrm>
            <a:off x="4848374" y="3220938"/>
            <a:ext cx="879686" cy="338435"/>
          </a:xfrm>
          <a:prstGeom prst="roundRect">
            <a:avLst>
              <a:gd name="adj" fmla="val 28141438"/>
            </a:avLst>
          </a:prstGeom>
          <a:solidFill>
            <a:srgbClr val="F59E0B">
              <a:alpha val="15000"/>
            </a:srgbClr>
          </a:solidFill>
          <a:ln w="7144">
            <a:solidFill>
              <a:srgbClr val="F59E0B"/>
            </a:solidFill>
            <a:prstDash val="solid"/>
          </a:ln>
        </p:spPr>
        <p:txBody>
          <a:bodyPr wrap="square" rtlCol="0" anchor="ctr"/>
          <a:lstStyle/>
          <a:p>
            <a:pPr indent="0" marL="0">
              <a:buNone/>
            </a:pPr>
            <a:endParaRPr lang="en-US" dirty="0"/>
          </a:p>
        </p:txBody>
      </p:sp>
      <p:sp>
        <p:nvSpPr>
          <p:cNvPr id="47" name="Text 45"/>
          <p:cNvSpPr/>
          <p:nvPr/>
        </p:nvSpPr>
        <p:spPr>
          <a:xfrm>
            <a:off x="4844802" y="3217366"/>
            <a:ext cx="886830" cy="414695"/>
          </a:xfrm>
          <a:prstGeom prst="rect">
            <a:avLst/>
          </a:prstGeom>
          <a:noFill/>
          <a:ln/>
        </p:spPr>
        <p:txBody>
          <a:bodyPr wrap="none" lIns="85725" tIns="28575" rIns="85725" bIns="28575" rtlCol="0" anchor="t"/>
          <a:lstStyle/>
          <a:p>
            <a:pPr algn="l" indent="0" marL="0">
              <a:lnSpc>
                <a:spcPts val="1080"/>
              </a:lnSpc>
              <a:buNone/>
            </a:pPr>
            <a:r>
              <a:rPr lang="en-US" sz="800" spc="36" kern="0" dirty="0">
                <a:solidFill>
                  <a:srgbClr val="FBBF24"/>
                </a:solidFill>
                <a:latin typeface="Carlito" pitchFamily="34" charset="0"/>
                <a:ea typeface="Carlito" pitchFamily="34" charset="-122"/>
                <a:cs typeface="Carlito" pitchFamily="34" charset="-120"/>
              </a:rPr>
              <a:t>EVALUATE → REDESIGN</a:t>
            </a:r>
            <a:endParaRPr lang="en-US" sz="800" dirty="0"/>
          </a:p>
        </p:txBody>
      </p:sp>
      <p:sp>
        <p:nvSpPr>
          <p:cNvPr id="48" name="Text 46"/>
          <p:cNvSpPr/>
          <p:nvPr/>
        </p:nvSpPr>
        <p:spPr>
          <a:xfrm>
            <a:off x="3412257" y="3634383"/>
            <a:ext cx="2319375" cy="1110996"/>
          </a:xfrm>
          <a:prstGeom prst="rect">
            <a:avLst/>
          </a:prstGeom>
          <a:noFill/>
          <a:ln/>
        </p:spPr>
        <p:txBody>
          <a:bodyPr wrap="square" lIns="0" tIns="0" rIns="0" bIns="0" rtlCol="0" anchor="t"/>
          <a:lstStyle/>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Existing:</a:t>
            </a:r>
            <a:pPr algn="l" indent="0" marL="0">
              <a:lnSpc>
                <a:spcPts val="1350"/>
              </a:lnSpc>
              <a:buNone/>
            </a:pPr>
            <a:r>
              <a:rPr lang="en-US" sz="844" dirty="0">
                <a:solidFill>
                  <a:srgbClr val="8B95AD"/>
                </a:solidFill>
                <a:latin typeface="Liberation Sans Narrow" pitchFamily="34" charset="0"/>
                <a:ea typeface="Liberation Sans Narrow" pitchFamily="34" charset="-122"/>
                <a:cs typeface="Liberation Sans Narrow" pitchFamily="34" charset="-120"/>
              </a:rPr>
              <a:t> 4-level standalone disclosure.</a:t>
            </a:r>
            <a:endParaRPr lang="en-US" sz="844" dirty="0"/>
          </a:p>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Assessment:</a:t>
            </a:r>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 Concept aligns, but uses inline Tailwind colors instead of design tokens.</a:t>
            </a:r>
            <a:endParaRPr lang="en-US" sz="844" dirty="0"/>
          </a:p>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Action:</a:t>
            </a:r>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 Unify with token system, merge with IntelligenceNarrative pattern.</a:t>
            </a:r>
            <a:endParaRPr lang="en-US" sz="844" dirty="0"/>
          </a:p>
        </p:txBody>
      </p:sp>
      <p:sp>
        <p:nvSpPr>
          <p:cNvPr id="49" name="Text 47"/>
          <p:cNvSpPr/>
          <p:nvPr/>
        </p:nvSpPr>
        <p:spPr>
          <a:xfrm>
            <a:off x="6010238" y="3024485"/>
            <a:ext cx="2676451" cy="1988641"/>
          </a:xfrm>
          <a:prstGeom prst="roundRect">
            <a:avLst>
              <a:gd name="adj" fmla="val 7664"/>
            </a:avLst>
          </a:prstGeom>
          <a:solidFill>
            <a:srgbClr val="161C2A">
              <a:alpha val="70000"/>
            </a:srgbClr>
          </a:solidFill>
          <a:ln/>
        </p:spPr>
        <p:txBody>
          <a:bodyPr wrap="square" rtlCol="0" anchor="ctr"/>
          <a:lstStyle/>
          <a:p>
            <a:pPr indent="0" marL="0">
              <a:buNone/>
            </a:pPr>
            <a:endParaRPr lang="en-US" dirty="0"/>
          </a:p>
        </p:txBody>
      </p:sp>
      <p:sp>
        <p:nvSpPr>
          <p:cNvPr id="50" name="Shape 48"/>
          <p:cNvSpPr/>
          <p:nvPr/>
        </p:nvSpPr>
        <p:spPr>
          <a:xfrm>
            <a:off x="6010238" y="3035201"/>
            <a:ext cx="2676451" cy="0"/>
          </a:xfrm>
          <a:prstGeom prst="line">
            <a:avLst/>
          </a:prstGeom>
          <a:noFill/>
          <a:ln w="21431">
            <a:solidFill>
              <a:srgbClr val="EF4444"/>
            </a:solidFill>
            <a:prstDash val="solid"/>
          </a:ln>
        </p:spPr>
      </p:sp>
      <p:sp>
        <p:nvSpPr>
          <p:cNvPr id="51" name="Shape 49"/>
          <p:cNvSpPr/>
          <p:nvPr/>
        </p:nvSpPr>
        <p:spPr>
          <a:xfrm>
            <a:off x="8683117" y="3024485"/>
            <a:ext cx="0" cy="1988641"/>
          </a:xfrm>
          <a:prstGeom prst="line">
            <a:avLst/>
          </a:prstGeom>
          <a:noFill/>
          <a:ln w="7144">
            <a:solidFill>
              <a:srgbClr val="252E42"/>
            </a:solidFill>
            <a:prstDash val="solid"/>
          </a:ln>
        </p:spPr>
      </p:sp>
      <p:sp>
        <p:nvSpPr>
          <p:cNvPr id="52" name="Shape 50"/>
          <p:cNvSpPr/>
          <p:nvPr/>
        </p:nvSpPr>
        <p:spPr>
          <a:xfrm>
            <a:off x="6010238" y="5009555"/>
            <a:ext cx="2676451" cy="0"/>
          </a:xfrm>
          <a:prstGeom prst="line">
            <a:avLst/>
          </a:prstGeom>
          <a:noFill/>
          <a:ln w="7144">
            <a:solidFill>
              <a:srgbClr val="252E42"/>
            </a:solidFill>
            <a:prstDash val="solid"/>
          </a:ln>
        </p:spPr>
      </p:sp>
      <p:sp>
        <p:nvSpPr>
          <p:cNvPr id="53" name="Shape 51"/>
          <p:cNvSpPr/>
          <p:nvPr/>
        </p:nvSpPr>
        <p:spPr>
          <a:xfrm>
            <a:off x="6013810" y="3024485"/>
            <a:ext cx="0" cy="1988641"/>
          </a:xfrm>
          <a:prstGeom prst="line">
            <a:avLst/>
          </a:prstGeom>
          <a:noFill/>
          <a:ln w="7144">
            <a:solidFill>
              <a:srgbClr val="252E42"/>
            </a:solidFill>
            <a:prstDash val="solid"/>
          </a:ln>
        </p:spPr>
      </p:sp>
      <p:sp>
        <p:nvSpPr>
          <p:cNvPr id="54" name="Text 52"/>
          <p:cNvSpPr/>
          <p:nvPr/>
        </p:nvSpPr>
        <p:spPr>
          <a:xfrm>
            <a:off x="6188832" y="3304431"/>
            <a:ext cx="1491866" cy="185166"/>
          </a:xfrm>
          <a:prstGeom prst="rect">
            <a:avLst/>
          </a:prstGeom>
          <a:noFill/>
          <a:ln/>
        </p:spPr>
        <p:txBody>
          <a:bodyPr wrap="none" lIns="0" tIns="0" rIns="0" bIns="0" rtlCol="0" anchor="t"/>
          <a:lstStyle/>
          <a:p>
            <a:pPr algn="l" indent="0" marL="0">
              <a:lnSpc>
                <a:spcPts val="1350"/>
              </a:lnSpc>
              <a:buNone/>
            </a:pPr>
            <a:r>
              <a:rPr lang="en-US" sz="900" dirty="0">
                <a:solidFill>
                  <a:srgbClr val="E8ECF4"/>
                </a:solidFill>
                <a:latin typeface="Carlito" pitchFamily="34" charset="0"/>
                <a:ea typeface="Carlito" pitchFamily="34" charset="-122"/>
                <a:cs typeface="Carlito" pitchFamily="34" charset="-120"/>
              </a:rPr>
              <a:t>RecommendationCard</a:t>
            </a:r>
            <a:endParaRPr lang="en-US" sz="900" dirty="0"/>
          </a:p>
        </p:txBody>
      </p:sp>
      <p:sp>
        <p:nvSpPr>
          <p:cNvPr id="55" name="Text 53"/>
          <p:cNvSpPr/>
          <p:nvPr/>
        </p:nvSpPr>
        <p:spPr>
          <a:xfrm>
            <a:off x="7613228" y="3220938"/>
            <a:ext cx="891294" cy="338435"/>
          </a:xfrm>
          <a:prstGeom prst="roundRect">
            <a:avLst>
              <a:gd name="adj" fmla="val 28141438"/>
            </a:avLst>
          </a:prstGeom>
          <a:solidFill>
            <a:srgbClr val="F59E0B">
              <a:alpha val="15000"/>
            </a:srgbClr>
          </a:solidFill>
          <a:ln w="7144">
            <a:solidFill>
              <a:srgbClr val="F59E0B"/>
            </a:solidFill>
            <a:prstDash val="solid"/>
          </a:ln>
        </p:spPr>
        <p:txBody>
          <a:bodyPr wrap="square" rtlCol="0" anchor="ctr"/>
          <a:lstStyle/>
          <a:p>
            <a:pPr indent="0" marL="0">
              <a:buNone/>
            </a:pPr>
            <a:endParaRPr lang="en-US" dirty="0"/>
          </a:p>
        </p:txBody>
      </p:sp>
      <p:sp>
        <p:nvSpPr>
          <p:cNvPr id="56" name="Text 54"/>
          <p:cNvSpPr/>
          <p:nvPr/>
        </p:nvSpPr>
        <p:spPr>
          <a:xfrm>
            <a:off x="7609656" y="3217366"/>
            <a:ext cx="898438" cy="414695"/>
          </a:xfrm>
          <a:prstGeom prst="rect">
            <a:avLst/>
          </a:prstGeom>
          <a:noFill/>
          <a:ln/>
        </p:spPr>
        <p:txBody>
          <a:bodyPr wrap="none" lIns="85725" tIns="28575" rIns="85725" bIns="28575" rtlCol="0" anchor="t"/>
          <a:lstStyle/>
          <a:p>
            <a:pPr algn="l" indent="0" marL="0">
              <a:lnSpc>
                <a:spcPts val="1080"/>
              </a:lnSpc>
              <a:buNone/>
            </a:pPr>
            <a:r>
              <a:rPr lang="en-US" sz="800" spc="36" kern="0" dirty="0">
                <a:solidFill>
                  <a:srgbClr val="FBBF24"/>
                </a:solidFill>
                <a:latin typeface="Carlito" pitchFamily="34" charset="0"/>
                <a:ea typeface="Carlito" pitchFamily="34" charset="-122"/>
                <a:cs typeface="Carlito" pitchFamily="34" charset="-120"/>
              </a:rPr>
              <a:t>EVALUATE → REDESIGN</a:t>
            </a:r>
            <a:endParaRPr lang="en-US" sz="800" dirty="0"/>
          </a:p>
        </p:txBody>
      </p:sp>
      <p:sp>
        <p:nvSpPr>
          <p:cNvPr id="57" name="Text 55"/>
          <p:cNvSpPr/>
          <p:nvPr/>
        </p:nvSpPr>
        <p:spPr>
          <a:xfrm>
            <a:off x="6188832" y="3634383"/>
            <a:ext cx="2319263" cy="1200150"/>
          </a:xfrm>
          <a:prstGeom prst="rect">
            <a:avLst/>
          </a:prstGeom>
          <a:noFill/>
          <a:ln/>
        </p:spPr>
        <p:txBody>
          <a:bodyPr wrap="square" lIns="0" tIns="0" rIns="0" bIns="0" rtlCol="0" anchor="t"/>
          <a:lstStyle/>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Existing:</a:t>
            </a:r>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 524-line account recommendation display, fetches its own data.</a:t>
            </a:r>
            <a:endParaRPr lang="en-US" sz="844" dirty="0"/>
          </a:p>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Assessment:</a:t>
            </a:r>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 Too monolithic, violates separation of concerns.</a:t>
            </a:r>
            <a:endParaRPr lang="en-US" sz="844" dirty="0"/>
          </a:p>
          <a:p>
            <a:pPr algn="l" indent="0" marL="0">
              <a:lnSpc>
                <a:spcPts val="1350"/>
              </a:lnSpc>
              <a:buNone/>
            </a:pPr>
            <a:r>
              <a:rPr lang="en-US" sz="844" b="1" dirty="0">
                <a:solidFill>
                  <a:srgbClr val="E8ECF4"/>
                </a:solidFill>
                <a:latin typeface="Carlito" pitchFamily="34" charset="0"/>
                <a:ea typeface="Carlito" pitchFamily="34" charset="-122"/>
                <a:cs typeface="Carlito" pitchFamily="34" charset="-120"/>
              </a:rPr>
              <a:t>Action:</a:t>
            </a:r>
            <a:pPr algn="l" indent="0" marL="0">
              <a:lnSpc>
                <a:spcPts val="1350"/>
              </a:lnSpc>
              <a:buNone/>
            </a:pPr>
            <a:r>
              <a:rPr lang="en-US" sz="844" dirty="0">
                <a:solidFill>
                  <a:srgbClr val="8B95AD"/>
                </a:solidFill>
                <a:latin typeface="Carlito" pitchFamily="34" charset="0"/>
                <a:ea typeface="Carlito" pitchFamily="34" charset="-122"/>
                <a:cs typeface="Carlito" pitchFamily="34" charset="-120"/>
              </a:rPr>
              <a:t> Split into data layer and presentation layer.</a:t>
            </a:r>
            <a:endParaRPr lang="en-US" sz="844"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428625" y="1587364"/>
            <a:ext cx="4892792" cy="1110996"/>
          </a:xfrm>
          <a:prstGeom prst="rect">
            <a:avLst/>
          </a:prstGeom>
          <a:noFill/>
          <a:ln/>
        </p:spPr>
        <p:txBody>
          <a:bodyPr wrap="none" lIns="0" tIns="0" rIns="0" bIns="0" rtlCol="0" anchor="t"/>
          <a:lstStyle/>
          <a:p>
            <a:pPr algn="l" indent="0" marL="0">
              <a:lnSpc>
                <a:spcPts val="8100"/>
              </a:lnSpc>
              <a:buNone/>
            </a:pPr>
            <a:r>
              <a:rPr lang="en-US" sz="8100" b="1" dirty="0">
                <a:solidFill>
                  <a:srgbClr val="3B82F6">
                    <a:alpha val="12000"/>
                  </a:srgbClr>
                </a:solidFill>
                <a:latin typeface="Liberation Sans Narrow" pitchFamily="34" charset="0"/>
                <a:ea typeface="Liberation Sans Narrow" pitchFamily="34" charset="-122"/>
                <a:cs typeface="Liberation Sans Narrow" pitchFamily="34" charset="-120"/>
              </a:rPr>
              <a:t>06–07</a:t>
            </a:r>
            <a:endParaRPr lang="en-US" sz="8100" dirty="0"/>
          </a:p>
        </p:txBody>
      </p:sp>
      <p:sp>
        <p:nvSpPr>
          <p:cNvPr id="5" name="Text 1"/>
          <p:cNvSpPr/>
          <p:nvPr/>
        </p:nvSpPr>
        <p:spPr>
          <a:xfrm>
            <a:off x="571500" y="2015989"/>
            <a:ext cx="8572500" cy="390343"/>
          </a:xfrm>
          <a:prstGeom prst="rect">
            <a:avLst/>
          </a:prstGeom>
          <a:noFill/>
          <a:ln/>
        </p:spPr>
        <p:txBody>
          <a:bodyPr wrap="square" lIns="0" tIns="0" rIns="0" bIns="0" rtlCol="0" anchor="t"/>
          <a:lstStyle/>
          <a:p>
            <a:pPr algn="l" indent="0" marL="0">
              <a:lnSpc>
                <a:spcPts val="2846"/>
              </a:lnSpc>
              <a:buNone/>
            </a:pPr>
            <a:r>
              <a:rPr lang="en-US" sz="2475" b="1" dirty="0">
                <a:solidFill>
                  <a:srgbClr val="E8ECF4"/>
                </a:solidFill>
                <a:latin typeface="Carlito" pitchFamily="34" charset="0"/>
                <a:ea typeface="Carlito" pitchFamily="34" charset="-122"/>
                <a:cs typeface="Carlito" pitchFamily="34" charset="-120"/>
              </a:rPr>
              <a:t>Emotional Experience &amp; Design DNA</a:t>
            </a:r>
            <a:endParaRPr lang="en-US" sz="2475" dirty="0"/>
          </a:p>
        </p:txBody>
      </p:sp>
      <p:sp>
        <p:nvSpPr>
          <p:cNvPr id="6" name="Text 2"/>
          <p:cNvSpPr/>
          <p:nvPr/>
        </p:nvSpPr>
        <p:spPr>
          <a:xfrm>
            <a:off x="571500" y="2491718"/>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7" name="Text 3"/>
          <p:cNvSpPr/>
          <p:nvPr/>
        </p:nvSpPr>
        <p:spPr>
          <a:xfrm>
            <a:off x="571500" y="2656024"/>
            <a:ext cx="4572000" cy="509207"/>
          </a:xfrm>
          <a:prstGeom prst="rect">
            <a:avLst/>
          </a:prstGeom>
          <a:noFill/>
          <a:ln/>
        </p:spPr>
        <p:txBody>
          <a:bodyPr wrap="square" lIns="0" tIns="0" rIns="0" bIns="0" rtlCol="0" anchor="t"/>
          <a:lstStyle/>
          <a:p>
            <a:pPr algn="l" indent="0" marL="0">
              <a:lnSpc>
                <a:spcPts val="1856"/>
              </a:lnSpc>
              <a:buNone/>
            </a:pPr>
            <a:r>
              <a:rPr lang="en-US" sz="1238" dirty="0">
                <a:solidFill>
                  <a:srgbClr val="8B95AD"/>
                </a:solidFill>
                <a:latin typeface="Carlito" pitchFamily="34" charset="0"/>
                <a:ea typeface="Carlito" pitchFamily="34" charset="-122"/>
                <a:cs typeface="Carlito" pitchFamily="34" charset="-120"/>
              </a:rPr>
              <a:t>Human-Centered Design · Premium Enterprise Visual Language</a:t>
            </a:r>
            <a:endParaRPr lang="en-US" sz="1238"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0" y="-428625"/>
            <a:ext cx="3561344" cy="2221992"/>
          </a:xfrm>
          <a:prstGeom prst="rect">
            <a:avLst/>
          </a:prstGeom>
          <a:noFill/>
          <a:ln/>
        </p:spPr>
        <p:txBody>
          <a:bodyPr wrap="none" lIns="0" tIns="0" rIns="0" bIns="0" rtlCol="0" anchor="t"/>
          <a:lstStyle/>
          <a:p>
            <a:pPr algn="l" indent="0" marL="0">
              <a:lnSpc>
                <a:spcPts val="16200"/>
              </a:lnSpc>
              <a:buNone/>
            </a:pPr>
            <a:r>
              <a:rPr lang="en-US" sz="16200" b="1" dirty="0">
                <a:solidFill>
                  <a:srgbClr val="3B82F6">
                    <a:alpha val="4000"/>
                  </a:srgbClr>
                </a:solidFill>
                <a:latin typeface="Liberation Sans Narrow" pitchFamily="34" charset="0"/>
                <a:ea typeface="Liberation Sans Narrow" pitchFamily="34" charset="-122"/>
                <a:cs typeface="Liberation Sans Narrow" pitchFamily="34" charset="-120"/>
              </a:rPr>
              <a:t>06</a:t>
            </a:r>
            <a:endParaRPr lang="en-US" sz="16200" dirty="0"/>
          </a:p>
        </p:txBody>
      </p:sp>
      <p:sp>
        <p:nvSpPr>
          <p:cNvPr id="5" name="Text 1"/>
          <p:cNvSpPr/>
          <p:nvPr/>
        </p:nvSpPr>
        <p:spPr>
          <a:xfrm>
            <a:off x="6242517" y="3829050"/>
            <a:ext cx="2901483" cy="1314450"/>
          </a:xfrm>
          <a:prstGeom prst="rect">
            <a:avLst/>
          </a:prstGeom>
          <a:noFill/>
          <a:ln/>
        </p:spPr>
        <p:txBody>
          <a:bodyPr wrap="none" lIns="0" tIns="0" rIns="0" bIns="0" rtlCol="0" anchor="t"/>
          <a:lstStyle/>
          <a:p>
            <a:pPr algn="l" indent="0" marL="0">
              <a:lnSpc>
                <a:spcPts val="12600"/>
              </a:lnSpc>
              <a:buNone/>
            </a:pPr>
            <a:r>
              <a:rPr lang="en-US" sz="12600" b="1" dirty="0">
                <a:solidFill>
                  <a:srgbClr val="8B5CF6">
                    <a:alpha val="3000"/>
                  </a:srgbClr>
                </a:solidFill>
                <a:latin typeface="Liberation Sans Narrow" pitchFamily="34" charset="0"/>
                <a:ea typeface="Liberation Sans Narrow" pitchFamily="34" charset="-122"/>
                <a:cs typeface="Liberation Sans Narrow" pitchFamily="34" charset="-120"/>
              </a:rPr>
              <a:t>07</a:t>
            </a:r>
            <a:endParaRPr lang="en-US" sz="12600" dirty="0"/>
          </a:p>
        </p:txBody>
      </p:sp>
      <p:sp>
        <p:nvSpPr>
          <p:cNvPr id="6" name="Text 2"/>
          <p:cNvSpPr/>
          <p:nvPr/>
        </p:nvSpPr>
        <p:spPr>
          <a:xfrm>
            <a:off x="571500" y="1830921"/>
            <a:ext cx="8572500" cy="493776"/>
          </a:xfrm>
          <a:prstGeom prst="rect">
            <a:avLst/>
          </a:prstGeom>
          <a:noFill/>
          <a:ln/>
        </p:spPr>
        <p:txBody>
          <a:bodyPr wrap="none" lIns="0" tIns="0" rIns="0" bIns="0" rtlCol="0" anchor="t"/>
          <a:lstStyle/>
          <a:p>
            <a:pPr algn="l" indent="0" marL="0">
              <a:lnSpc>
                <a:spcPts val="3600"/>
              </a:lnSpc>
              <a:buNone/>
            </a:pPr>
            <a:r>
              <a:rPr lang="en-US" sz="3600" b="1" spc="180" kern="0" dirty="0">
                <a:solidFill>
                  <a:srgbClr val="3B82F6">
                    <a:alpha val="30000"/>
                  </a:srgbClr>
                </a:solidFill>
                <a:latin typeface="Liberation Sans Narrow" pitchFamily="34" charset="0"/>
                <a:ea typeface="Liberation Sans Narrow" pitchFamily="34" charset="-122"/>
                <a:cs typeface="Liberation Sans Narrow" pitchFamily="34" charset="-120"/>
              </a:rPr>
              <a:t>06–07</a:t>
            </a:r>
            <a:endParaRPr lang="en-US" sz="3600" dirty="0"/>
          </a:p>
        </p:txBody>
      </p:sp>
      <p:sp>
        <p:nvSpPr>
          <p:cNvPr id="7" name="Text 3"/>
          <p:cNvSpPr/>
          <p:nvPr/>
        </p:nvSpPr>
        <p:spPr>
          <a:xfrm>
            <a:off x="571500" y="2430996"/>
            <a:ext cx="8572500" cy="354902"/>
          </a:xfrm>
          <a:prstGeom prst="rect">
            <a:avLst/>
          </a:prstGeom>
          <a:noFill/>
          <a:ln/>
        </p:spPr>
        <p:txBody>
          <a:bodyPr wrap="square" lIns="0" tIns="0" rIns="0" bIns="0" rtlCol="0" anchor="t"/>
          <a:lstStyle/>
          <a:p>
            <a:pPr algn="l" indent="0" marL="0">
              <a:lnSpc>
                <a:spcPts val="2588"/>
              </a:lnSpc>
              <a:buNone/>
            </a:pPr>
            <a:r>
              <a:rPr lang="en-US" sz="2250" b="1" spc="-45" kern="0" dirty="0">
                <a:solidFill>
                  <a:srgbClr val="FFFFFF"/>
                </a:solidFill>
                <a:latin typeface="Carlito" pitchFamily="34" charset="0"/>
                <a:ea typeface="Carlito" pitchFamily="34" charset="-122"/>
                <a:cs typeface="Carlito" pitchFamily="34" charset="-120"/>
              </a:rPr>
              <a:t>Emotional Experience &amp; Design DNA</a:t>
            </a:r>
            <a:endParaRPr lang="en-US" sz="2250" dirty="0"/>
          </a:p>
        </p:txBody>
      </p:sp>
      <p:sp>
        <p:nvSpPr>
          <p:cNvPr id="8" name="Text 4"/>
          <p:cNvSpPr/>
          <p:nvPr/>
        </p:nvSpPr>
        <p:spPr>
          <a:xfrm>
            <a:off x="571500" y="2931058"/>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9" name="Text 5"/>
          <p:cNvSpPr/>
          <p:nvPr/>
        </p:nvSpPr>
        <p:spPr>
          <a:xfrm>
            <a:off x="571500" y="3123940"/>
            <a:ext cx="8115300" cy="203610"/>
          </a:xfrm>
          <a:prstGeom prst="rect">
            <a:avLst/>
          </a:prstGeom>
          <a:noFill/>
          <a:ln/>
        </p:spPr>
        <p:txBody>
          <a:bodyPr wrap="square" lIns="0" tIns="0" rIns="0" bIns="0" rtlCol="0" anchor="t"/>
          <a:lstStyle/>
          <a:p>
            <a:pPr algn="l" indent="0" marL="0">
              <a:lnSpc>
                <a:spcPts val="1485"/>
              </a:lnSpc>
              <a:buNone/>
            </a:pPr>
            <a:r>
              <a:rPr lang="en-US" sz="990" spc="20" kern="0" dirty="0">
                <a:solidFill>
                  <a:srgbClr val="8B95AD"/>
                </a:solidFill>
                <a:latin typeface="Carlito" pitchFamily="34" charset="0"/>
                <a:ea typeface="Carlito" pitchFamily="34" charset="-122"/>
                <a:cs typeface="Carlito" pitchFamily="34" charset="-120"/>
              </a:rPr>
              <a:t>Human-Centered Design · Premium Enterprise Visual Language</a:t>
            </a:r>
            <a:endParaRPr lang="en-US" sz="99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457200" y="457200"/>
            <a:ext cx="8636000" cy="296193"/>
          </a:xfrm>
          <a:prstGeom prst="rect">
            <a:avLst/>
          </a:prstGeom>
          <a:noFill/>
          <a:ln/>
        </p:spPr>
        <p:txBody>
          <a:bodyPr wrap="square" lIns="0" tIns="0" rIns="0" bIns="0" rtlCol="0" anchor="t"/>
          <a:lstStyle/>
          <a:p>
            <a:pPr algn="l" indent="0" marL="0">
              <a:lnSpc>
                <a:spcPts val="2160"/>
              </a:lnSpc>
              <a:buNone/>
            </a:pPr>
            <a:r>
              <a:rPr lang="en-US" sz="1440" b="1" spc="-29" kern="0" dirty="0">
                <a:solidFill>
                  <a:srgbClr val="FFFFFF"/>
                </a:solidFill>
                <a:latin typeface="Carlito" pitchFamily="34" charset="0"/>
                <a:ea typeface="Carlito" pitchFamily="34" charset="-122"/>
                <a:cs typeface="Carlito" pitchFamily="34" charset="-120"/>
              </a:rPr>
              <a:t>Design Patterns #8–#11 — Emotional Experience Principles</a:t>
            </a:r>
            <a:endParaRPr lang="en-US" sz="1440" dirty="0"/>
          </a:p>
        </p:txBody>
      </p:sp>
      <p:sp>
        <p:nvSpPr>
          <p:cNvPr id="3" name="Text 1"/>
          <p:cNvSpPr/>
          <p:nvPr/>
        </p:nvSpPr>
        <p:spPr>
          <a:xfrm>
            <a:off x="457200" y="774316"/>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4" name="Text 2"/>
          <p:cNvSpPr/>
          <p:nvPr/>
        </p:nvSpPr>
        <p:spPr>
          <a:xfrm>
            <a:off x="457200" y="1024347"/>
            <a:ext cx="4000500" cy="1382650"/>
          </a:xfrm>
          <a:prstGeom prst="roundRect">
            <a:avLst>
              <a:gd name="adj" fmla="val 11022"/>
            </a:avLst>
          </a:prstGeom>
          <a:solidFill>
            <a:srgbClr val="161C2A">
              <a:alpha val="70000"/>
            </a:srgbClr>
          </a:solidFill>
          <a:ln/>
        </p:spPr>
        <p:txBody>
          <a:bodyPr wrap="square" rtlCol="0" anchor="ctr"/>
          <a:lstStyle/>
          <a:p>
            <a:pPr indent="0" marL="0">
              <a:buNone/>
            </a:pPr>
            <a:endParaRPr lang="en-US" dirty="0"/>
          </a:p>
        </p:txBody>
      </p:sp>
      <p:sp>
        <p:nvSpPr>
          <p:cNvPr id="5" name="Shape 3"/>
          <p:cNvSpPr/>
          <p:nvPr/>
        </p:nvSpPr>
        <p:spPr>
          <a:xfrm>
            <a:off x="457200" y="1027919"/>
            <a:ext cx="4000500" cy="0"/>
          </a:xfrm>
          <a:prstGeom prst="line">
            <a:avLst/>
          </a:prstGeom>
          <a:noFill/>
          <a:ln w="7144">
            <a:solidFill>
              <a:srgbClr val="252E42"/>
            </a:solidFill>
            <a:prstDash val="solid"/>
          </a:ln>
        </p:spPr>
      </p:sp>
      <p:sp>
        <p:nvSpPr>
          <p:cNvPr id="6" name="Shape 4"/>
          <p:cNvSpPr/>
          <p:nvPr/>
        </p:nvSpPr>
        <p:spPr>
          <a:xfrm>
            <a:off x="4454128" y="1024347"/>
            <a:ext cx="0" cy="1382650"/>
          </a:xfrm>
          <a:prstGeom prst="line">
            <a:avLst/>
          </a:prstGeom>
          <a:noFill/>
          <a:ln w="7144">
            <a:solidFill>
              <a:srgbClr val="252E42"/>
            </a:solidFill>
            <a:prstDash val="solid"/>
          </a:ln>
        </p:spPr>
      </p:sp>
      <p:sp>
        <p:nvSpPr>
          <p:cNvPr id="7" name="Shape 5"/>
          <p:cNvSpPr/>
          <p:nvPr/>
        </p:nvSpPr>
        <p:spPr>
          <a:xfrm>
            <a:off x="457200" y="2403425"/>
            <a:ext cx="4000500" cy="0"/>
          </a:xfrm>
          <a:prstGeom prst="line">
            <a:avLst/>
          </a:prstGeom>
          <a:noFill/>
          <a:ln w="7144">
            <a:solidFill>
              <a:srgbClr val="252E42"/>
            </a:solidFill>
            <a:prstDash val="solid"/>
          </a:ln>
        </p:spPr>
      </p:sp>
      <p:sp>
        <p:nvSpPr>
          <p:cNvPr id="8" name="Shape 6"/>
          <p:cNvSpPr/>
          <p:nvPr/>
        </p:nvSpPr>
        <p:spPr>
          <a:xfrm>
            <a:off x="467916" y="1024347"/>
            <a:ext cx="0" cy="1382650"/>
          </a:xfrm>
          <a:prstGeom prst="line">
            <a:avLst/>
          </a:prstGeom>
          <a:noFill/>
          <a:ln w="21431">
            <a:solidFill>
              <a:srgbClr val="3B82F6"/>
            </a:solidFill>
            <a:prstDash val="solid"/>
          </a:ln>
        </p:spPr>
      </p:sp>
      <p:sp>
        <p:nvSpPr>
          <p:cNvPr id="9" name="Text 7"/>
          <p:cNvSpPr/>
          <p:nvPr/>
        </p:nvSpPr>
        <p:spPr>
          <a:xfrm>
            <a:off x="650081" y="1202941"/>
            <a:ext cx="314325" cy="314325"/>
          </a:xfrm>
          <a:prstGeom prst="roundRect">
            <a:avLst>
              <a:gd name="adj" fmla="val 30300000"/>
            </a:avLst>
          </a:prstGeom>
          <a:solidFill>
            <a:srgbClr val="3B82F6">
              <a:alpha val="12000"/>
            </a:srgbClr>
          </a:solidFill>
          <a:ln/>
        </p:spPr>
        <p:txBody>
          <a:bodyPr wrap="square" rtlCol="0" anchor="ctr"/>
          <a:lstStyle/>
          <a:p>
            <a:pPr indent="0" marL="0">
              <a:buNone/>
            </a:pPr>
            <a:endParaRPr lang="en-US" dirty="0"/>
          </a:p>
        </p:txBody>
      </p:sp>
      <p:sp>
        <p:nvSpPr>
          <p:cNvPr id="10" name="Text 8"/>
          <p:cNvSpPr/>
          <p:nvPr/>
        </p:nvSpPr>
        <p:spPr>
          <a:xfrm>
            <a:off x="703659" y="1256519"/>
            <a:ext cx="207169" cy="207169"/>
          </a:xfrm>
          <a:prstGeom prst="rect">
            <a:avLst/>
          </a:prstGeom>
          <a:noFill/>
          <a:ln/>
        </p:spPr>
        <p:txBody>
          <a:bodyPr wrap="none" lIns="0" tIns="0" rIns="0" bIns="0" rtlCol="0" anchor="ctr"/>
          <a:lstStyle/>
          <a:p>
            <a:pPr algn="ctr" indent="0" marL="0">
              <a:buNone/>
            </a:pPr>
            <a:r>
              <a:rPr lang="en-US" sz="1406" dirty="0">
                <a:solidFill>
                  <a:srgbClr val="60A5FA"/>
                </a:solidFill>
                <a:latin typeface="Segoe UI Symbol" pitchFamily="34" charset="0"/>
                <a:ea typeface="Segoe UI Symbol" pitchFamily="34" charset="-122"/>
                <a:cs typeface="Segoe UI Symbol" pitchFamily="34" charset="-120"/>
              </a:rPr>
              <a:t>☻</a:t>
            </a:r>
            <a:endParaRPr lang="en-US" sz="1406" dirty="0"/>
          </a:p>
        </p:txBody>
      </p:sp>
      <p:sp>
        <p:nvSpPr>
          <p:cNvPr id="11" name="Text 9"/>
          <p:cNvSpPr/>
          <p:nvPr/>
        </p:nvSpPr>
        <p:spPr>
          <a:xfrm>
            <a:off x="1078706" y="1202941"/>
            <a:ext cx="3200400" cy="203610"/>
          </a:xfrm>
          <a:prstGeom prst="rect">
            <a:avLst/>
          </a:prstGeom>
          <a:noFill/>
          <a:ln/>
        </p:spPr>
        <p:txBody>
          <a:bodyPr wrap="none" lIns="0" tIns="0" rIns="0" bIns="0" rtlCol="0" anchor="t"/>
          <a:lstStyle/>
          <a:p>
            <a:pPr algn="l" indent="0" marL="0">
              <a:lnSpc>
                <a:spcPts val="1485"/>
              </a:lnSpc>
              <a:buNone/>
            </a:pPr>
            <a:r>
              <a:rPr lang="en-US" sz="990" dirty="0">
                <a:solidFill>
                  <a:srgbClr val="FFFFFF"/>
                </a:solidFill>
                <a:latin typeface="Carlito" pitchFamily="34" charset="0"/>
                <a:ea typeface="Carlito" pitchFamily="34" charset="-122"/>
                <a:cs typeface="Carlito" pitchFamily="34" charset="-120"/>
              </a:rPr>
              <a:t>Emotional Copywriting</a:t>
            </a:r>
            <a:endParaRPr lang="en-US" sz="990" dirty="0"/>
          </a:p>
        </p:txBody>
      </p:sp>
      <p:sp>
        <p:nvSpPr>
          <p:cNvPr id="12" name="Text 10"/>
          <p:cNvSpPr/>
          <p:nvPr/>
        </p:nvSpPr>
        <p:spPr>
          <a:xfrm>
            <a:off x="1078706" y="1448619"/>
            <a:ext cx="3200400" cy="779785"/>
          </a:xfrm>
          <a:prstGeom prst="rect">
            <a:avLst/>
          </a:prstGeom>
          <a:noFill/>
          <a:ln/>
        </p:spPr>
        <p:txBody>
          <a:bodyPr wrap="square" lIns="0" tIns="0" rIns="0" bIns="0" rtlCol="0" anchor="t"/>
          <a:lstStyle/>
          <a:p>
            <a:pPr algn="l" indent="0" marL="0">
              <a:lnSpc>
                <a:spcPts val="1224"/>
              </a:lnSpc>
              <a:buNone/>
            </a:pPr>
            <a:r>
              <a:rPr lang="en-US" sz="800" dirty="0">
                <a:solidFill>
                  <a:srgbClr val="8B95AD"/>
                </a:solidFill>
                <a:latin typeface="Carlito" pitchFamily="34" charset="0"/>
                <a:ea typeface="Carlito" pitchFamily="34" charset="-122"/>
                <a:cs typeface="Carlito" pitchFamily="34" charset="-120"/>
              </a:rPr>
              <a:t>Every word in the interface carries emotional weight. Error messages acknowledge frustration before offering solutions. Success states celebrate outcomes, not features. Empty states inspire possibility, not abandonment. Copy speaks to the human, not the feature.</a:t>
            </a:r>
            <a:endParaRPr lang="en-US" sz="800" dirty="0"/>
          </a:p>
        </p:txBody>
      </p:sp>
      <p:sp>
        <p:nvSpPr>
          <p:cNvPr id="13" name="Text 11"/>
          <p:cNvSpPr/>
          <p:nvPr/>
        </p:nvSpPr>
        <p:spPr>
          <a:xfrm>
            <a:off x="4686300" y="1024347"/>
            <a:ext cx="4000500" cy="1382650"/>
          </a:xfrm>
          <a:prstGeom prst="roundRect">
            <a:avLst>
              <a:gd name="adj" fmla="val 11022"/>
            </a:avLst>
          </a:prstGeom>
          <a:solidFill>
            <a:srgbClr val="161C2A">
              <a:alpha val="70000"/>
            </a:srgbClr>
          </a:solidFill>
          <a:ln/>
        </p:spPr>
        <p:txBody>
          <a:bodyPr wrap="square" rtlCol="0" anchor="ctr"/>
          <a:lstStyle/>
          <a:p>
            <a:pPr indent="0" marL="0">
              <a:buNone/>
            </a:pPr>
            <a:endParaRPr lang="en-US" dirty="0"/>
          </a:p>
        </p:txBody>
      </p:sp>
      <p:sp>
        <p:nvSpPr>
          <p:cNvPr id="14" name="Shape 12"/>
          <p:cNvSpPr/>
          <p:nvPr/>
        </p:nvSpPr>
        <p:spPr>
          <a:xfrm>
            <a:off x="4686300" y="1027919"/>
            <a:ext cx="4000500" cy="0"/>
          </a:xfrm>
          <a:prstGeom prst="line">
            <a:avLst/>
          </a:prstGeom>
          <a:noFill/>
          <a:ln w="7144">
            <a:solidFill>
              <a:srgbClr val="252E42"/>
            </a:solidFill>
            <a:prstDash val="solid"/>
          </a:ln>
        </p:spPr>
      </p:sp>
      <p:sp>
        <p:nvSpPr>
          <p:cNvPr id="15" name="Shape 13"/>
          <p:cNvSpPr/>
          <p:nvPr/>
        </p:nvSpPr>
        <p:spPr>
          <a:xfrm>
            <a:off x="8683228" y="1024347"/>
            <a:ext cx="0" cy="1382650"/>
          </a:xfrm>
          <a:prstGeom prst="line">
            <a:avLst/>
          </a:prstGeom>
          <a:noFill/>
          <a:ln w="7144">
            <a:solidFill>
              <a:srgbClr val="252E42"/>
            </a:solidFill>
            <a:prstDash val="solid"/>
          </a:ln>
        </p:spPr>
      </p:sp>
      <p:sp>
        <p:nvSpPr>
          <p:cNvPr id="16" name="Shape 14"/>
          <p:cNvSpPr/>
          <p:nvPr/>
        </p:nvSpPr>
        <p:spPr>
          <a:xfrm>
            <a:off x="4686300" y="2403425"/>
            <a:ext cx="4000500" cy="0"/>
          </a:xfrm>
          <a:prstGeom prst="line">
            <a:avLst/>
          </a:prstGeom>
          <a:noFill/>
          <a:ln w="7144">
            <a:solidFill>
              <a:srgbClr val="252E42"/>
            </a:solidFill>
            <a:prstDash val="solid"/>
          </a:ln>
        </p:spPr>
      </p:sp>
      <p:sp>
        <p:nvSpPr>
          <p:cNvPr id="17" name="Shape 15"/>
          <p:cNvSpPr/>
          <p:nvPr/>
        </p:nvSpPr>
        <p:spPr>
          <a:xfrm>
            <a:off x="4697016" y="1024347"/>
            <a:ext cx="0" cy="1382650"/>
          </a:xfrm>
          <a:prstGeom prst="line">
            <a:avLst/>
          </a:prstGeom>
          <a:noFill/>
          <a:ln w="21431">
            <a:solidFill>
              <a:srgbClr val="A855F7"/>
            </a:solidFill>
            <a:prstDash val="solid"/>
          </a:ln>
        </p:spPr>
      </p:sp>
      <p:sp>
        <p:nvSpPr>
          <p:cNvPr id="18" name="Text 16"/>
          <p:cNvSpPr/>
          <p:nvPr/>
        </p:nvSpPr>
        <p:spPr>
          <a:xfrm>
            <a:off x="4879181" y="1202941"/>
            <a:ext cx="314325" cy="314325"/>
          </a:xfrm>
          <a:prstGeom prst="roundRect">
            <a:avLst>
              <a:gd name="adj" fmla="val 30300000"/>
            </a:avLst>
          </a:prstGeom>
          <a:solidFill>
            <a:srgbClr val="8B5CF6">
              <a:alpha val="12000"/>
            </a:srgbClr>
          </a:solidFill>
          <a:ln/>
        </p:spPr>
        <p:txBody>
          <a:bodyPr wrap="square" rtlCol="0" anchor="ctr"/>
          <a:lstStyle/>
          <a:p>
            <a:pPr indent="0" marL="0">
              <a:buNone/>
            </a:pPr>
            <a:endParaRPr lang="en-US" dirty="0"/>
          </a:p>
        </p:txBody>
      </p:sp>
      <p:sp>
        <p:nvSpPr>
          <p:cNvPr id="19" name="Text 17"/>
          <p:cNvSpPr/>
          <p:nvPr/>
        </p:nvSpPr>
        <p:spPr>
          <a:xfrm>
            <a:off x="4932759" y="1256519"/>
            <a:ext cx="207169" cy="207169"/>
          </a:xfrm>
          <a:prstGeom prst="rect">
            <a:avLst/>
          </a:prstGeom>
          <a:noFill/>
          <a:ln/>
        </p:spPr>
        <p:txBody>
          <a:bodyPr wrap="none" lIns="0" tIns="0" rIns="0" bIns="0" rtlCol="0" anchor="ctr"/>
          <a:lstStyle/>
          <a:p>
            <a:pPr algn="ctr" indent="0" marL="0">
              <a:buNone/>
            </a:pPr>
            <a:r>
              <a:rPr lang="en-US" sz="1406" dirty="0">
                <a:solidFill>
                  <a:srgbClr val="A78BFA"/>
                </a:solidFill>
                <a:latin typeface="Segoe UI Symbol" pitchFamily="34" charset="0"/>
                <a:ea typeface="Segoe UI Symbol" pitchFamily="34" charset="-122"/>
                <a:cs typeface="Segoe UI Symbol" pitchFamily="34" charset="-120"/>
              </a:rPr>
              <a:t>♥</a:t>
            </a:r>
            <a:endParaRPr lang="en-US" sz="1406" dirty="0"/>
          </a:p>
        </p:txBody>
      </p:sp>
      <p:sp>
        <p:nvSpPr>
          <p:cNvPr id="20" name="Text 18"/>
          <p:cNvSpPr/>
          <p:nvPr/>
        </p:nvSpPr>
        <p:spPr>
          <a:xfrm>
            <a:off x="5307806" y="1202941"/>
            <a:ext cx="3200400" cy="203610"/>
          </a:xfrm>
          <a:prstGeom prst="rect">
            <a:avLst/>
          </a:prstGeom>
          <a:noFill/>
          <a:ln/>
        </p:spPr>
        <p:txBody>
          <a:bodyPr wrap="none" lIns="0" tIns="0" rIns="0" bIns="0" rtlCol="0" anchor="t"/>
          <a:lstStyle/>
          <a:p>
            <a:pPr algn="l" indent="0" marL="0">
              <a:lnSpc>
                <a:spcPts val="1485"/>
              </a:lnSpc>
              <a:buNone/>
            </a:pPr>
            <a:r>
              <a:rPr lang="en-US" sz="990" dirty="0">
                <a:solidFill>
                  <a:srgbClr val="FFFFFF"/>
                </a:solidFill>
                <a:latin typeface="Carlito" pitchFamily="34" charset="0"/>
                <a:ea typeface="Carlito" pitchFamily="34" charset="-122"/>
                <a:cs typeface="Carlito" pitchFamily="34" charset="-120"/>
              </a:rPr>
              <a:t>Loss Aversion Design</a:t>
            </a:r>
            <a:endParaRPr lang="en-US" sz="990" dirty="0"/>
          </a:p>
        </p:txBody>
      </p:sp>
      <p:sp>
        <p:nvSpPr>
          <p:cNvPr id="21" name="Text 19"/>
          <p:cNvSpPr/>
          <p:nvPr/>
        </p:nvSpPr>
        <p:spPr>
          <a:xfrm>
            <a:off x="5307806" y="1448619"/>
            <a:ext cx="3200400" cy="779785"/>
          </a:xfrm>
          <a:prstGeom prst="rect">
            <a:avLst/>
          </a:prstGeom>
          <a:noFill/>
          <a:ln/>
        </p:spPr>
        <p:txBody>
          <a:bodyPr wrap="square" lIns="0" tIns="0" rIns="0" bIns="0" rtlCol="0" anchor="t"/>
          <a:lstStyle/>
          <a:p>
            <a:pPr algn="l" indent="0" marL="0">
              <a:lnSpc>
                <a:spcPts val="1224"/>
              </a:lnSpc>
              <a:buNone/>
            </a:pPr>
            <a:r>
              <a:rPr lang="en-US" sz="800" dirty="0">
                <a:solidFill>
                  <a:srgbClr val="8B95AD"/>
                </a:solidFill>
                <a:latin typeface="Carlito" pitchFamily="34" charset="0"/>
                <a:ea typeface="Carlito" pitchFamily="34" charset="-122"/>
                <a:cs typeface="Carlito" pitchFamily="34" charset="-120"/>
              </a:rPr>
              <a:t>Leverage the psychological principle that people feel losses more strongly than equivalent gains. Frame intelligence as risk prevention: “3 accounts showing early churn signals” is more motivating than “47 accounts stable.” Use urgency with precision — not manipulation.</a:t>
            </a:r>
            <a:endParaRPr lang="en-US" sz="800" dirty="0"/>
          </a:p>
        </p:txBody>
      </p:sp>
      <p:sp>
        <p:nvSpPr>
          <p:cNvPr id="22" name="Text 20"/>
          <p:cNvSpPr/>
          <p:nvPr/>
        </p:nvSpPr>
        <p:spPr>
          <a:xfrm>
            <a:off x="457200" y="2635597"/>
            <a:ext cx="4000500" cy="1382762"/>
          </a:xfrm>
          <a:prstGeom prst="roundRect">
            <a:avLst>
              <a:gd name="adj" fmla="val 11021"/>
            </a:avLst>
          </a:prstGeom>
          <a:solidFill>
            <a:srgbClr val="161C2A">
              <a:alpha val="70000"/>
            </a:srgbClr>
          </a:solidFill>
          <a:ln/>
        </p:spPr>
        <p:txBody>
          <a:bodyPr wrap="square" rtlCol="0" anchor="ctr"/>
          <a:lstStyle/>
          <a:p>
            <a:pPr indent="0" marL="0">
              <a:buNone/>
            </a:pPr>
            <a:endParaRPr lang="en-US" dirty="0"/>
          </a:p>
        </p:txBody>
      </p:sp>
      <p:sp>
        <p:nvSpPr>
          <p:cNvPr id="23" name="Shape 21"/>
          <p:cNvSpPr/>
          <p:nvPr/>
        </p:nvSpPr>
        <p:spPr>
          <a:xfrm>
            <a:off x="457200" y="2639169"/>
            <a:ext cx="4000500" cy="0"/>
          </a:xfrm>
          <a:prstGeom prst="line">
            <a:avLst/>
          </a:prstGeom>
          <a:noFill/>
          <a:ln w="7144">
            <a:solidFill>
              <a:srgbClr val="252E42"/>
            </a:solidFill>
            <a:prstDash val="solid"/>
          </a:ln>
        </p:spPr>
      </p:sp>
      <p:sp>
        <p:nvSpPr>
          <p:cNvPr id="24" name="Shape 22"/>
          <p:cNvSpPr/>
          <p:nvPr/>
        </p:nvSpPr>
        <p:spPr>
          <a:xfrm>
            <a:off x="4454128" y="2635597"/>
            <a:ext cx="0" cy="1382762"/>
          </a:xfrm>
          <a:prstGeom prst="line">
            <a:avLst/>
          </a:prstGeom>
          <a:noFill/>
          <a:ln w="7144">
            <a:solidFill>
              <a:srgbClr val="252E42"/>
            </a:solidFill>
            <a:prstDash val="solid"/>
          </a:ln>
        </p:spPr>
      </p:sp>
      <p:sp>
        <p:nvSpPr>
          <p:cNvPr id="25" name="Shape 23"/>
          <p:cNvSpPr/>
          <p:nvPr/>
        </p:nvSpPr>
        <p:spPr>
          <a:xfrm>
            <a:off x="457200" y="4014788"/>
            <a:ext cx="4000500" cy="0"/>
          </a:xfrm>
          <a:prstGeom prst="line">
            <a:avLst/>
          </a:prstGeom>
          <a:noFill/>
          <a:ln w="7144">
            <a:solidFill>
              <a:srgbClr val="252E42"/>
            </a:solidFill>
            <a:prstDash val="solid"/>
          </a:ln>
        </p:spPr>
      </p:sp>
      <p:sp>
        <p:nvSpPr>
          <p:cNvPr id="26" name="Shape 24"/>
          <p:cNvSpPr/>
          <p:nvPr/>
        </p:nvSpPr>
        <p:spPr>
          <a:xfrm>
            <a:off x="467916" y="2635597"/>
            <a:ext cx="0" cy="1382762"/>
          </a:xfrm>
          <a:prstGeom prst="line">
            <a:avLst/>
          </a:prstGeom>
          <a:noFill/>
          <a:ln w="21431">
            <a:solidFill>
              <a:srgbClr val="22C55E"/>
            </a:solidFill>
            <a:prstDash val="solid"/>
          </a:ln>
        </p:spPr>
      </p:sp>
      <p:sp>
        <p:nvSpPr>
          <p:cNvPr id="27" name="Text 25"/>
          <p:cNvSpPr/>
          <p:nvPr/>
        </p:nvSpPr>
        <p:spPr>
          <a:xfrm>
            <a:off x="650081" y="2814191"/>
            <a:ext cx="314325" cy="314325"/>
          </a:xfrm>
          <a:prstGeom prst="roundRect">
            <a:avLst>
              <a:gd name="adj" fmla="val 30300000"/>
            </a:avLst>
          </a:prstGeom>
          <a:solidFill>
            <a:srgbClr val="22C55E">
              <a:alpha val="12000"/>
            </a:srgbClr>
          </a:solidFill>
          <a:ln/>
        </p:spPr>
        <p:txBody>
          <a:bodyPr wrap="square" rtlCol="0" anchor="ctr"/>
          <a:lstStyle/>
          <a:p>
            <a:pPr indent="0" marL="0">
              <a:buNone/>
            </a:pPr>
            <a:endParaRPr lang="en-US" dirty="0"/>
          </a:p>
        </p:txBody>
      </p:sp>
      <p:sp>
        <p:nvSpPr>
          <p:cNvPr id="28" name="Text 26"/>
          <p:cNvSpPr/>
          <p:nvPr/>
        </p:nvSpPr>
        <p:spPr>
          <a:xfrm>
            <a:off x="703659" y="2867769"/>
            <a:ext cx="207169" cy="207169"/>
          </a:xfrm>
          <a:prstGeom prst="rect">
            <a:avLst/>
          </a:prstGeom>
          <a:noFill/>
          <a:ln/>
        </p:spPr>
        <p:txBody>
          <a:bodyPr wrap="none" lIns="0" tIns="0" rIns="0" bIns="0" rtlCol="0" anchor="ctr"/>
          <a:lstStyle/>
          <a:p>
            <a:pPr algn="ctr" indent="0" marL="0">
              <a:buNone/>
            </a:pPr>
            <a:r>
              <a:rPr lang="en-US" sz="1406" dirty="0">
                <a:solidFill>
                  <a:srgbClr val="4ADE80"/>
                </a:solidFill>
                <a:latin typeface="Segoe UI Symbol" pitchFamily="34" charset="0"/>
                <a:ea typeface="Segoe UI Symbol" pitchFamily="34" charset="-122"/>
                <a:cs typeface="Segoe UI Symbol" pitchFamily="34" charset="-120"/>
              </a:rPr>
              <a:t>♛</a:t>
            </a:r>
            <a:endParaRPr lang="en-US" sz="1406" dirty="0"/>
          </a:p>
        </p:txBody>
      </p:sp>
      <p:sp>
        <p:nvSpPr>
          <p:cNvPr id="29" name="Text 27"/>
          <p:cNvSpPr/>
          <p:nvPr/>
        </p:nvSpPr>
        <p:spPr>
          <a:xfrm>
            <a:off x="1078706" y="2814191"/>
            <a:ext cx="3200400" cy="203610"/>
          </a:xfrm>
          <a:prstGeom prst="rect">
            <a:avLst/>
          </a:prstGeom>
          <a:noFill/>
          <a:ln/>
        </p:spPr>
        <p:txBody>
          <a:bodyPr wrap="none" lIns="0" tIns="0" rIns="0" bIns="0" rtlCol="0" anchor="t"/>
          <a:lstStyle/>
          <a:p>
            <a:pPr algn="l" indent="0" marL="0">
              <a:lnSpc>
                <a:spcPts val="1485"/>
              </a:lnSpc>
              <a:buNone/>
            </a:pPr>
            <a:r>
              <a:rPr lang="en-US" sz="990" dirty="0">
                <a:solidFill>
                  <a:srgbClr val="FFFFFF"/>
                </a:solidFill>
                <a:latin typeface="Carlito" pitchFamily="34" charset="0"/>
                <a:ea typeface="Carlito" pitchFamily="34" charset="-122"/>
                <a:cs typeface="Carlito" pitchFamily="34" charset="-120"/>
              </a:rPr>
              <a:t>Endowment Effect</a:t>
            </a:r>
            <a:endParaRPr lang="en-US" sz="990" dirty="0"/>
          </a:p>
        </p:txBody>
      </p:sp>
      <p:sp>
        <p:nvSpPr>
          <p:cNvPr id="30" name="Text 28"/>
          <p:cNvSpPr/>
          <p:nvPr/>
        </p:nvSpPr>
        <p:spPr>
          <a:xfrm>
            <a:off x="1078706" y="3059869"/>
            <a:ext cx="3200400" cy="701936"/>
          </a:xfrm>
          <a:prstGeom prst="rect">
            <a:avLst/>
          </a:prstGeom>
          <a:noFill/>
          <a:ln/>
        </p:spPr>
        <p:txBody>
          <a:bodyPr wrap="square" lIns="0" tIns="0" rIns="0" bIns="0" rtlCol="0" anchor="t"/>
          <a:lstStyle/>
          <a:p>
            <a:pPr algn="l" indent="0" marL="0">
              <a:lnSpc>
                <a:spcPts val="1224"/>
              </a:lnSpc>
              <a:buNone/>
            </a:pPr>
            <a:r>
              <a:rPr lang="en-US" sz="800" dirty="0">
                <a:solidFill>
                  <a:srgbClr val="8B95AD"/>
                </a:solidFill>
                <a:latin typeface="Carlito" pitchFamily="34" charset="0"/>
                <a:ea typeface="Carlito" pitchFamily="34" charset="-122"/>
                <a:cs typeface="Carlito" pitchFamily="34" charset="-120"/>
              </a:rPr>
              <a:t>Users who feel ownership of their intelligence workspace engage more deeply. Personal intelligence preferences, saved views, and customized briefings create investment. The system adapts to the user — the user does not adapt to the system.</a:t>
            </a:r>
            <a:endParaRPr lang="en-US" sz="800" dirty="0"/>
          </a:p>
        </p:txBody>
      </p:sp>
      <p:sp>
        <p:nvSpPr>
          <p:cNvPr id="31" name="Text 29"/>
          <p:cNvSpPr/>
          <p:nvPr/>
        </p:nvSpPr>
        <p:spPr>
          <a:xfrm>
            <a:off x="4686300" y="2635597"/>
            <a:ext cx="4000500" cy="1382762"/>
          </a:xfrm>
          <a:prstGeom prst="roundRect">
            <a:avLst>
              <a:gd name="adj" fmla="val 11021"/>
            </a:avLst>
          </a:prstGeom>
          <a:solidFill>
            <a:srgbClr val="161C2A">
              <a:alpha val="70000"/>
            </a:srgbClr>
          </a:solidFill>
          <a:ln/>
        </p:spPr>
        <p:txBody>
          <a:bodyPr wrap="square" rtlCol="0" anchor="ctr"/>
          <a:lstStyle/>
          <a:p>
            <a:pPr indent="0" marL="0">
              <a:buNone/>
            </a:pPr>
            <a:endParaRPr lang="en-US" dirty="0"/>
          </a:p>
        </p:txBody>
      </p:sp>
      <p:sp>
        <p:nvSpPr>
          <p:cNvPr id="32" name="Shape 30"/>
          <p:cNvSpPr/>
          <p:nvPr/>
        </p:nvSpPr>
        <p:spPr>
          <a:xfrm>
            <a:off x="4686300" y="2639169"/>
            <a:ext cx="4000500" cy="0"/>
          </a:xfrm>
          <a:prstGeom prst="line">
            <a:avLst/>
          </a:prstGeom>
          <a:noFill/>
          <a:ln w="7144">
            <a:solidFill>
              <a:srgbClr val="252E42"/>
            </a:solidFill>
            <a:prstDash val="solid"/>
          </a:ln>
        </p:spPr>
      </p:sp>
      <p:sp>
        <p:nvSpPr>
          <p:cNvPr id="33" name="Shape 31"/>
          <p:cNvSpPr/>
          <p:nvPr/>
        </p:nvSpPr>
        <p:spPr>
          <a:xfrm>
            <a:off x="8683228" y="2635597"/>
            <a:ext cx="0" cy="1382762"/>
          </a:xfrm>
          <a:prstGeom prst="line">
            <a:avLst/>
          </a:prstGeom>
          <a:noFill/>
          <a:ln w="7144">
            <a:solidFill>
              <a:srgbClr val="252E42"/>
            </a:solidFill>
            <a:prstDash val="solid"/>
          </a:ln>
        </p:spPr>
      </p:sp>
      <p:sp>
        <p:nvSpPr>
          <p:cNvPr id="34" name="Shape 32"/>
          <p:cNvSpPr/>
          <p:nvPr/>
        </p:nvSpPr>
        <p:spPr>
          <a:xfrm>
            <a:off x="4686300" y="4014788"/>
            <a:ext cx="4000500" cy="0"/>
          </a:xfrm>
          <a:prstGeom prst="line">
            <a:avLst/>
          </a:prstGeom>
          <a:noFill/>
          <a:ln w="7144">
            <a:solidFill>
              <a:srgbClr val="252E42"/>
            </a:solidFill>
            <a:prstDash val="solid"/>
          </a:ln>
        </p:spPr>
      </p:sp>
      <p:sp>
        <p:nvSpPr>
          <p:cNvPr id="35" name="Shape 33"/>
          <p:cNvSpPr/>
          <p:nvPr/>
        </p:nvSpPr>
        <p:spPr>
          <a:xfrm>
            <a:off x="4697016" y="2635597"/>
            <a:ext cx="0" cy="1382762"/>
          </a:xfrm>
          <a:prstGeom prst="line">
            <a:avLst/>
          </a:prstGeom>
          <a:noFill/>
          <a:ln w="21431">
            <a:solidFill>
              <a:srgbClr val="F59E0B"/>
            </a:solidFill>
            <a:prstDash val="solid"/>
          </a:ln>
        </p:spPr>
      </p:sp>
      <p:sp>
        <p:nvSpPr>
          <p:cNvPr id="36" name="Text 34"/>
          <p:cNvSpPr/>
          <p:nvPr/>
        </p:nvSpPr>
        <p:spPr>
          <a:xfrm>
            <a:off x="4879181" y="2814191"/>
            <a:ext cx="314325" cy="314325"/>
          </a:xfrm>
          <a:prstGeom prst="roundRect">
            <a:avLst>
              <a:gd name="adj" fmla="val 30300000"/>
            </a:avLst>
          </a:prstGeom>
          <a:solidFill>
            <a:srgbClr val="F59E0B">
              <a:alpha val="12000"/>
            </a:srgbClr>
          </a:solidFill>
          <a:ln/>
        </p:spPr>
        <p:txBody>
          <a:bodyPr wrap="square" rtlCol="0" anchor="ctr"/>
          <a:lstStyle/>
          <a:p>
            <a:pPr indent="0" marL="0">
              <a:buNone/>
            </a:pPr>
            <a:endParaRPr lang="en-US" dirty="0"/>
          </a:p>
        </p:txBody>
      </p:sp>
      <p:sp>
        <p:nvSpPr>
          <p:cNvPr id="37" name="Text 35"/>
          <p:cNvSpPr/>
          <p:nvPr/>
        </p:nvSpPr>
        <p:spPr>
          <a:xfrm>
            <a:off x="4932759" y="2867769"/>
            <a:ext cx="207169" cy="207169"/>
          </a:xfrm>
          <a:prstGeom prst="rect">
            <a:avLst/>
          </a:prstGeom>
          <a:noFill/>
          <a:ln/>
        </p:spPr>
        <p:txBody>
          <a:bodyPr wrap="none" lIns="0" tIns="0" rIns="0" bIns="0" rtlCol="0" anchor="ctr"/>
          <a:lstStyle/>
          <a:p>
            <a:pPr algn="ctr" indent="0" marL="0">
              <a:buNone/>
            </a:pPr>
            <a:r>
              <a:rPr lang="en-US" sz="1406" dirty="0">
                <a:solidFill>
                  <a:srgbClr val="FBBF24"/>
                </a:solidFill>
                <a:latin typeface="Segoe UI Symbol" pitchFamily="34" charset="0"/>
                <a:ea typeface="Segoe UI Symbol" pitchFamily="34" charset="-122"/>
                <a:cs typeface="Segoe UI Symbol" pitchFamily="34" charset="-120"/>
              </a:rPr>
              <a:t>✦</a:t>
            </a:r>
            <a:endParaRPr lang="en-US" sz="1406" dirty="0"/>
          </a:p>
        </p:txBody>
      </p:sp>
      <p:sp>
        <p:nvSpPr>
          <p:cNvPr id="38" name="Text 36"/>
          <p:cNvSpPr/>
          <p:nvPr/>
        </p:nvSpPr>
        <p:spPr>
          <a:xfrm>
            <a:off x="5307806" y="2814191"/>
            <a:ext cx="3310128" cy="203610"/>
          </a:xfrm>
          <a:prstGeom prst="rect">
            <a:avLst/>
          </a:prstGeom>
          <a:noFill/>
          <a:ln/>
        </p:spPr>
        <p:txBody>
          <a:bodyPr wrap="square" lIns="0" tIns="0" rIns="0" bIns="0" rtlCol="0" anchor="t"/>
          <a:lstStyle/>
          <a:p>
            <a:pPr algn="l" indent="0" marL="0">
              <a:lnSpc>
                <a:spcPts val="1485"/>
              </a:lnSpc>
              <a:buNone/>
            </a:pPr>
            <a:r>
              <a:rPr lang="en-US" sz="990" dirty="0">
                <a:solidFill>
                  <a:srgbClr val="FFFFFF"/>
                </a:solidFill>
                <a:latin typeface="Carlito" pitchFamily="34" charset="0"/>
                <a:ea typeface="Carlito" pitchFamily="34" charset="-122"/>
                <a:cs typeface="Carlito" pitchFamily="34" charset="-120"/>
              </a:rPr>
              <a:t>Compassionate Error Handling</a:t>
            </a:r>
            <a:endParaRPr lang="en-US" sz="990" dirty="0"/>
          </a:p>
        </p:txBody>
      </p:sp>
      <p:sp>
        <p:nvSpPr>
          <p:cNvPr id="39" name="Text 37"/>
          <p:cNvSpPr/>
          <p:nvPr/>
        </p:nvSpPr>
        <p:spPr>
          <a:xfrm>
            <a:off x="5307806" y="3059869"/>
            <a:ext cx="3200400" cy="779897"/>
          </a:xfrm>
          <a:prstGeom prst="rect">
            <a:avLst/>
          </a:prstGeom>
          <a:noFill/>
          <a:ln/>
        </p:spPr>
        <p:txBody>
          <a:bodyPr wrap="square" lIns="0" tIns="0" rIns="0" bIns="0" rtlCol="0" anchor="t"/>
          <a:lstStyle/>
          <a:p>
            <a:pPr algn="l" indent="0" marL="0">
              <a:lnSpc>
                <a:spcPts val="1224"/>
              </a:lnSpc>
              <a:buNone/>
            </a:pPr>
            <a:r>
              <a:rPr lang="en-US" sz="800" dirty="0">
                <a:solidFill>
                  <a:srgbClr val="8B95AD"/>
                </a:solidFill>
                <a:latin typeface="Carlito" pitchFamily="34" charset="0"/>
                <a:ea typeface="Carlito" pitchFamily="34" charset="-122"/>
                <a:cs typeface="Carlito" pitchFamily="34" charset="-120"/>
              </a:rPr>
              <a:t>When the system cannot deliver intelligence, it explains why — not with technical errors, but with human context: “We could not analyze this account because the data source has not updated in 14 days.” Always offer a path forward. Never leave the user in a dead end.</a:t>
            </a:r>
            <a:endParaRPr lang="en-US" sz="800" dirty="0"/>
          </a:p>
        </p:txBody>
      </p:sp>
      <p:sp>
        <p:nvSpPr>
          <p:cNvPr id="40" name="Text 38"/>
          <p:cNvSpPr/>
          <p:nvPr/>
        </p:nvSpPr>
        <p:spPr>
          <a:xfrm>
            <a:off x="460772" y="4136231"/>
            <a:ext cx="8222456" cy="546497"/>
          </a:xfrm>
          <a:prstGeom prst="roundRect">
            <a:avLst>
              <a:gd name="adj" fmla="val 27887"/>
            </a:avLst>
          </a:prstGeom>
          <a:solidFill>
            <a:srgbClr val="161C2A">
              <a:alpha val="70000"/>
            </a:srgbClr>
          </a:solidFill>
          <a:ln w="7144">
            <a:solidFill>
              <a:srgbClr val="3B82F6"/>
            </a:solidFill>
            <a:prstDash val="solid"/>
          </a:ln>
          <a:effectLst>
            <a:outerShdw sx="100000" sy="100000" kx="0" ky="0" algn="bl" rotWithShape="0" blurRad="285750" dist="50800" dir="16200000">
              <a:srgbClr val="3B82F6">
                <a:alpha val="15000"/>
              </a:srgbClr>
            </a:outerShdw>
          </a:effectLst>
        </p:spPr>
        <p:txBody>
          <a:bodyPr wrap="square" rtlCol="0" anchor="ctr"/>
          <a:lstStyle/>
          <a:p>
            <a:pPr indent="0" marL="0">
              <a:buNone/>
            </a:pPr>
            <a:endParaRPr lang="en-US" dirty="0"/>
          </a:p>
        </p:txBody>
      </p:sp>
      <p:sp>
        <p:nvSpPr>
          <p:cNvPr id="41" name="Text 39"/>
          <p:cNvSpPr/>
          <p:nvPr/>
        </p:nvSpPr>
        <p:spPr>
          <a:xfrm>
            <a:off x="635794" y="4254103"/>
            <a:ext cx="7872413" cy="310753"/>
          </a:xfrm>
          <a:prstGeom prst="rect">
            <a:avLst/>
          </a:prstGeom>
          <a:noFill/>
          <a:ln/>
        </p:spPr>
        <p:txBody>
          <a:bodyPr wrap="square" lIns="0" tIns="0" rIns="0" bIns="0" rtlCol="0" anchor="t"/>
          <a:lstStyle/>
          <a:p>
            <a:pPr algn="l" indent="0" marL="0">
              <a:lnSpc>
                <a:spcPts val="1224"/>
              </a:lnSpc>
              <a:buNone/>
            </a:pPr>
            <a:r>
              <a:rPr lang="en-US" sz="800" dirty="0">
                <a:solidFill>
                  <a:srgbClr val="3B82F6"/>
                </a:solidFill>
                <a:latin typeface="Carlito" pitchFamily="34" charset="0"/>
                <a:ea typeface="Carlito" pitchFamily="34" charset="-122"/>
                <a:cs typeface="Carlito" pitchFamily="34" charset="-120"/>
              </a:rPr>
              <a:t>Enterprise Milestone Recognition:</a:t>
            </a:r>
            <a:pPr algn="l" indent="0" marL="0">
              <a:lnSpc>
                <a:spcPts val="1224"/>
              </a:lnSpc>
              <a:buNone/>
            </a:pPr>
            <a:r>
              <a:rPr lang="en-US" sz="800" dirty="0">
                <a:solidFill>
                  <a:srgbClr val="E8ECF4"/>
                </a:solidFill>
                <a:latin typeface="Carlito" pitchFamily="34" charset="0"/>
                <a:ea typeface="Carlito" pitchFamily="34" charset="-122"/>
                <a:cs typeface="Carlito" pitchFamily="34" charset="-120"/>
              </a:rPr>
              <a:t> When users achieve significant outcomes — first intelligence-driven deal, streak of early signal detection — the system acknowledges it. Not with confetti or sparkle, but with dignified milestone recognition. Premium. Measured. Meaningful.</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457200" y="457200"/>
            <a:ext cx="8636000" cy="296193"/>
          </a:xfrm>
          <a:prstGeom prst="rect">
            <a:avLst/>
          </a:prstGeom>
          <a:noFill/>
          <a:ln/>
        </p:spPr>
        <p:txBody>
          <a:bodyPr wrap="square" lIns="0" tIns="0" rIns="0" bIns="0" rtlCol="0" anchor="t"/>
          <a:lstStyle/>
          <a:p>
            <a:pPr algn="l" indent="0" marL="0">
              <a:lnSpc>
                <a:spcPts val="2160"/>
              </a:lnSpc>
              <a:buNone/>
            </a:pPr>
            <a:r>
              <a:rPr lang="en-US" sz="1440" b="1" spc="-29" kern="0" dirty="0">
                <a:solidFill>
                  <a:srgbClr val="FFFFFF"/>
                </a:solidFill>
                <a:latin typeface="Carlito" pitchFamily="34" charset="0"/>
                <a:ea typeface="Carlito" pitchFamily="34" charset="-122"/>
                <a:cs typeface="Carlito" pitchFamily="34" charset="-120"/>
              </a:rPr>
              <a:t>Design Patterns #12 &amp; #13 — Visual Language &amp; Component Architecture</a:t>
            </a:r>
            <a:endParaRPr lang="en-US" sz="1440" dirty="0"/>
          </a:p>
        </p:txBody>
      </p:sp>
      <p:sp>
        <p:nvSpPr>
          <p:cNvPr id="3" name="Text 1"/>
          <p:cNvSpPr/>
          <p:nvPr/>
        </p:nvSpPr>
        <p:spPr>
          <a:xfrm>
            <a:off x="457200" y="774316"/>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4" name="Text 2"/>
          <p:cNvSpPr/>
          <p:nvPr/>
        </p:nvSpPr>
        <p:spPr>
          <a:xfrm>
            <a:off x="457200" y="1024347"/>
            <a:ext cx="4320540" cy="164516"/>
          </a:xfrm>
          <a:prstGeom prst="rect">
            <a:avLst/>
          </a:prstGeom>
          <a:noFill/>
          <a:ln/>
        </p:spPr>
        <p:txBody>
          <a:bodyPr wrap="square" lIns="0" tIns="0" rIns="0" bIns="0" rtlCol="0" anchor="t"/>
          <a:lstStyle/>
          <a:p>
            <a:pPr algn="l" indent="0" marL="0">
              <a:lnSpc>
                <a:spcPts val="1148"/>
              </a:lnSpc>
              <a:buNone/>
            </a:pPr>
            <a:r>
              <a:rPr lang="en-US" sz="800" spc="61" kern="0" dirty="0">
                <a:solidFill>
                  <a:srgbClr val="8B95AD"/>
                </a:solidFill>
                <a:latin typeface="Carlito" pitchFamily="34" charset="0"/>
                <a:ea typeface="Carlito" pitchFamily="34" charset="-122"/>
                <a:cs typeface="Carlito" pitchFamily="34" charset="-120"/>
              </a:rPr>
              <a:t>PREMIUM ENTERPRISE INTELLIGENCE DESIGN</a:t>
            </a:r>
            <a:endParaRPr lang="en-US" sz="800" dirty="0"/>
          </a:p>
        </p:txBody>
      </p:sp>
      <p:sp>
        <p:nvSpPr>
          <p:cNvPr id="5" name="Text 3"/>
          <p:cNvSpPr/>
          <p:nvPr/>
        </p:nvSpPr>
        <p:spPr>
          <a:xfrm>
            <a:off x="457200" y="1270025"/>
            <a:ext cx="4000500" cy="1718429"/>
          </a:xfrm>
          <a:prstGeom prst="rect">
            <a:avLst/>
          </a:prstGeom>
          <a:noFill/>
          <a:ln/>
        </p:spPr>
        <p:txBody>
          <a:bodyPr wrap="square" lIns="0" tIns="0" rIns="0" bIns="0" rtlCol="0" anchor="t"/>
          <a:lstStyle/>
          <a:p>
            <a:pPr algn="l" marL="342900" indent="-342900">
              <a:lnSpc>
                <a:spcPts val="1107"/>
              </a:lnSpc>
              <a:spcAft>
                <a:spcPts val="563"/>
              </a:spcAft>
              <a:buSzPct val="100000"/>
              <a:buChar char="•"/>
            </a:pPr>
            <a:r>
              <a:rPr lang="en-US" sz="800" dirty="0">
                <a:solidFill>
                  <a:srgbClr val="E8ECF4"/>
                </a:solidFill>
                <a:latin typeface="Carlito" pitchFamily="34" charset="0"/>
                <a:ea typeface="Carlito" pitchFamily="34" charset="-122"/>
                <a:cs typeface="Carlito" pitchFamily="34" charset="-120"/>
              </a:rPr>
              <a:t>✦Dark glass-morphism depth — layered surfaces with blur and translucency</a:t>
            </a:r>
            <a:endParaRPr lang="en-US" sz="800" dirty="0"/>
          </a:p>
          <a:p>
            <a:pPr algn="l" marL="342900" indent="-342900">
              <a:lnSpc>
                <a:spcPts val="1107"/>
              </a:lnSpc>
              <a:spcAft>
                <a:spcPts val="563"/>
              </a:spcAft>
              <a:buSzPct val="100000"/>
              <a:buChar char="•"/>
            </a:pPr>
            <a:r>
              <a:rPr lang="en-US" sz="800" dirty="0">
                <a:solidFill>
                  <a:srgbClr val="E8ECF4"/>
                </a:solidFill>
                <a:latin typeface="Carlito" pitchFamily="34" charset="0"/>
                <a:ea typeface="Carlito" pitchFamily="34" charset="-122"/>
                <a:cs typeface="Carlito" pitchFamily="34" charset="-120"/>
              </a:rPr>
              <a:t>✦Card-based information hierarchy — every intelligence unit lives in a card</a:t>
            </a:r>
            <a:endParaRPr lang="en-US" sz="800" dirty="0"/>
          </a:p>
          <a:p>
            <a:pPr algn="l" marL="342900" indent="-342900">
              <a:lnSpc>
                <a:spcPts val="1107"/>
              </a:lnSpc>
              <a:spcAft>
                <a:spcPts val="563"/>
              </a:spcAft>
              <a:buSzPct val="100000"/>
              <a:buChar char="•"/>
            </a:pPr>
            <a:r>
              <a:rPr lang="en-US" sz="800" dirty="0">
                <a:solidFill>
                  <a:srgbClr val="E8ECF4"/>
                </a:solidFill>
                <a:latin typeface="Carlito" pitchFamily="34" charset="0"/>
                <a:ea typeface="Carlito" pitchFamily="34" charset="-122"/>
                <a:cs typeface="Carlito" pitchFamily="34" charset="-120"/>
              </a:rPr>
              <a:t>✦Calm enterprise color palette — blue, purple, green accents on deep dark backgrounds</a:t>
            </a:r>
            <a:endParaRPr lang="en-US" sz="800" dirty="0"/>
          </a:p>
          <a:p>
            <a:pPr algn="l" marL="342900" indent="-342900">
              <a:lnSpc>
                <a:spcPts val="1107"/>
              </a:lnSpc>
              <a:spcAft>
                <a:spcPts val="563"/>
              </a:spcAft>
              <a:buSzPct val="100000"/>
              <a:buChar char="•"/>
            </a:pPr>
            <a:r>
              <a:rPr lang="en-US" sz="800" dirty="0">
                <a:solidFill>
                  <a:srgbClr val="E8ECF4"/>
                </a:solidFill>
                <a:latin typeface="Carlito" pitchFamily="34" charset="0"/>
                <a:ea typeface="Carlito" pitchFamily="34" charset="-122"/>
                <a:cs typeface="Carlito" pitchFamily="34" charset="-120"/>
              </a:rPr>
              <a:t>✦Confidence-coded color system — semantic colors that communicate trust levels</a:t>
            </a:r>
            <a:endParaRPr lang="en-US" sz="800" dirty="0"/>
          </a:p>
          <a:p>
            <a:pPr algn="l" marL="342900" indent="-342900">
              <a:lnSpc>
                <a:spcPts val="1107"/>
              </a:lnSpc>
              <a:spcAft>
                <a:spcPts val="563"/>
              </a:spcAft>
              <a:buSzPct val="100000"/>
              <a:buChar char="•"/>
            </a:pPr>
            <a:r>
              <a:rPr lang="en-US" sz="800" dirty="0">
                <a:solidFill>
                  <a:srgbClr val="E8ECF4"/>
                </a:solidFill>
                <a:latin typeface="Carlito" pitchFamily="34" charset="0"/>
                <a:ea typeface="Carlito" pitchFamily="34" charset="-122"/>
                <a:cs typeface="Carlito" pitchFamily="34" charset="-120"/>
              </a:rPr>
              <a:t>✦Typography as hierarchy — Inter for clarity, JetBrains Mono for data</a:t>
            </a:r>
            <a:endParaRPr lang="en-US" sz="800" dirty="0"/>
          </a:p>
          <a:p>
            <a:pPr algn="l" marL="342900" indent="-342900">
              <a:lnSpc>
                <a:spcPts val="1107"/>
              </a:lnSpc>
              <a:spcAft>
                <a:spcPts val="563"/>
              </a:spcAft>
              <a:buSzPct val="100000"/>
              <a:buChar char="•"/>
            </a:pPr>
            <a:r>
              <a:rPr lang="en-US" sz="800" dirty="0">
                <a:solidFill>
                  <a:srgbClr val="E8ECF4"/>
                </a:solidFill>
                <a:latin typeface="Carlito" pitchFamily="34" charset="0"/>
                <a:ea typeface="Carlito" pitchFamily="34" charset="-122"/>
                <a:cs typeface="Carlito" pitchFamily="34" charset="-120"/>
              </a:rPr>
              <a:t>✦Motion with purpose — transitions that guide attention, not decoration</a:t>
            </a:r>
            <a:endParaRPr lang="en-US" sz="800" dirty="0"/>
          </a:p>
          <a:p>
            <a:pPr algn="l" marL="342900" indent="-342900">
              <a:lnSpc>
                <a:spcPts val="1107"/>
              </a:lnSpc>
              <a:spcAft>
                <a:spcPts val="563"/>
              </a:spcAft>
              <a:buSzPct val="100000"/>
              <a:buChar char="•"/>
            </a:pPr>
            <a:r>
              <a:rPr lang="en-US" sz="800" dirty="0">
                <a:solidFill>
                  <a:srgbClr val="E8ECF4"/>
                </a:solidFill>
                <a:latin typeface="Carlito" pitchFamily="34" charset="0"/>
                <a:ea typeface="Carlito" pitchFamily="34" charset="-122"/>
                <a:cs typeface="Carlito" pitchFamily="34" charset="-120"/>
              </a:rPr>
              <a:t>✦Spacing as breathing room — generous whitespace reduces cognitive load</a:t>
            </a:r>
            <a:endParaRPr lang="en-US" sz="800" dirty="0"/>
          </a:p>
        </p:txBody>
      </p:sp>
      <p:sp>
        <p:nvSpPr>
          <p:cNvPr id="6" name="Text 4"/>
          <p:cNvSpPr/>
          <p:nvPr/>
        </p:nvSpPr>
        <p:spPr>
          <a:xfrm>
            <a:off x="457200" y="2966665"/>
            <a:ext cx="4000500" cy="531428"/>
          </a:xfrm>
          <a:prstGeom prst="roundRect">
            <a:avLst>
              <a:gd name="adj" fmla="val 17923"/>
            </a:avLst>
          </a:prstGeom>
          <a:solidFill>
            <a:srgbClr val="161C2A">
              <a:alpha val="85000"/>
            </a:srgbClr>
          </a:solidFill>
          <a:ln/>
        </p:spPr>
        <p:txBody>
          <a:bodyPr wrap="square" rtlCol="0" anchor="ctr"/>
          <a:lstStyle/>
          <a:p>
            <a:pPr indent="0" marL="0">
              <a:buNone/>
            </a:pPr>
            <a:endParaRPr lang="en-US" dirty="0"/>
          </a:p>
        </p:txBody>
      </p:sp>
      <p:sp>
        <p:nvSpPr>
          <p:cNvPr id="7" name="Shape 5"/>
          <p:cNvSpPr/>
          <p:nvPr/>
        </p:nvSpPr>
        <p:spPr>
          <a:xfrm>
            <a:off x="457200" y="2970237"/>
            <a:ext cx="4000500" cy="0"/>
          </a:xfrm>
          <a:prstGeom prst="line">
            <a:avLst/>
          </a:prstGeom>
          <a:noFill/>
          <a:ln w="7144">
            <a:solidFill>
              <a:srgbClr val="252E42"/>
            </a:solidFill>
            <a:prstDash val="solid"/>
          </a:ln>
        </p:spPr>
      </p:sp>
      <p:sp>
        <p:nvSpPr>
          <p:cNvPr id="8" name="Shape 6"/>
          <p:cNvSpPr/>
          <p:nvPr/>
        </p:nvSpPr>
        <p:spPr>
          <a:xfrm>
            <a:off x="4454128" y="2966665"/>
            <a:ext cx="0" cy="531428"/>
          </a:xfrm>
          <a:prstGeom prst="line">
            <a:avLst/>
          </a:prstGeom>
          <a:noFill/>
          <a:ln w="7144">
            <a:solidFill>
              <a:srgbClr val="252E42"/>
            </a:solidFill>
            <a:prstDash val="solid"/>
          </a:ln>
        </p:spPr>
      </p:sp>
      <p:sp>
        <p:nvSpPr>
          <p:cNvPr id="9" name="Shape 7"/>
          <p:cNvSpPr/>
          <p:nvPr/>
        </p:nvSpPr>
        <p:spPr>
          <a:xfrm>
            <a:off x="457200" y="3494522"/>
            <a:ext cx="4000500" cy="0"/>
          </a:xfrm>
          <a:prstGeom prst="line">
            <a:avLst/>
          </a:prstGeom>
          <a:noFill/>
          <a:ln w="7144">
            <a:solidFill>
              <a:srgbClr val="252E42"/>
            </a:solidFill>
            <a:prstDash val="solid"/>
          </a:ln>
        </p:spPr>
      </p:sp>
      <p:sp>
        <p:nvSpPr>
          <p:cNvPr id="10" name="Shape 8"/>
          <p:cNvSpPr/>
          <p:nvPr/>
        </p:nvSpPr>
        <p:spPr>
          <a:xfrm>
            <a:off x="467916" y="2966665"/>
            <a:ext cx="0" cy="531428"/>
          </a:xfrm>
          <a:prstGeom prst="line">
            <a:avLst/>
          </a:prstGeom>
          <a:noFill/>
          <a:ln w="21431">
            <a:solidFill>
              <a:srgbClr val="3B82F6"/>
            </a:solidFill>
            <a:prstDash val="solid"/>
          </a:ln>
        </p:spPr>
      </p:sp>
      <p:pic>
        <p:nvPicPr>
          <p:cNvPr id="11" name="Image 0" descr="/tmp/h2p-svg-1785990831548-p1u5cq.png">    </p:cNvPr>
          <p:cNvPicPr>
            <a:picLocks noChangeAspect="1"/>
          </p:cNvPicPr>
          <p:nvPr/>
        </p:nvPicPr>
        <p:blipFill>
          <a:blip r:embed="rId1"/>
          <a:stretch>
            <a:fillRect/>
          </a:stretch>
        </p:blipFill>
        <p:spPr>
          <a:xfrm>
            <a:off x="621506" y="3103736"/>
            <a:ext cx="257175" cy="257175"/>
          </a:xfrm>
          <a:prstGeom prst="rect">
            <a:avLst/>
          </a:prstGeom>
        </p:spPr>
      </p:pic>
      <p:sp>
        <p:nvSpPr>
          <p:cNvPr id="12" name="Text 9"/>
          <p:cNvSpPr/>
          <p:nvPr/>
        </p:nvSpPr>
        <p:spPr>
          <a:xfrm>
            <a:off x="978694" y="3088109"/>
            <a:ext cx="3082725" cy="132521"/>
          </a:xfrm>
          <a:prstGeom prst="rect">
            <a:avLst/>
          </a:prstGeom>
          <a:noFill/>
          <a:ln/>
        </p:spPr>
        <p:txBody>
          <a:bodyPr wrap="square" lIns="0" tIns="0" rIns="0" bIns="0" rtlCol="0" anchor="t">
            <a:normAutofit/>
          </a:bodyPr>
          <a:lstStyle/>
          <a:p>
            <a:pPr algn="l" indent="0" marL="0">
              <a:lnSpc>
                <a:spcPts val="1148"/>
              </a:lnSpc>
              <a:buNone/>
            </a:pPr>
            <a:r>
              <a:rPr lang="en-US" sz="800" dirty="0">
                <a:solidFill>
                  <a:srgbClr val="FFFFFF"/>
                </a:solidFill>
                <a:latin typeface="Carlito" pitchFamily="34" charset="0"/>
                <a:ea typeface="Carlito" pitchFamily="34" charset="-122"/>
                <a:cs typeface="Carlito" pitchFamily="34" charset="-120"/>
              </a:rPr>
              <a:t>Account Risk Signal Detected</a:t>
            </a:r>
            <a:endParaRPr lang="en-US" sz="800" dirty="0"/>
          </a:p>
        </p:txBody>
      </p:sp>
      <p:sp>
        <p:nvSpPr>
          <p:cNvPr id="13" name="Text 10"/>
          <p:cNvSpPr/>
          <p:nvPr/>
        </p:nvSpPr>
        <p:spPr>
          <a:xfrm>
            <a:off x="978694" y="3248062"/>
            <a:ext cx="2997093" cy="128588"/>
          </a:xfrm>
          <a:prstGeom prst="rect">
            <a:avLst/>
          </a:prstGeom>
          <a:noFill/>
          <a:ln/>
        </p:spPr>
        <p:txBody>
          <a:bodyPr wrap="none" lIns="0" tIns="0" rIns="0" bIns="0" rtlCol="0" anchor="t"/>
          <a:lstStyle/>
          <a:p>
            <a:pPr algn="l" indent="0" marL="0">
              <a:lnSpc>
                <a:spcPts val="1013"/>
              </a:lnSpc>
              <a:buNone/>
            </a:pPr>
            <a:r>
              <a:rPr lang="en-US" sz="800" dirty="0">
                <a:solidFill>
                  <a:srgbClr val="8B95AD"/>
                </a:solidFill>
                <a:latin typeface="Liberation Sans Narrow" pitchFamily="34" charset="0"/>
                <a:ea typeface="Liberation Sans Narrow" pitchFamily="34" charset="-122"/>
                <a:cs typeface="Liberation Sans Narrow" pitchFamily="34" charset="-120"/>
              </a:rPr>
              <a:t>3 evidence sources linked</a:t>
            </a:r>
            <a:endParaRPr lang="en-US" sz="800" dirty="0"/>
          </a:p>
        </p:txBody>
      </p:sp>
      <p:sp>
        <p:nvSpPr>
          <p:cNvPr id="14" name="Text 11"/>
          <p:cNvSpPr/>
          <p:nvPr/>
        </p:nvSpPr>
        <p:spPr>
          <a:xfrm>
            <a:off x="3933081" y="3129929"/>
            <a:ext cx="374600" cy="204901"/>
          </a:xfrm>
          <a:prstGeom prst="roundRect">
            <a:avLst>
              <a:gd name="adj" fmla="val 46481215"/>
            </a:avLst>
          </a:prstGeom>
          <a:solidFill>
            <a:srgbClr val="3B82F6">
              <a:alpha val="15000"/>
            </a:srgbClr>
          </a:solidFill>
          <a:ln w="7144">
            <a:solidFill>
              <a:srgbClr val="3B82F6"/>
            </a:solidFill>
            <a:prstDash val="solid"/>
          </a:ln>
        </p:spPr>
        <p:txBody>
          <a:bodyPr wrap="square" rtlCol="0" anchor="ctr"/>
          <a:lstStyle/>
          <a:p>
            <a:pPr indent="0" marL="0">
              <a:buNone/>
            </a:pPr>
            <a:endParaRPr lang="en-US" dirty="0"/>
          </a:p>
        </p:txBody>
      </p:sp>
      <p:sp>
        <p:nvSpPr>
          <p:cNvPr id="15" name="Text 12"/>
          <p:cNvSpPr/>
          <p:nvPr/>
        </p:nvSpPr>
        <p:spPr>
          <a:xfrm>
            <a:off x="3933081" y="3140906"/>
            <a:ext cx="374600" cy="182947"/>
          </a:xfrm>
          <a:prstGeom prst="rect">
            <a:avLst/>
          </a:prstGeom>
          <a:noFill/>
          <a:ln/>
        </p:spPr>
        <p:txBody>
          <a:bodyPr wrap="none" lIns="0" tIns="0" rIns="0" bIns="0" rtlCol="0" anchor="ctr"/>
          <a:lstStyle/>
          <a:p>
            <a:pPr algn="ctr" indent="0" marL="0">
              <a:lnSpc>
                <a:spcPts val="877"/>
              </a:lnSpc>
              <a:buNone/>
            </a:pPr>
            <a:r>
              <a:rPr lang="en-US" sz="800" spc="29" kern="0" dirty="0">
                <a:solidFill>
                  <a:srgbClr val="60A5FA"/>
                </a:solidFill>
                <a:latin typeface="Liberation Sans Narrow" pitchFamily="34" charset="0"/>
                <a:ea typeface="Liberation Sans Narrow" pitchFamily="34" charset="-122"/>
                <a:cs typeface="Liberation Sans Narrow" pitchFamily="34" charset="-120"/>
              </a:rPr>
              <a:t>75%</a:t>
            </a:r>
            <a:endParaRPr lang="en-US" sz="800" dirty="0"/>
          </a:p>
        </p:txBody>
      </p:sp>
      <p:sp>
        <p:nvSpPr>
          <p:cNvPr id="16" name="Text 13"/>
          <p:cNvSpPr/>
          <p:nvPr/>
        </p:nvSpPr>
        <p:spPr>
          <a:xfrm>
            <a:off x="4686300" y="1024347"/>
            <a:ext cx="4320540" cy="164516"/>
          </a:xfrm>
          <a:prstGeom prst="rect">
            <a:avLst/>
          </a:prstGeom>
          <a:noFill/>
          <a:ln/>
        </p:spPr>
        <p:txBody>
          <a:bodyPr wrap="square" lIns="0" tIns="0" rIns="0" bIns="0" rtlCol="0" anchor="t"/>
          <a:lstStyle/>
          <a:p>
            <a:pPr algn="l" indent="0" marL="0">
              <a:lnSpc>
                <a:spcPts val="1148"/>
              </a:lnSpc>
              <a:buNone/>
            </a:pPr>
            <a:r>
              <a:rPr lang="en-US" sz="800" spc="61" kern="0" dirty="0">
                <a:solidFill>
                  <a:srgbClr val="8B95AD"/>
                </a:solidFill>
                <a:latin typeface="Carlito" pitchFamily="34" charset="0"/>
                <a:ea typeface="Carlito" pitchFamily="34" charset="-122"/>
                <a:cs typeface="Carlito" pitchFamily="34" charset="-120"/>
              </a:rPr>
              <a:t>COMPONENT ARCHITECTURE SYSTEM</a:t>
            </a:r>
            <a:endParaRPr lang="en-US" sz="800" dirty="0"/>
          </a:p>
        </p:txBody>
      </p:sp>
      <p:sp>
        <p:nvSpPr>
          <p:cNvPr id="17" name="Text 14"/>
          <p:cNvSpPr/>
          <p:nvPr/>
        </p:nvSpPr>
        <p:spPr>
          <a:xfrm>
            <a:off x="4818179" y="1405756"/>
            <a:ext cx="841207" cy="133350"/>
          </a:xfrm>
          <a:prstGeom prst="rect">
            <a:avLst/>
          </a:prstGeom>
          <a:noFill/>
          <a:ln/>
        </p:spPr>
        <p:txBody>
          <a:bodyPr wrap="none" lIns="0" tIns="0" rIns="0" bIns="0" rtlCol="0" anchor="t"/>
          <a:lstStyle/>
          <a:p>
            <a:pPr algn="l" indent="0" marL="0">
              <a:lnSpc>
                <a:spcPts val="1102"/>
              </a:lnSpc>
              <a:buNone/>
            </a:pPr>
            <a:r>
              <a:rPr lang="en-US" sz="800" dirty="0">
                <a:solidFill>
                  <a:srgbClr val="3B82F6"/>
                </a:solidFill>
                <a:latin typeface="Courier New" pitchFamily="34" charset="0"/>
                <a:ea typeface="Courier New" pitchFamily="34" charset="-122"/>
                <a:cs typeface="Courier New" pitchFamily="34" charset="-120"/>
              </a:rPr>
              <a:t>Design Tokens</a:t>
            </a:r>
            <a:endParaRPr lang="en-US" sz="800" dirty="0"/>
          </a:p>
        </p:txBody>
      </p:sp>
      <p:sp>
        <p:nvSpPr>
          <p:cNvPr id="18" name="Text 15"/>
          <p:cNvSpPr/>
          <p:nvPr/>
        </p:nvSpPr>
        <p:spPr>
          <a:xfrm>
            <a:off x="4836319" y="2384003"/>
            <a:ext cx="1114397" cy="133350"/>
          </a:xfrm>
          <a:prstGeom prst="rect">
            <a:avLst/>
          </a:prstGeom>
          <a:noFill/>
          <a:ln/>
        </p:spPr>
        <p:txBody>
          <a:bodyPr wrap="none" lIns="0" tIns="0" rIns="0" bIns="0" rtlCol="0" anchor="t"/>
          <a:lstStyle/>
          <a:p>
            <a:pPr algn="l" indent="0" marL="0">
              <a:lnSpc>
                <a:spcPts val="1102"/>
              </a:lnSpc>
              <a:buNone/>
            </a:pPr>
            <a:r>
              <a:rPr lang="en-US" sz="800" dirty="0">
                <a:solidFill>
                  <a:srgbClr val="A855F7"/>
                </a:solidFill>
                <a:latin typeface="Courier New" pitchFamily="34" charset="0"/>
                <a:ea typeface="Courier New" pitchFamily="34" charset="-122"/>
                <a:cs typeface="Courier New" pitchFamily="34" charset="-120"/>
              </a:rPr>
              <a:t>Intelligence Atoms</a:t>
            </a:r>
            <a:endParaRPr lang="en-US" sz="800" dirty="0"/>
          </a:p>
        </p:txBody>
      </p:sp>
      <p:sp>
        <p:nvSpPr>
          <p:cNvPr id="19" name="Text 16"/>
          <p:cNvSpPr/>
          <p:nvPr/>
        </p:nvSpPr>
        <p:spPr>
          <a:xfrm>
            <a:off x="4836319" y="3362251"/>
            <a:ext cx="1362056" cy="133350"/>
          </a:xfrm>
          <a:prstGeom prst="rect">
            <a:avLst/>
          </a:prstGeom>
          <a:noFill/>
          <a:ln/>
        </p:spPr>
        <p:txBody>
          <a:bodyPr wrap="none" lIns="0" tIns="0" rIns="0" bIns="0" rtlCol="0" anchor="t"/>
          <a:lstStyle/>
          <a:p>
            <a:pPr algn="l" indent="0" marL="0">
              <a:lnSpc>
                <a:spcPts val="1102"/>
              </a:lnSpc>
              <a:buNone/>
            </a:pPr>
            <a:r>
              <a:rPr lang="en-US" sz="800" dirty="0">
                <a:solidFill>
                  <a:srgbClr val="22C55E"/>
                </a:solidFill>
                <a:latin typeface="Courier New" pitchFamily="34" charset="0"/>
                <a:ea typeface="Courier New" pitchFamily="34" charset="-122"/>
                <a:cs typeface="Courier New" pitchFamily="34" charset="-120"/>
              </a:rPr>
              <a:t>Intelligence Molecules</a:t>
            </a:r>
            <a:endParaRPr lang="en-US" sz="800" dirty="0"/>
          </a:p>
        </p:txBody>
      </p:sp>
      <p:sp>
        <p:nvSpPr>
          <p:cNvPr id="20" name="Text 17"/>
          <p:cNvSpPr/>
          <p:nvPr/>
        </p:nvSpPr>
        <p:spPr>
          <a:xfrm>
            <a:off x="4836319" y="4200748"/>
            <a:ext cx="1362056" cy="133350"/>
          </a:xfrm>
          <a:prstGeom prst="rect">
            <a:avLst/>
          </a:prstGeom>
          <a:noFill/>
          <a:ln/>
        </p:spPr>
        <p:txBody>
          <a:bodyPr wrap="none" lIns="0" tIns="0" rIns="0" bIns="0" rtlCol="0" anchor="t"/>
          <a:lstStyle/>
          <a:p>
            <a:pPr algn="l" indent="0" marL="0">
              <a:lnSpc>
                <a:spcPts val="1102"/>
              </a:lnSpc>
              <a:buNone/>
            </a:pPr>
            <a:r>
              <a:rPr lang="en-US" sz="800" dirty="0">
                <a:solidFill>
                  <a:srgbClr val="06B6D4"/>
                </a:solidFill>
                <a:latin typeface="Courier New" pitchFamily="34" charset="0"/>
                <a:ea typeface="Courier New" pitchFamily="34" charset="-122"/>
                <a:cs typeface="Courier New" pitchFamily="34" charset="-120"/>
              </a:rPr>
              <a:t>Intelligence Organisms</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457200" y="457200"/>
            <a:ext cx="8636000" cy="275396"/>
          </a:xfrm>
          <a:prstGeom prst="rect">
            <a:avLst/>
          </a:prstGeom>
          <a:noFill/>
          <a:ln/>
        </p:spPr>
        <p:txBody>
          <a:bodyPr wrap="square" lIns="0" tIns="0" rIns="0" bIns="0" rtlCol="0" anchor="t">
            <a:normAutofit/>
          </a:bodyPr>
          <a:lstStyle/>
          <a:p>
            <a:pPr algn="l" indent="0" marL="0">
              <a:lnSpc>
                <a:spcPts val="2160"/>
              </a:lnSpc>
              <a:buNone/>
            </a:pPr>
            <a:r>
              <a:rPr lang="en-US" sz="1440" b="1" spc="-29" kern="0" dirty="0">
                <a:solidFill>
                  <a:srgbClr val="FFFFFF"/>
                </a:solidFill>
                <a:latin typeface="Carlito" pitchFamily="34" charset="0"/>
                <a:ea typeface="Carlito" pitchFamily="34" charset="-122"/>
                <a:cs typeface="Carlito" pitchFamily="34" charset="-120"/>
              </a:rPr>
              <a:t>The Transformation — Executive Dashboard → Intelligence Hub</a:t>
            </a:r>
            <a:endParaRPr lang="en-US" sz="1440" dirty="0"/>
          </a:p>
        </p:txBody>
      </p:sp>
      <p:sp>
        <p:nvSpPr>
          <p:cNvPr id="3" name="Text 1"/>
          <p:cNvSpPr/>
          <p:nvPr/>
        </p:nvSpPr>
        <p:spPr>
          <a:xfrm>
            <a:off x="457200" y="760028"/>
            <a:ext cx="8636000" cy="164485"/>
          </a:xfrm>
          <a:prstGeom prst="rect">
            <a:avLst/>
          </a:prstGeom>
          <a:noFill/>
          <a:ln/>
        </p:spPr>
        <p:txBody>
          <a:bodyPr wrap="square" lIns="0" tIns="0" rIns="0" bIns="0" rtlCol="0" anchor="t"/>
          <a:lstStyle/>
          <a:p>
            <a:pPr algn="l" indent="0" marL="0">
              <a:lnSpc>
                <a:spcPts val="1080"/>
              </a:lnSpc>
              <a:buNone/>
            </a:pPr>
            <a:r>
              <a:rPr lang="en-US" sz="800" dirty="0">
                <a:solidFill>
                  <a:srgbClr val="3B82F6"/>
                </a:solidFill>
                <a:latin typeface="Carlito" pitchFamily="34" charset="0"/>
                <a:ea typeface="Carlito" pitchFamily="34" charset="-122"/>
                <a:cs typeface="Carlito" pitchFamily="34" charset="-120"/>
              </a:rPr>
              <a:t>This is the core MS6 philosophy made visible</a:t>
            </a:r>
            <a:endParaRPr lang="en-US" sz="800" dirty="0"/>
          </a:p>
        </p:txBody>
      </p:sp>
      <p:sp>
        <p:nvSpPr>
          <p:cNvPr id="4" name="Text 2"/>
          <p:cNvSpPr/>
          <p:nvPr/>
        </p:nvSpPr>
        <p:spPr>
          <a:xfrm>
            <a:off x="457200" y="925674"/>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5" name="Text 3"/>
          <p:cNvSpPr/>
          <p:nvPr/>
        </p:nvSpPr>
        <p:spPr>
          <a:xfrm>
            <a:off x="460772" y="1150702"/>
            <a:ext cx="4021931" cy="3031964"/>
          </a:xfrm>
          <a:prstGeom prst="roundRect">
            <a:avLst>
              <a:gd name="adj" fmla="val 5026"/>
            </a:avLst>
          </a:prstGeom>
          <a:solidFill>
            <a:srgbClr val="EF4444">
              <a:alpha val="4000"/>
            </a:srgbClr>
          </a:solidFill>
          <a:ln w="7144">
            <a:solidFill>
              <a:srgbClr val="EF4444"/>
            </a:solidFill>
            <a:prstDash val="solid"/>
          </a:ln>
        </p:spPr>
        <p:txBody>
          <a:bodyPr wrap="square" rtlCol="0" anchor="ctr"/>
          <a:lstStyle/>
          <a:p>
            <a:pPr indent="0" marL="0">
              <a:buNone/>
            </a:pPr>
            <a:endParaRPr lang="en-US" dirty="0"/>
          </a:p>
        </p:txBody>
      </p:sp>
      <p:sp>
        <p:nvSpPr>
          <p:cNvPr id="6" name="Text 4"/>
          <p:cNvSpPr/>
          <p:nvPr/>
        </p:nvSpPr>
        <p:spPr>
          <a:xfrm>
            <a:off x="635794" y="1344253"/>
            <a:ext cx="1756916" cy="185166"/>
          </a:xfrm>
          <a:prstGeom prst="rect">
            <a:avLst/>
          </a:prstGeom>
          <a:noFill/>
          <a:ln/>
        </p:spPr>
        <p:txBody>
          <a:bodyPr wrap="none" lIns="0" tIns="0" rIns="0" bIns="0" rtlCol="0" anchor="t"/>
          <a:lstStyle/>
          <a:p>
            <a:pPr algn="l" indent="0" marL="0">
              <a:lnSpc>
                <a:spcPts val="1350"/>
              </a:lnSpc>
              <a:buNone/>
            </a:pPr>
            <a:r>
              <a:rPr lang="en-US" sz="900" b="1" spc="54" kern="0" dirty="0">
                <a:solidFill>
                  <a:srgbClr val="EF4444"/>
                </a:solidFill>
                <a:latin typeface="Carlito" pitchFamily="34" charset="0"/>
                <a:ea typeface="Carlito" pitchFamily="34" charset="-122"/>
                <a:cs typeface="Carlito" pitchFamily="34" charset="-120"/>
              </a:rPr>
              <a:t>CURRENT STATE</a:t>
            </a:r>
            <a:endParaRPr lang="en-US" sz="900" dirty="0"/>
          </a:p>
        </p:txBody>
      </p:sp>
      <p:sp>
        <p:nvSpPr>
          <p:cNvPr id="7" name="Text 5"/>
          <p:cNvSpPr/>
          <p:nvPr/>
        </p:nvSpPr>
        <p:spPr>
          <a:xfrm>
            <a:off x="2410569" y="1329296"/>
            <a:ext cx="1893540" cy="201364"/>
          </a:xfrm>
          <a:prstGeom prst="roundRect">
            <a:avLst>
              <a:gd name="adj" fmla="val 47297667"/>
            </a:avLst>
          </a:prstGeom>
          <a:solidFill>
            <a:srgbClr val="EF4444">
              <a:alpha val="15000"/>
            </a:srgbClr>
          </a:solidFill>
          <a:ln w="7144">
            <a:solidFill>
              <a:srgbClr val="EF4444"/>
            </a:solidFill>
            <a:prstDash val="solid"/>
          </a:ln>
        </p:spPr>
        <p:txBody>
          <a:bodyPr wrap="square" rtlCol="0" anchor="ctr"/>
          <a:lstStyle/>
          <a:p>
            <a:pPr indent="0" marL="0">
              <a:buNone/>
            </a:pPr>
            <a:endParaRPr lang="en-US" dirty="0"/>
          </a:p>
        </p:txBody>
      </p:sp>
      <p:sp>
        <p:nvSpPr>
          <p:cNvPr id="8" name="Text 6"/>
          <p:cNvSpPr/>
          <p:nvPr/>
        </p:nvSpPr>
        <p:spPr>
          <a:xfrm>
            <a:off x="2406997" y="1325724"/>
            <a:ext cx="1900684" cy="250210"/>
          </a:xfrm>
          <a:prstGeom prst="rect">
            <a:avLst/>
          </a:prstGeom>
          <a:noFill/>
          <a:ln/>
        </p:spPr>
        <p:txBody>
          <a:bodyPr wrap="none" lIns="85725" tIns="28575" rIns="85725" bIns="28575" rtlCol="0" anchor="t"/>
          <a:lstStyle/>
          <a:p>
            <a:pPr algn="l" indent="0" marL="0">
              <a:lnSpc>
                <a:spcPts val="1080"/>
              </a:lnSpc>
              <a:buNone/>
            </a:pPr>
            <a:r>
              <a:rPr lang="en-US" sz="800" spc="36" kern="0" dirty="0">
                <a:solidFill>
                  <a:srgbClr val="F87171"/>
                </a:solidFill>
                <a:latin typeface="Liberation Sans Narrow" pitchFamily="34" charset="0"/>
                <a:ea typeface="Liberation Sans Narrow" pitchFamily="34" charset="-122"/>
                <a:cs typeface="Liberation Sans Narrow" pitchFamily="34" charset="-120"/>
              </a:rPr>
              <a:t>12 KPI CARDS · NO HIERARCHY</a:t>
            </a:r>
            <a:endParaRPr lang="en-US" sz="800" dirty="0"/>
          </a:p>
        </p:txBody>
      </p:sp>
      <p:sp>
        <p:nvSpPr>
          <p:cNvPr id="9" name="Text 7"/>
          <p:cNvSpPr/>
          <p:nvPr/>
        </p:nvSpPr>
        <p:spPr>
          <a:xfrm>
            <a:off x="635794" y="1634244"/>
            <a:ext cx="3671888" cy="1014937"/>
          </a:xfrm>
          <a:prstGeom prst="rect">
            <a:avLst/>
          </a:prstGeom>
          <a:noFill/>
          <a:ln/>
        </p:spPr>
        <p:txBody>
          <a:bodyPr wrap="square" lIns="0" tIns="0" rIns="0" bIns="0" rtlCol="0" anchor="t"/>
          <a:lstStyle/>
          <a:p>
            <a:pPr algn="l" marL="342900" indent="-342900">
              <a:lnSpc>
                <a:spcPts val="1080"/>
              </a:lnSpc>
              <a:spcAft>
                <a:spcPts val="450"/>
              </a:spcAft>
              <a:buSzPct val="100000"/>
              <a:buChar char="•"/>
            </a:pPr>
            <a:r>
              <a:rPr lang="en-US" sz="800" dirty="0">
                <a:solidFill>
                  <a:srgbClr val="8B95AD"/>
                </a:solidFill>
                <a:latin typeface="Carlito" pitchFamily="34" charset="0"/>
                <a:ea typeface="Carlito" pitchFamily="34" charset="-122"/>
                <a:cs typeface="Carlito" pitchFamily="34" charset="-120"/>
              </a:rPr>
              <a:t>✕12 KPI cards competing for attention</a:t>
            </a:r>
            <a:endParaRPr lang="en-US" sz="800" dirty="0"/>
          </a:p>
          <a:p>
            <a:pPr algn="l" marL="342900" indent="-342900">
              <a:lnSpc>
                <a:spcPts val="1080"/>
              </a:lnSpc>
              <a:spcAft>
                <a:spcPts val="450"/>
              </a:spcAft>
              <a:buSzPct val="100000"/>
              <a:buChar char="•"/>
            </a:pPr>
            <a:r>
              <a:rPr lang="en-US" sz="800" dirty="0">
                <a:solidFill>
                  <a:srgbClr val="8B95AD"/>
                </a:solidFill>
                <a:latin typeface="Carlito" pitchFamily="34" charset="0"/>
                <a:ea typeface="Carlito" pitchFamily="34" charset="-122"/>
                <a:cs typeface="Carlito" pitchFamily="34" charset="-120"/>
              </a:rPr>
              <a:t>✕Activity feeds without prioritization</a:t>
            </a:r>
            <a:endParaRPr lang="en-US" sz="800" dirty="0"/>
          </a:p>
          <a:p>
            <a:pPr algn="l" marL="342900" indent="-342900">
              <a:lnSpc>
                <a:spcPts val="1080"/>
              </a:lnSpc>
              <a:spcAft>
                <a:spcPts val="450"/>
              </a:spcAft>
              <a:buSzPct val="100000"/>
              <a:buChar char="•"/>
            </a:pPr>
            <a:r>
              <a:rPr lang="en-US" sz="800" dirty="0">
                <a:solidFill>
                  <a:srgbClr val="8B95AD"/>
                </a:solidFill>
                <a:latin typeface="Carlito" pitchFamily="34" charset="0"/>
                <a:ea typeface="Carlito" pitchFamily="34" charset="-122"/>
                <a:cs typeface="Carlito" pitchFamily="34" charset="-120"/>
              </a:rPr>
              <a:t>✕Pipeline stages without intelligence overlay</a:t>
            </a:r>
            <a:endParaRPr lang="en-US" sz="800" dirty="0"/>
          </a:p>
          <a:p>
            <a:pPr algn="l" marL="342900" indent="-342900">
              <a:lnSpc>
                <a:spcPts val="1080"/>
              </a:lnSpc>
              <a:spcAft>
                <a:spcPts val="450"/>
              </a:spcAft>
              <a:buSzPct val="100000"/>
              <a:buChar char="•"/>
            </a:pPr>
            <a:r>
              <a:rPr lang="en-US" sz="800" dirty="0">
                <a:solidFill>
                  <a:srgbClr val="8B95AD"/>
                </a:solidFill>
                <a:latin typeface="Carlito" pitchFamily="34" charset="0"/>
                <a:ea typeface="Carlito" pitchFamily="34" charset="-122"/>
                <a:cs typeface="Carlito" pitchFamily="34" charset="-120"/>
              </a:rPr>
              <a:t>✕Audit logs without narrative context</a:t>
            </a:r>
            <a:endParaRPr lang="en-US" sz="800" dirty="0"/>
          </a:p>
        </p:txBody>
      </p:sp>
      <p:sp>
        <p:nvSpPr>
          <p:cNvPr id="10" name="Shape 8"/>
          <p:cNvSpPr/>
          <p:nvPr/>
        </p:nvSpPr>
        <p:spPr>
          <a:xfrm>
            <a:off x="635794" y="2627114"/>
            <a:ext cx="3671888" cy="0"/>
          </a:xfrm>
          <a:prstGeom prst="line">
            <a:avLst/>
          </a:prstGeom>
          <a:noFill/>
          <a:ln w="7144">
            <a:solidFill>
              <a:srgbClr val="EF4444"/>
            </a:solidFill>
            <a:prstDash val="solid"/>
          </a:ln>
        </p:spPr>
      </p:sp>
      <p:sp>
        <p:nvSpPr>
          <p:cNvPr id="11" name="Text 9"/>
          <p:cNvSpPr/>
          <p:nvPr/>
        </p:nvSpPr>
        <p:spPr>
          <a:xfrm>
            <a:off x="635794" y="2716411"/>
            <a:ext cx="3781616" cy="144018"/>
          </a:xfrm>
          <a:prstGeom prst="rect">
            <a:avLst/>
          </a:prstGeom>
          <a:noFill/>
          <a:ln/>
        </p:spPr>
        <p:txBody>
          <a:bodyPr wrap="square" lIns="0" tIns="0" rIns="0" bIns="0" rtlCol="0" anchor="t">
            <a:normAutofit/>
          </a:bodyPr>
          <a:lstStyle/>
          <a:p>
            <a:pPr algn="l" indent="0" marL="0">
              <a:lnSpc>
                <a:spcPts val="1013"/>
              </a:lnSpc>
              <a:buNone/>
            </a:pPr>
            <a:r>
              <a:rPr lang="en-US" sz="800" i="1" dirty="0">
                <a:solidFill>
                  <a:srgbClr val="8B95AD"/>
                </a:solidFill>
                <a:latin typeface="Carlito" pitchFamily="34" charset="0"/>
                <a:ea typeface="Carlito" pitchFamily="34" charset="-122"/>
                <a:cs typeface="Carlito" pitchFamily="34" charset="-120"/>
              </a:rPr>
              <a:t>User sees data but cannot answer:</a:t>
            </a:r>
            <a:endParaRPr lang="en-US" sz="800" dirty="0"/>
          </a:p>
        </p:txBody>
      </p:sp>
      <p:sp>
        <p:nvSpPr>
          <p:cNvPr id="12" name="Text 10"/>
          <p:cNvSpPr/>
          <p:nvPr/>
        </p:nvSpPr>
        <p:spPr>
          <a:xfrm>
            <a:off x="635794" y="2887861"/>
            <a:ext cx="3671888" cy="548283"/>
          </a:xfrm>
          <a:prstGeom prst="rect">
            <a:avLst/>
          </a:prstGeom>
          <a:noFill/>
          <a:ln/>
        </p:spPr>
        <p:txBody>
          <a:bodyPr wrap="square" lIns="85725" tIns="0" rIns="0" bIns="0" rtlCol="0" anchor="t"/>
          <a:lstStyle/>
          <a:p>
            <a:pPr algn="l" indent="0" marL="0">
              <a:lnSpc>
                <a:spcPts val="1080"/>
              </a:lnSpc>
              <a:buNone/>
            </a:pPr>
            <a:r>
              <a:rPr lang="en-US" sz="800" dirty="0">
                <a:solidFill>
                  <a:srgbClr val="EF4444"/>
                </a:solidFill>
                <a:latin typeface="Carlito" pitchFamily="34" charset="0"/>
                <a:ea typeface="Carlito" pitchFamily="34" charset="-122"/>
                <a:cs typeface="Carlito" pitchFamily="34" charset="-120"/>
              </a:rPr>
              <a:t>What matters most right now?</a:t>
            </a:r>
            <a:endParaRPr lang="en-US" sz="800" dirty="0"/>
          </a:p>
          <a:p>
            <a:pPr algn="l" indent="0" marL="0">
              <a:lnSpc>
                <a:spcPts val="1080"/>
              </a:lnSpc>
              <a:buNone/>
            </a:pPr>
            <a:r>
              <a:rPr lang="en-US" sz="800" dirty="0">
                <a:solidFill>
                  <a:srgbClr val="EF4444"/>
                </a:solidFill>
                <a:latin typeface="Carlito" pitchFamily="34" charset="0"/>
                <a:ea typeface="Carlito" pitchFamily="34" charset="-122"/>
                <a:cs typeface="Carlito" pitchFamily="34" charset="-120"/>
              </a:rPr>
              <a:t>What changed since yesterday?</a:t>
            </a:r>
            <a:endParaRPr lang="en-US" sz="800" dirty="0"/>
          </a:p>
          <a:p>
            <a:pPr algn="l" indent="0" marL="0">
              <a:lnSpc>
                <a:spcPts val="1080"/>
              </a:lnSpc>
              <a:buNone/>
            </a:pPr>
            <a:r>
              <a:rPr lang="en-US" sz="800" dirty="0">
                <a:solidFill>
                  <a:srgbClr val="EF4444"/>
                </a:solidFill>
                <a:latin typeface="Carlito" pitchFamily="34" charset="0"/>
                <a:ea typeface="Carlito" pitchFamily="34" charset="-122"/>
                <a:cs typeface="Carlito" pitchFamily="34" charset="-120"/>
              </a:rPr>
              <a:t>What should I do about it?</a:t>
            </a:r>
            <a:endParaRPr lang="en-US" sz="800" dirty="0"/>
          </a:p>
          <a:p>
            <a:pPr algn="l" indent="0" marL="0">
              <a:lnSpc>
                <a:spcPts val="1080"/>
              </a:lnSpc>
              <a:buNone/>
            </a:pPr>
            <a:r>
              <a:rPr lang="en-US" sz="800" dirty="0">
                <a:solidFill>
                  <a:srgbClr val="EF4444"/>
                </a:solidFill>
                <a:latin typeface="Carlito" pitchFamily="34" charset="0"/>
                <a:ea typeface="Carlito" pitchFamily="34" charset="-122"/>
                <a:cs typeface="Carlito" pitchFamily="34" charset="-120"/>
              </a:rPr>
              <a:t>Why should I trust this number?</a:t>
            </a:r>
            <a:endParaRPr lang="en-US" sz="800" dirty="0"/>
          </a:p>
        </p:txBody>
      </p:sp>
      <p:sp>
        <p:nvSpPr>
          <p:cNvPr id="13" name="Text 11"/>
          <p:cNvSpPr/>
          <p:nvPr/>
        </p:nvSpPr>
        <p:spPr>
          <a:xfrm>
            <a:off x="635794" y="3521869"/>
            <a:ext cx="896541" cy="142875"/>
          </a:xfrm>
          <a:prstGeom prst="roundRect">
            <a:avLst>
              <a:gd name="adj" fmla="val 20000"/>
            </a:avLst>
          </a:prstGeom>
          <a:solidFill>
            <a:srgbClr val="EF4444"/>
          </a:solidFill>
          <a:ln/>
        </p:spPr>
        <p:txBody>
          <a:bodyPr wrap="square" rtlCol="0" anchor="ctr"/>
          <a:lstStyle/>
          <a:p>
            <a:pPr indent="0" marL="0">
              <a:buNone/>
            </a:pPr>
            <a:endParaRPr lang="en-US" dirty="0"/>
          </a:p>
        </p:txBody>
      </p:sp>
      <p:sp>
        <p:nvSpPr>
          <p:cNvPr id="14" name="Text 12"/>
          <p:cNvSpPr/>
          <p:nvPr/>
        </p:nvSpPr>
        <p:spPr>
          <a:xfrm>
            <a:off x="1560909" y="3521869"/>
            <a:ext cx="896541" cy="142875"/>
          </a:xfrm>
          <a:prstGeom prst="roundRect">
            <a:avLst>
              <a:gd name="adj" fmla="val 20000"/>
            </a:avLst>
          </a:prstGeom>
          <a:solidFill>
            <a:srgbClr val="EF4444"/>
          </a:solidFill>
          <a:ln/>
        </p:spPr>
        <p:txBody>
          <a:bodyPr wrap="square" rtlCol="0" anchor="ctr"/>
          <a:lstStyle/>
          <a:p>
            <a:pPr indent="0" marL="0">
              <a:buNone/>
            </a:pPr>
            <a:endParaRPr lang="en-US" dirty="0"/>
          </a:p>
        </p:txBody>
      </p:sp>
      <p:sp>
        <p:nvSpPr>
          <p:cNvPr id="15" name="Text 13"/>
          <p:cNvSpPr/>
          <p:nvPr/>
        </p:nvSpPr>
        <p:spPr>
          <a:xfrm>
            <a:off x="2486025" y="3521869"/>
            <a:ext cx="896541" cy="142875"/>
          </a:xfrm>
          <a:prstGeom prst="roundRect">
            <a:avLst>
              <a:gd name="adj" fmla="val 20000"/>
            </a:avLst>
          </a:prstGeom>
          <a:solidFill>
            <a:srgbClr val="EF4444"/>
          </a:solidFill>
          <a:ln/>
        </p:spPr>
        <p:txBody>
          <a:bodyPr wrap="square" rtlCol="0" anchor="ctr"/>
          <a:lstStyle/>
          <a:p>
            <a:pPr indent="0" marL="0">
              <a:buNone/>
            </a:pPr>
            <a:endParaRPr lang="en-US" dirty="0"/>
          </a:p>
        </p:txBody>
      </p:sp>
      <p:sp>
        <p:nvSpPr>
          <p:cNvPr id="16" name="Text 14"/>
          <p:cNvSpPr/>
          <p:nvPr/>
        </p:nvSpPr>
        <p:spPr>
          <a:xfrm>
            <a:off x="3411141" y="3521869"/>
            <a:ext cx="896541" cy="142875"/>
          </a:xfrm>
          <a:prstGeom prst="roundRect">
            <a:avLst>
              <a:gd name="adj" fmla="val 20000"/>
            </a:avLst>
          </a:prstGeom>
          <a:solidFill>
            <a:srgbClr val="EF4444"/>
          </a:solidFill>
          <a:ln/>
        </p:spPr>
        <p:txBody>
          <a:bodyPr wrap="square" rtlCol="0" anchor="ctr"/>
          <a:lstStyle/>
          <a:p>
            <a:pPr indent="0" marL="0">
              <a:buNone/>
            </a:pPr>
            <a:endParaRPr lang="en-US" dirty="0"/>
          </a:p>
        </p:txBody>
      </p:sp>
      <p:sp>
        <p:nvSpPr>
          <p:cNvPr id="17" name="Text 15"/>
          <p:cNvSpPr/>
          <p:nvPr/>
        </p:nvSpPr>
        <p:spPr>
          <a:xfrm>
            <a:off x="635794" y="3693319"/>
            <a:ext cx="896541" cy="142875"/>
          </a:xfrm>
          <a:prstGeom prst="roundRect">
            <a:avLst>
              <a:gd name="adj" fmla="val 20000"/>
            </a:avLst>
          </a:prstGeom>
          <a:solidFill>
            <a:srgbClr val="EF4444"/>
          </a:solidFill>
          <a:ln/>
        </p:spPr>
        <p:txBody>
          <a:bodyPr wrap="square" rtlCol="0" anchor="ctr"/>
          <a:lstStyle/>
          <a:p>
            <a:pPr indent="0" marL="0">
              <a:buNone/>
            </a:pPr>
            <a:endParaRPr lang="en-US" dirty="0"/>
          </a:p>
        </p:txBody>
      </p:sp>
      <p:sp>
        <p:nvSpPr>
          <p:cNvPr id="18" name="Text 16"/>
          <p:cNvSpPr/>
          <p:nvPr/>
        </p:nvSpPr>
        <p:spPr>
          <a:xfrm>
            <a:off x="1560909" y="3693319"/>
            <a:ext cx="896541" cy="142875"/>
          </a:xfrm>
          <a:prstGeom prst="roundRect">
            <a:avLst>
              <a:gd name="adj" fmla="val 20000"/>
            </a:avLst>
          </a:prstGeom>
          <a:solidFill>
            <a:srgbClr val="EF4444"/>
          </a:solidFill>
          <a:ln/>
        </p:spPr>
        <p:txBody>
          <a:bodyPr wrap="square" rtlCol="0" anchor="ctr"/>
          <a:lstStyle/>
          <a:p>
            <a:pPr indent="0" marL="0">
              <a:buNone/>
            </a:pPr>
            <a:endParaRPr lang="en-US" dirty="0"/>
          </a:p>
        </p:txBody>
      </p:sp>
      <p:sp>
        <p:nvSpPr>
          <p:cNvPr id="19" name="Text 17"/>
          <p:cNvSpPr/>
          <p:nvPr/>
        </p:nvSpPr>
        <p:spPr>
          <a:xfrm>
            <a:off x="2486025" y="3693319"/>
            <a:ext cx="896541" cy="142875"/>
          </a:xfrm>
          <a:prstGeom prst="roundRect">
            <a:avLst>
              <a:gd name="adj" fmla="val 20000"/>
            </a:avLst>
          </a:prstGeom>
          <a:solidFill>
            <a:srgbClr val="EF4444"/>
          </a:solidFill>
          <a:ln/>
        </p:spPr>
        <p:txBody>
          <a:bodyPr wrap="square" rtlCol="0" anchor="ctr"/>
          <a:lstStyle/>
          <a:p>
            <a:pPr indent="0" marL="0">
              <a:buNone/>
            </a:pPr>
            <a:endParaRPr lang="en-US" dirty="0"/>
          </a:p>
        </p:txBody>
      </p:sp>
      <p:sp>
        <p:nvSpPr>
          <p:cNvPr id="20" name="Text 18"/>
          <p:cNvSpPr/>
          <p:nvPr/>
        </p:nvSpPr>
        <p:spPr>
          <a:xfrm>
            <a:off x="3411141" y="3693319"/>
            <a:ext cx="896541" cy="142875"/>
          </a:xfrm>
          <a:prstGeom prst="roundRect">
            <a:avLst>
              <a:gd name="adj" fmla="val 20000"/>
            </a:avLst>
          </a:prstGeom>
          <a:solidFill>
            <a:srgbClr val="EF4444"/>
          </a:solidFill>
          <a:ln/>
        </p:spPr>
        <p:txBody>
          <a:bodyPr wrap="square" rtlCol="0" anchor="ctr"/>
          <a:lstStyle/>
          <a:p>
            <a:pPr indent="0" marL="0">
              <a:buNone/>
            </a:pPr>
            <a:endParaRPr lang="en-US" dirty="0"/>
          </a:p>
        </p:txBody>
      </p:sp>
      <p:sp>
        <p:nvSpPr>
          <p:cNvPr id="21" name="Text 19"/>
          <p:cNvSpPr/>
          <p:nvPr/>
        </p:nvSpPr>
        <p:spPr>
          <a:xfrm>
            <a:off x="635794" y="3864769"/>
            <a:ext cx="896541" cy="142875"/>
          </a:xfrm>
          <a:prstGeom prst="roundRect">
            <a:avLst>
              <a:gd name="adj" fmla="val 20000"/>
            </a:avLst>
          </a:prstGeom>
          <a:solidFill>
            <a:srgbClr val="EF4444"/>
          </a:solidFill>
          <a:ln/>
        </p:spPr>
        <p:txBody>
          <a:bodyPr wrap="square" rtlCol="0" anchor="ctr"/>
          <a:lstStyle/>
          <a:p>
            <a:pPr indent="0" marL="0">
              <a:buNone/>
            </a:pPr>
            <a:endParaRPr lang="en-US" dirty="0"/>
          </a:p>
        </p:txBody>
      </p:sp>
      <p:sp>
        <p:nvSpPr>
          <p:cNvPr id="22" name="Text 20"/>
          <p:cNvSpPr/>
          <p:nvPr/>
        </p:nvSpPr>
        <p:spPr>
          <a:xfrm>
            <a:off x="1560909" y="3864769"/>
            <a:ext cx="896541" cy="142875"/>
          </a:xfrm>
          <a:prstGeom prst="roundRect">
            <a:avLst>
              <a:gd name="adj" fmla="val 20000"/>
            </a:avLst>
          </a:prstGeom>
          <a:solidFill>
            <a:srgbClr val="EF4444"/>
          </a:solidFill>
          <a:ln/>
        </p:spPr>
        <p:txBody>
          <a:bodyPr wrap="square" rtlCol="0" anchor="ctr"/>
          <a:lstStyle/>
          <a:p>
            <a:pPr indent="0" marL="0">
              <a:buNone/>
            </a:pPr>
            <a:endParaRPr lang="en-US" dirty="0"/>
          </a:p>
        </p:txBody>
      </p:sp>
      <p:sp>
        <p:nvSpPr>
          <p:cNvPr id="23" name="Text 21"/>
          <p:cNvSpPr/>
          <p:nvPr/>
        </p:nvSpPr>
        <p:spPr>
          <a:xfrm>
            <a:off x="2486025" y="3864769"/>
            <a:ext cx="896541" cy="142875"/>
          </a:xfrm>
          <a:prstGeom prst="roundRect">
            <a:avLst>
              <a:gd name="adj" fmla="val 20000"/>
            </a:avLst>
          </a:prstGeom>
          <a:solidFill>
            <a:srgbClr val="EF4444"/>
          </a:solidFill>
          <a:ln/>
        </p:spPr>
        <p:txBody>
          <a:bodyPr wrap="square" rtlCol="0" anchor="ctr"/>
          <a:lstStyle/>
          <a:p>
            <a:pPr indent="0" marL="0">
              <a:buNone/>
            </a:pPr>
            <a:endParaRPr lang="en-US" dirty="0"/>
          </a:p>
        </p:txBody>
      </p:sp>
      <p:sp>
        <p:nvSpPr>
          <p:cNvPr id="24" name="Text 22"/>
          <p:cNvSpPr/>
          <p:nvPr/>
        </p:nvSpPr>
        <p:spPr>
          <a:xfrm>
            <a:off x="3411141" y="3864769"/>
            <a:ext cx="896541" cy="142875"/>
          </a:xfrm>
          <a:prstGeom prst="roundRect">
            <a:avLst>
              <a:gd name="adj" fmla="val 20000"/>
            </a:avLst>
          </a:prstGeom>
          <a:solidFill>
            <a:srgbClr val="EF4444"/>
          </a:solidFill>
          <a:ln/>
        </p:spPr>
        <p:txBody>
          <a:bodyPr wrap="square" rtlCol="0" anchor="ctr"/>
          <a:lstStyle/>
          <a:p>
            <a:pPr indent="0" marL="0">
              <a:buNone/>
            </a:pPr>
            <a:endParaRPr lang="en-US" dirty="0"/>
          </a:p>
        </p:txBody>
      </p:sp>
      <p:sp>
        <p:nvSpPr>
          <p:cNvPr id="25" name="Text 23"/>
          <p:cNvSpPr/>
          <p:nvPr/>
        </p:nvSpPr>
        <p:spPr>
          <a:xfrm>
            <a:off x="4661297" y="1150702"/>
            <a:ext cx="4021931" cy="3031964"/>
          </a:xfrm>
          <a:prstGeom prst="roundRect">
            <a:avLst>
              <a:gd name="adj" fmla="val 5026"/>
            </a:avLst>
          </a:prstGeom>
          <a:solidFill>
            <a:srgbClr val="3B82F6">
              <a:alpha val="4000"/>
            </a:srgbClr>
          </a:solidFill>
          <a:ln w="7144">
            <a:solidFill>
              <a:srgbClr val="3B82F6"/>
            </a:solidFill>
            <a:prstDash val="solid"/>
          </a:ln>
        </p:spPr>
        <p:txBody>
          <a:bodyPr wrap="square" rtlCol="0" anchor="ctr"/>
          <a:lstStyle/>
          <a:p>
            <a:pPr indent="0" marL="0">
              <a:buNone/>
            </a:pPr>
            <a:endParaRPr lang="en-US" dirty="0"/>
          </a:p>
        </p:txBody>
      </p:sp>
      <p:sp>
        <p:nvSpPr>
          <p:cNvPr id="26" name="Text 24"/>
          <p:cNvSpPr/>
          <p:nvPr/>
        </p:nvSpPr>
        <p:spPr>
          <a:xfrm>
            <a:off x="4836319" y="1344253"/>
            <a:ext cx="2070527" cy="185166"/>
          </a:xfrm>
          <a:prstGeom prst="rect">
            <a:avLst/>
          </a:prstGeom>
          <a:noFill/>
          <a:ln/>
        </p:spPr>
        <p:txBody>
          <a:bodyPr wrap="none" lIns="0" tIns="0" rIns="0" bIns="0" rtlCol="0" anchor="t"/>
          <a:lstStyle/>
          <a:p>
            <a:pPr algn="l" indent="0" marL="0">
              <a:lnSpc>
                <a:spcPts val="1350"/>
              </a:lnSpc>
              <a:buNone/>
            </a:pPr>
            <a:r>
              <a:rPr lang="en-US" sz="900" b="1" spc="54" kern="0" dirty="0">
                <a:solidFill>
                  <a:srgbClr val="3B82F6"/>
                </a:solidFill>
                <a:latin typeface="Liberation Sans Narrow" pitchFamily="34" charset="0"/>
                <a:ea typeface="Liberation Sans Narrow" pitchFamily="34" charset="-122"/>
                <a:cs typeface="Liberation Sans Narrow" pitchFamily="34" charset="-120"/>
              </a:rPr>
              <a:t>FUTURE STATE (MS6+)</a:t>
            </a:r>
            <a:endParaRPr lang="en-US" sz="900" dirty="0"/>
          </a:p>
        </p:txBody>
      </p:sp>
      <p:sp>
        <p:nvSpPr>
          <p:cNvPr id="27" name="Text 25"/>
          <p:cNvSpPr/>
          <p:nvPr/>
        </p:nvSpPr>
        <p:spPr>
          <a:xfrm>
            <a:off x="6763144" y="1313213"/>
            <a:ext cx="1767922" cy="233529"/>
          </a:xfrm>
          <a:prstGeom prst="roundRect">
            <a:avLst>
              <a:gd name="adj" fmla="val 40783147"/>
            </a:avLst>
          </a:prstGeom>
          <a:solidFill>
            <a:srgbClr val="3B82F6">
              <a:alpha val="15000"/>
            </a:srgbClr>
          </a:solidFill>
          <a:ln w="7144">
            <a:solidFill>
              <a:srgbClr val="3B82F6"/>
            </a:solidFill>
            <a:prstDash val="solid"/>
          </a:ln>
        </p:spPr>
        <p:txBody>
          <a:bodyPr wrap="square" rtlCol="0" anchor="ctr"/>
          <a:lstStyle/>
          <a:p>
            <a:pPr indent="0" marL="0">
              <a:buNone/>
            </a:pPr>
            <a:endParaRPr lang="en-US" dirty="0"/>
          </a:p>
        </p:txBody>
      </p:sp>
      <p:sp>
        <p:nvSpPr>
          <p:cNvPr id="28" name="Text 26"/>
          <p:cNvSpPr/>
          <p:nvPr/>
        </p:nvSpPr>
        <p:spPr>
          <a:xfrm>
            <a:off x="6786004" y="1325724"/>
            <a:ext cx="1722202" cy="208508"/>
          </a:xfrm>
          <a:prstGeom prst="rect">
            <a:avLst/>
          </a:prstGeom>
          <a:noFill/>
          <a:ln/>
        </p:spPr>
        <p:txBody>
          <a:bodyPr wrap="none" lIns="0" tIns="0" rIns="0" bIns="0" rtlCol="0" anchor="ctr"/>
          <a:lstStyle/>
          <a:p>
            <a:pPr algn="ctr" indent="0" marL="0">
              <a:lnSpc>
                <a:spcPts val="1080"/>
              </a:lnSpc>
              <a:buNone/>
            </a:pPr>
            <a:r>
              <a:rPr lang="en-US" sz="800" spc="36" kern="0" dirty="0">
                <a:solidFill>
                  <a:srgbClr val="60A5FA"/>
                </a:solidFill>
                <a:latin typeface="Carlito" pitchFamily="34" charset="0"/>
                <a:ea typeface="Carlito" pitchFamily="34" charset="-122"/>
                <a:cs typeface="Carlito" pitchFamily="34" charset="-120"/>
              </a:rPr>
              <a:t>EXECUTIVE BRIEFING ROOM</a:t>
            </a:r>
            <a:endParaRPr lang="en-US" sz="800" dirty="0"/>
          </a:p>
        </p:txBody>
      </p:sp>
      <p:sp>
        <p:nvSpPr>
          <p:cNvPr id="29" name="Text 27"/>
          <p:cNvSpPr/>
          <p:nvPr/>
        </p:nvSpPr>
        <p:spPr>
          <a:xfrm>
            <a:off x="4836319" y="1634244"/>
            <a:ext cx="3671888" cy="1175377"/>
          </a:xfrm>
          <a:prstGeom prst="rect">
            <a:avLst/>
          </a:prstGeom>
          <a:noFill/>
          <a:ln/>
        </p:spPr>
        <p:txBody>
          <a:bodyPr wrap="square" lIns="0" tIns="0" rIns="0" bIns="0" rtlCol="0" anchor="t"/>
          <a:lstStyle/>
          <a:p>
            <a:pPr algn="l" marL="342900" indent="-342900">
              <a:lnSpc>
                <a:spcPts val="1080"/>
              </a:lnSpc>
              <a:spcAft>
                <a:spcPts val="450"/>
              </a:spcAft>
              <a:buSzPct val="100000"/>
              <a:buChar char="•"/>
            </a:pPr>
            <a:r>
              <a:rPr lang="en-US" sz="800" dirty="0">
                <a:solidFill>
                  <a:srgbClr val="E8ECF4"/>
                </a:solidFill>
                <a:latin typeface="Carlito" pitchFamily="34" charset="0"/>
                <a:ea typeface="Carlito" pitchFamily="34" charset="-122"/>
                <a:cs typeface="Carlito" pitchFamily="34" charset="-120"/>
              </a:rPr>
              <a:t>✓Strategic priorities surfaced automatically</a:t>
            </a:r>
            <a:endParaRPr lang="en-US" sz="800" dirty="0"/>
          </a:p>
          <a:p>
            <a:pPr algn="l" marL="342900" indent="-342900">
              <a:lnSpc>
                <a:spcPts val="1080"/>
              </a:lnSpc>
              <a:spcAft>
                <a:spcPts val="450"/>
              </a:spcAft>
              <a:buSzPct val="100000"/>
              <a:buChar char="•"/>
            </a:pPr>
            <a:r>
              <a:rPr lang="en-US" sz="800" dirty="0">
                <a:solidFill>
                  <a:srgbClr val="E8ECF4"/>
                </a:solidFill>
                <a:latin typeface="Carlito" pitchFamily="34" charset="0"/>
                <a:ea typeface="Carlito" pitchFamily="34" charset="-122"/>
                <a:cs typeface="Carlito" pitchFamily="34" charset="-120"/>
              </a:rPr>
              <a:t>✓Critical signals ranked by impact and confidence</a:t>
            </a:r>
            <a:endParaRPr lang="en-US" sz="800" dirty="0"/>
          </a:p>
          <a:p>
            <a:pPr algn="l" marL="342900" indent="-342900">
              <a:lnSpc>
                <a:spcPts val="1080"/>
              </a:lnSpc>
              <a:spcAft>
                <a:spcPts val="450"/>
              </a:spcAft>
              <a:buSzPct val="100000"/>
              <a:buChar char="•"/>
            </a:pPr>
            <a:r>
              <a:rPr lang="en-US" sz="800" dirty="0">
                <a:solidFill>
                  <a:srgbClr val="E8ECF4"/>
                </a:solidFill>
                <a:latin typeface="Carlito" pitchFamily="34" charset="0"/>
                <a:ea typeface="Carlito" pitchFamily="34" charset="-122"/>
                <a:cs typeface="Carlito" pitchFamily="34" charset="-120"/>
              </a:rPr>
              <a:t>✓Recommended actions with evidence trails</a:t>
            </a:r>
            <a:endParaRPr lang="en-US" sz="800" dirty="0"/>
          </a:p>
          <a:p>
            <a:pPr algn="l" marL="342900" indent="-342900">
              <a:lnSpc>
                <a:spcPts val="1080"/>
              </a:lnSpc>
              <a:spcAft>
                <a:spcPts val="450"/>
              </a:spcAft>
              <a:buSzPct val="100000"/>
              <a:buChar char="•"/>
            </a:pPr>
            <a:r>
              <a:rPr lang="en-US" sz="800" dirty="0">
                <a:solidFill>
                  <a:srgbClr val="E8ECF4"/>
                </a:solidFill>
                <a:latin typeface="Carlito" pitchFamily="34" charset="0"/>
                <a:ea typeface="Carlito" pitchFamily="34" charset="-122"/>
                <a:cs typeface="Carlito" pitchFamily="34" charset="-120"/>
              </a:rPr>
              <a:t>✓Evidence footprint on every insight</a:t>
            </a:r>
            <a:endParaRPr lang="en-US" sz="800" dirty="0"/>
          </a:p>
          <a:p>
            <a:pPr algn="l" marL="342900" indent="-342900">
              <a:lnSpc>
                <a:spcPts val="1080"/>
              </a:lnSpc>
              <a:spcAft>
                <a:spcPts val="450"/>
              </a:spcAft>
              <a:buSzPct val="100000"/>
              <a:buChar char="•"/>
            </a:pPr>
            <a:r>
              <a:rPr lang="en-US" sz="800" dirty="0">
                <a:solidFill>
                  <a:srgbClr val="E8ECF4"/>
                </a:solidFill>
                <a:latin typeface="Carlito" pitchFamily="34" charset="0"/>
                <a:ea typeface="Carlito" pitchFamily="34" charset="-122"/>
                <a:cs typeface="Carlito" pitchFamily="34" charset="-120"/>
              </a:rPr>
              <a:t>✓Confidence indicators at every layer</a:t>
            </a:r>
            <a:endParaRPr lang="en-US" sz="800" dirty="0"/>
          </a:p>
        </p:txBody>
      </p:sp>
      <p:sp>
        <p:nvSpPr>
          <p:cNvPr id="30" name="Shape 28"/>
          <p:cNvSpPr/>
          <p:nvPr/>
        </p:nvSpPr>
        <p:spPr>
          <a:xfrm>
            <a:off x="4836319" y="2778472"/>
            <a:ext cx="3671888" cy="0"/>
          </a:xfrm>
          <a:prstGeom prst="line">
            <a:avLst/>
          </a:prstGeom>
          <a:noFill/>
          <a:ln w="7144">
            <a:solidFill>
              <a:srgbClr val="3B82F6"/>
            </a:solidFill>
            <a:prstDash val="solid"/>
          </a:ln>
        </p:spPr>
      </p:sp>
      <p:sp>
        <p:nvSpPr>
          <p:cNvPr id="31" name="Text 29"/>
          <p:cNvSpPr/>
          <p:nvPr/>
        </p:nvSpPr>
        <p:spPr>
          <a:xfrm>
            <a:off x="4836319" y="2867769"/>
            <a:ext cx="3671888" cy="144018"/>
          </a:xfrm>
          <a:prstGeom prst="rect">
            <a:avLst/>
          </a:prstGeom>
          <a:noFill/>
          <a:ln/>
        </p:spPr>
        <p:txBody>
          <a:bodyPr wrap="none" lIns="0" tIns="0" rIns="0" bIns="0" rtlCol="0" anchor="t">
            <a:normAutofit/>
          </a:bodyPr>
          <a:lstStyle/>
          <a:p>
            <a:pPr algn="l" indent="0" marL="0">
              <a:lnSpc>
                <a:spcPts val="1013"/>
              </a:lnSpc>
              <a:buNone/>
            </a:pPr>
            <a:r>
              <a:rPr lang="en-US" sz="800" i="1" dirty="0">
                <a:solidFill>
                  <a:srgbClr val="8B95AD"/>
                </a:solidFill>
                <a:latin typeface="Carlito" pitchFamily="34" charset="0"/>
                <a:ea typeface="Carlito" pitchFamily="34" charset="-122"/>
                <a:cs typeface="Carlito" pitchFamily="34" charset="-120"/>
              </a:rPr>
              <a:t>User immediately knows:</a:t>
            </a:r>
            <a:endParaRPr lang="en-US" sz="800" dirty="0"/>
          </a:p>
        </p:txBody>
      </p:sp>
      <p:sp>
        <p:nvSpPr>
          <p:cNvPr id="32" name="Text 30"/>
          <p:cNvSpPr/>
          <p:nvPr/>
        </p:nvSpPr>
        <p:spPr>
          <a:xfrm>
            <a:off x="4836319" y="3039219"/>
            <a:ext cx="3671888" cy="411212"/>
          </a:xfrm>
          <a:prstGeom prst="rect">
            <a:avLst/>
          </a:prstGeom>
          <a:noFill/>
          <a:ln/>
        </p:spPr>
        <p:txBody>
          <a:bodyPr wrap="square" lIns="85725" tIns="0" rIns="0" bIns="0" rtlCol="0" anchor="t"/>
          <a:lstStyle/>
          <a:p>
            <a:pPr algn="l" indent="0" marL="0">
              <a:lnSpc>
                <a:spcPts val="1080"/>
              </a:lnSpc>
              <a:buNone/>
            </a:pPr>
            <a:r>
              <a:rPr lang="en-US" sz="800" dirty="0">
                <a:solidFill>
                  <a:srgbClr val="3B82F6"/>
                </a:solidFill>
                <a:latin typeface="Carlito" pitchFamily="34" charset="0"/>
                <a:ea typeface="Carlito" pitchFamily="34" charset="-122"/>
                <a:cs typeface="Carlito" pitchFamily="34" charset="-120"/>
              </a:rPr>
              <a:t>What changed (and why)</a:t>
            </a:r>
            <a:endParaRPr lang="en-US" sz="800" dirty="0"/>
          </a:p>
          <a:p>
            <a:pPr algn="l" indent="0" marL="0">
              <a:lnSpc>
                <a:spcPts val="1080"/>
              </a:lnSpc>
              <a:buNone/>
            </a:pPr>
            <a:r>
              <a:rPr lang="en-US" sz="800" dirty="0">
                <a:solidFill>
                  <a:srgbClr val="3B82F6"/>
                </a:solidFill>
                <a:latin typeface="Carlito" pitchFamily="34" charset="0"/>
                <a:ea typeface="Carlito" pitchFamily="34" charset="-122"/>
                <a:cs typeface="Carlito" pitchFamily="34" charset="-120"/>
              </a:rPr>
              <a:t>Who to engage (and what to say)</a:t>
            </a:r>
            <a:endParaRPr lang="en-US" sz="800" dirty="0"/>
          </a:p>
          <a:p>
            <a:pPr algn="l" indent="0" marL="0">
              <a:lnSpc>
                <a:spcPts val="1080"/>
              </a:lnSpc>
              <a:buNone/>
            </a:pPr>
            <a:r>
              <a:rPr lang="en-US" sz="800" dirty="0">
                <a:solidFill>
                  <a:srgbClr val="3B82F6"/>
                </a:solidFill>
                <a:latin typeface="Carlito" pitchFamily="34" charset="0"/>
                <a:ea typeface="Carlito" pitchFamily="34" charset="-122"/>
                <a:cs typeface="Carlito" pitchFamily="34" charset="-120"/>
              </a:rPr>
              <a:t>What to do (and why trust it)</a:t>
            </a:r>
            <a:endParaRPr lang="en-US" sz="800" dirty="0"/>
          </a:p>
        </p:txBody>
      </p:sp>
      <p:sp>
        <p:nvSpPr>
          <p:cNvPr id="33" name="Text 31"/>
          <p:cNvSpPr/>
          <p:nvPr/>
        </p:nvSpPr>
        <p:spPr>
          <a:xfrm>
            <a:off x="4836319" y="3536156"/>
            <a:ext cx="3304654" cy="128588"/>
          </a:xfrm>
          <a:prstGeom prst="roundRect">
            <a:avLst>
              <a:gd name="adj" fmla="val 29630"/>
            </a:avLst>
          </a:prstGeom>
          <a:solidFill>
            <a:srgbClr val="3B82F6"/>
          </a:solidFill>
          <a:ln/>
        </p:spPr>
        <p:txBody>
          <a:bodyPr wrap="square" rtlCol="0" anchor="ctr"/>
          <a:lstStyle/>
          <a:p>
            <a:pPr indent="0" marL="0">
              <a:buNone/>
            </a:pPr>
            <a:endParaRPr lang="en-US" dirty="0"/>
          </a:p>
        </p:txBody>
      </p:sp>
      <p:sp>
        <p:nvSpPr>
          <p:cNvPr id="34" name="Text 32"/>
          <p:cNvSpPr/>
          <p:nvPr/>
        </p:nvSpPr>
        <p:spPr>
          <a:xfrm>
            <a:off x="4836319" y="3707606"/>
            <a:ext cx="2937421" cy="128588"/>
          </a:xfrm>
          <a:prstGeom prst="roundRect">
            <a:avLst>
              <a:gd name="adj" fmla="val 29630"/>
            </a:avLst>
          </a:prstGeom>
          <a:solidFill>
            <a:srgbClr val="3B82F6"/>
          </a:solidFill>
          <a:ln/>
        </p:spPr>
        <p:txBody>
          <a:bodyPr wrap="square" rtlCol="0" anchor="ctr"/>
          <a:lstStyle/>
          <a:p>
            <a:pPr indent="0" marL="0">
              <a:buNone/>
            </a:pPr>
            <a:endParaRPr lang="en-US" dirty="0"/>
          </a:p>
        </p:txBody>
      </p:sp>
      <p:sp>
        <p:nvSpPr>
          <p:cNvPr id="35" name="Text 33"/>
          <p:cNvSpPr/>
          <p:nvPr/>
        </p:nvSpPr>
        <p:spPr>
          <a:xfrm>
            <a:off x="4836319" y="3879056"/>
            <a:ext cx="2570299" cy="128588"/>
          </a:xfrm>
          <a:prstGeom prst="roundRect">
            <a:avLst>
              <a:gd name="adj" fmla="val 29630"/>
            </a:avLst>
          </a:prstGeom>
          <a:solidFill>
            <a:srgbClr val="3B82F6"/>
          </a:solidFill>
          <a:ln/>
        </p:spPr>
        <p:txBody>
          <a:bodyPr wrap="square" rtlCol="0" anchor="ctr"/>
          <a:lstStyle/>
          <a:p>
            <a:pPr indent="0" marL="0">
              <a:buNone/>
            </a:pPr>
            <a:endParaRPr lang="en-US" dirty="0"/>
          </a:p>
        </p:txBody>
      </p:sp>
      <p:sp>
        <p:nvSpPr>
          <p:cNvPr id="36" name="Text 34"/>
          <p:cNvSpPr/>
          <p:nvPr/>
        </p:nvSpPr>
        <p:spPr>
          <a:xfrm>
            <a:off x="460772" y="4304109"/>
            <a:ext cx="8222456" cy="378619"/>
          </a:xfrm>
          <a:prstGeom prst="roundRect">
            <a:avLst>
              <a:gd name="adj" fmla="val 40252"/>
            </a:avLst>
          </a:prstGeom>
          <a:solidFill>
            <a:srgbClr val="161C2A">
              <a:alpha val="70000"/>
            </a:srgbClr>
          </a:solidFill>
          <a:ln w="7144">
            <a:solidFill>
              <a:srgbClr val="3B82F6"/>
            </a:solidFill>
            <a:prstDash val="solid"/>
          </a:ln>
          <a:effectLst>
            <a:outerShdw sx="100000" sy="100000" kx="0" ky="0" algn="bl" rotWithShape="0" blurRad="285750" dist="50800" dir="16200000">
              <a:srgbClr val="3B82F6">
                <a:alpha val="15000"/>
              </a:srgbClr>
            </a:outerShdw>
          </a:effectLst>
        </p:spPr>
        <p:txBody>
          <a:bodyPr wrap="square" rtlCol="0" anchor="ctr"/>
          <a:lstStyle/>
          <a:p>
            <a:pPr indent="0" marL="0">
              <a:buNone/>
            </a:pPr>
            <a:endParaRPr lang="en-US" dirty="0"/>
          </a:p>
        </p:txBody>
      </p:sp>
      <p:sp>
        <p:nvSpPr>
          <p:cNvPr id="37" name="Text 35"/>
          <p:cNvSpPr/>
          <p:nvPr/>
        </p:nvSpPr>
        <p:spPr>
          <a:xfrm>
            <a:off x="635794" y="4407694"/>
            <a:ext cx="7872413" cy="171450"/>
          </a:xfrm>
          <a:prstGeom prst="rect">
            <a:avLst/>
          </a:prstGeom>
          <a:noFill/>
          <a:ln/>
        </p:spPr>
        <p:txBody>
          <a:bodyPr wrap="square" lIns="0" tIns="0" rIns="0" bIns="0" rtlCol="0" anchor="t"/>
          <a:lstStyle/>
          <a:p>
            <a:pPr algn="ctr" indent="0" marL="0">
              <a:lnSpc>
                <a:spcPts val="1350"/>
              </a:lnSpc>
              <a:buNone/>
            </a:pPr>
            <a:r>
              <a:rPr lang="en-US" sz="900" spc="-9" kern="0" dirty="0">
                <a:solidFill>
                  <a:srgbClr val="FFFFFF"/>
                </a:solidFill>
                <a:latin typeface="Carlito" pitchFamily="34" charset="0"/>
                <a:ea typeface="Carlito" pitchFamily="34" charset="-122"/>
                <a:cs typeface="Carlito" pitchFamily="34" charset="-120"/>
              </a:rPr>
              <a:t>“We are not removing intelligence. We are making intelligence usable.”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457200" y="457200"/>
            <a:ext cx="8636000" cy="275396"/>
          </a:xfrm>
          <a:prstGeom prst="rect">
            <a:avLst/>
          </a:prstGeom>
          <a:noFill/>
          <a:ln/>
        </p:spPr>
        <p:txBody>
          <a:bodyPr wrap="square" lIns="0" tIns="0" rIns="0" bIns="0" rtlCol="0" anchor="t">
            <a:normAutofit/>
          </a:bodyPr>
          <a:lstStyle/>
          <a:p>
            <a:pPr algn="l" indent="0" marL="0">
              <a:lnSpc>
                <a:spcPts val="2160"/>
              </a:lnSpc>
              <a:buNone/>
            </a:pPr>
            <a:r>
              <a:rPr lang="en-US" sz="1440" b="1" spc="-29" kern="0" dirty="0">
                <a:solidFill>
                  <a:srgbClr val="FFFFFF"/>
                </a:solidFill>
                <a:latin typeface="Carlito" pitchFamily="34" charset="0"/>
                <a:ea typeface="Carlito" pitchFamily="34" charset="-122"/>
                <a:cs typeface="Carlito" pitchFamily="34" charset="-120"/>
              </a:rPr>
              <a:t>The Extension Model — MS7 through MS11</a:t>
            </a:r>
            <a:endParaRPr lang="en-US" sz="1440" dirty="0"/>
          </a:p>
        </p:txBody>
      </p:sp>
      <p:sp>
        <p:nvSpPr>
          <p:cNvPr id="3" name="Text 1"/>
          <p:cNvSpPr/>
          <p:nvPr/>
        </p:nvSpPr>
        <p:spPr>
          <a:xfrm>
            <a:off x="457200" y="760028"/>
            <a:ext cx="8229600" cy="164655"/>
          </a:xfrm>
          <a:prstGeom prst="rect">
            <a:avLst/>
          </a:prstGeom>
          <a:noFill/>
          <a:ln/>
        </p:spPr>
        <p:txBody>
          <a:bodyPr wrap="square" lIns="0" tIns="0" rIns="0" bIns="0" rtlCol="0" anchor="t"/>
          <a:lstStyle/>
          <a:p>
            <a:pPr algn="l" indent="0" marL="0">
              <a:lnSpc>
                <a:spcPts val="1107"/>
              </a:lnSpc>
              <a:buNone/>
            </a:pPr>
            <a:r>
              <a:rPr lang="en-US" sz="800" dirty="0">
                <a:solidFill>
                  <a:srgbClr val="8B95AD"/>
                </a:solidFill>
                <a:latin typeface="Carlito" pitchFamily="34" charset="0"/>
                <a:ea typeface="Carlito" pitchFamily="34" charset="-122"/>
                <a:cs typeface="Carlito" pitchFamily="34" charset="-120"/>
              </a:rPr>
              <a:t>MS6 locks the foundation. Each subsequent milestone extends the design DNA.</a:t>
            </a:r>
            <a:endParaRPr lang="en-US" sz="800" dirty="0"/>
          </a:p>
        </p:txBody>
      </p:sp>
      <p:sp>
        <p:nvSpPr>
          <p:cNvPr id="4" name="Text 2"/>
          <p:cNvSpPr/>
          <p:nvPr/>
        </p:nvSpPr>
        <p:spPr>
          <a:xfrm>
            <a:off x="457200" y="929246"/>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pic>
        <p:nvPicPr>
          <p:cNvPr id="5" name="Image 0" descr="preencoded.png">    </p:cNvPr>
          <p:cNvPicPr>
            <a:picLocks noChangeAspect="1"/>
          </p:cNvPicPr>
          <p:nvPr/>
        </p:nvPicPr>
        <p:blipFill>
          <a:blip r:embed="rId1">
            <a:alphaModFix amt="40000"/>
          </a:blip>
          <a:stretch>
            <a:fillRect/>
          </a:stretch>
        </p:blipFill>
        <p:spPr>
          <a:xfrm>
            <a:off x="742950" y="1350727"/>
            <a:ext cx="7658100" cy="14288"/>
          </a:xfrm>
          <a:prstGeom prst="rect">
            <a:avLst/>
          </a:prstGeom>
        </p:spPr>
      </p:pic>
      <p:sp>
        <p:nvSpPr>
          <p:cNvPr id="6" name="Shape 3"/>
          <p:cNvSpPr/>
          <p:nvPr/>
        </p:nvSpPr>
        <p:spPr>
          <a:xfrm>
            <a:off x="457200" y="1189992"/>
            <a:ext cx="1577318" cy="0"/>
          </a:xfrm>
          <a:prstGeom prst="line">
            <a:avLst/>
          </a:prstGeom>
          <a:noFill/>
          <a:ln w="21431">
            <a:solidFill>
              <a:srgbClr val="3B82F6"/>
            </a:solidFill>
            <a:prstDash val="solid"/>
          </a:ln>
        </p:spPr>
      </p:sp>
      <p:sp>
        <p:nvSpPr>
          <p:cNvPr id="7" name="Shape 4"/>
          <p:cNvSpPr/>
          <p:nvPr/>
        </p:nvSpPr>
        <p:spPr>
          <a:xfrm>
            <a:off x="2030946" y="1179277"/>
            <a:ext cx="0" cy="1605669"/>
          </a:xfrm>
          <a:prstGeom prst="line">
            <a:avLst/>
          </a:prstGeom>
          <a:noFill/>
          <a:ln w="7144">
            <a:solidFill>
              <a:srgbClr val="252E42"/>
            </a:solidFill>
            <a:prstDash val="solid"/>
          </a:ln>
        </p:spPr>
      </p:sp>
      <p:sp>
        <p:nvSpPr>
          <p:cNvPr id="8" name="Shape 5"/>
          <p:cNvSpPr/>
          <p:nvPr/>
        </p:nvSpPr>
        <p:spPr>
          <a:xfrm>
            <a:off x="457200" y="2781374"/>
            <a:ext cx="1577318" cy="0"/>
          </a:xfrm>
          <a:prstGeom prst="line">
            <a:avLst/>
          </a:prstGeom>
          <a:noFill/>
          <a:ln w="7144">
            <a:solidFill>
              <a:srgbClr val="252E42"/>
            </a:solidFill>
            <a:prstDash val="solid"/>
          </a:ln>
        </p:spPr>
      </p:sp>
      <p:sp>
        <p:nvSpPr>
          <p:cNvPr id="9" name="Shape 6"/>
          <p:cNvSpPr/>
          <p:nvPr/>
        </p:nvSpPr>
        <p:spPr>
          <a:xfrm>
            <a:off x="460772" y="1179277"/>
            <a:ext cx="0" cy="1605669"/>
          </a:xfrm>
          <a:prstGeom prst="line">
            <a:avLst/>
          </a:prstGeom>
          <a:noFill/>
          <a:ln w="7144">
            <a:solidFill>
              <a:srgbClr val="252E42"/>
            </a:solidFill>
            <a:prstDash val="solid"/>
          </a:ln>
        </p:spPr>
      </p:sp>
      <p:sp>
        <p:nvSpPr>
          <p:cNvPr id="10" name="Shape 7"/>
          <p:cNvSpPr/>
          <p:nvPr/>
        </p:nvSpPr>
        <p:spPr>
          <a:xfrm>
            <a:off x="2120243" y="1189992"/>
            <a:ext cx="1577318" cy="0"/>
          </a:xfrm>
          <a:prstGeom prst="line">
            <a:avLst/>
          </a:prstGeom>
          <a:noFill/>
          <a:ln w="21431">
            <a:solidFill>
              <a:srgbClr val="A855F7"/>
            </a:solidFill>
            <a:prstDash val="solid"/>
          </a:ln>
        </p:spPr>
      </p:sp>
      <p:sp>
        <p:nvSpPr>
          <p:cNvPr id="11" name="Shape 8"/>
          <p:cNvSpPr/>
          <p:nvPr/>
        </p:nvSpPr>
        <p:spPr>
          <a:xfrm>
            <a:off x="3693988" y="1179277"/>
            <a:ext cx="0" cy="1605669"/>
          </a:xfrm>
          <a:prstGeom prst="line">
            <a:avLst/>
          </a:prstGeom>
          <a:noFill/>
          <a:ln w="7144">
            <a:solidFill>
              <a:srgbClr val="252E42"/>
            </a:solidFill>
            <a:prstDash val="solid"/>
          </a:ln>
        </p:spPr>
      </p:sp>
      <p:sp>
        <p:nvSpPr>
          <p:cNvPr id="12" name="Shape 9"/>
          <p:cNvSpPr/>
          <p:nvPr/>
        </p:nvSpPr>
        <p:spPr>
          <a:xfrm>
            <a:off x="2120243" y="2781374"/>
            <a:ext cx="1577318" cy="0"/>
          </a:xfrm>
          <a:prstGeom prst="line">
            <a:avLst/>
          </a:prstGeom>
          <a:noFill/>
          <a:ln w="7144">
            <a:solidFill>
              <a:srgbClr val="252E42"/>
            </a:solidFill>
            <a:prstDash val="solid"/>
          </a:ln>
        </p:spPr>
      </p:sp>
      <p:sp>
        <p:nvSpPr>
          <p:cNvPr id="13" name="Shape 10"/>
          <p:cNvSpPr/>
          <p:nvPr/>
        </p:nvSpPr>
        <p:spPr>
          <a:xfrm>
            <a:off x="2123815" y="1179277"/>
            <a:ext cx="0" cy="1605669"/>
          </a:xfrm>
          <a:prstGeom prst="line">
            <a:avLst/>
          </a:prstGeom>
          <a:noFill/>
          <a:ln w="7144">
            <a:solidFill>
              <a:srgbClr val="252E42"/>
            </a:solidFill>
            <a:prstDash val="solid"/>
          </a:ln>
        </p:spPr>
      </p:sp>
      <p:sp>
        <p:nvSpPr>
          <p:cNvPr id="14" name="Shape 11"/>
          <p:cNvSpPr/>
          <p:nvPr/>
        </p:nvSpPr>
        <p:spPr>
          <a:xfrm>
            <a:off x="3783285" y="1189992"/>
            <a:ext cx="1577318" cy="0"/>
          </a:xfrm>
          <a:prstGeom prst="line">
            <a:avLst/>
          </a:prstGeom>
          <a:noFill/>
          <a:ln w="21431">
            <a:solidFill>
              <a:srgbClr val="22C55E"/>
            </a:solidFill>
            <a:prstDash val="solid"/>
          </a:ln>
        </p:spPr>
      </p:sp>
      <p:sp>
        <p:nvSpPr>
          <p:cNvPr id="15" name="Shape 12"/>
          <p:cNvSpPr/>
          <p:nvPr/>
        </p:nvSpPr>
        <p:spPr>
          <a:xfrm>
            <a:off x="5357031" y="1179277"/>
            <a:ext cx="0" cy="1605669"/>
          </a:xfrm>
          <a:prstGeom prst="line">
            <a:avLst/>
          </a:prstGeom>
          <a:noFill/>
          <a:ln w="7144">
            <a:solidFill>
              <a:srgbClr val="252E42"/>
            </a:solidFill>
            <a:prstDash val="solid"/>
          </a:ln>
        </p:spPr>
      </p:sp>
      <p:sp>
        <p:nvSpPr>
          <p:cNvPr id="16" name="Shape 13"/>
          <p:cNvSpPr/>
          <p:nvPr/>
        </p:nvSpPr>
        <p:spPr>
          <a:xfrm>
            <a:off x="3783285" y="2781374"/>
            <a:ext cx="1577318" cy="0"/>
          </a:xfrm>
          <a:prstGeom prst="line">
            <a:avLst/>
          </a:prstGeom>
          <a:noFill/>
          <a:ln w="7144">
            <a:solidFill>
              <a:srgbClr val="252E42"/>
            </a:solidFill>
            <a:prstDash val="solid"/>
          </a:ln>
        </p:spPr>
      </p:sp>
      <p:sp>
        <p:nvSpPr>
          <p:cNvPr id="17" name="Shape 14"/>
          <p:cNvSpPr/>
          <p:nvPr/>
        </p:nvSpPr>
        <p:spPr>
          <a:xfrm>
            <a:off x="3786857" y="1179277"/>
            <a:ext cx="0" cy="1605669"/>
          </a:xfrm>
          <a:prstGeom prst="line">
            <a:avLst/>
          </a:prstGeom>
          <a:noFill/>
          <a:ln w="7144">
            <a:solidFill>
              <a:srgbClr val="252E42"/>
            </a:solidFill>
            <a:prstDash val="solid"/>
          </a:ln>
        </p:spPr>
      </p:sp>
      <p:sp>
        <p:nvSpPr>
          <p:cNvPr id="18" name="Shape 15"/>
          <p:cNvSpPr/>
          <p:nvPr/>
        </p:nvSpPr>
        <p:spPr>
          <a:xfrm>
            <a:off x="5446328" y="1189992"/>
            <a:ext cx="1577318" cy="0"/>
          </a:xfrm>
          <a:prstGeom prst="line">
            <a:avLst/>
          </a:prstGeom>
          <a:noFill/>
          <a:ln w="21431">
            <a:solidFill>
              <a:srgbClr val="F59E0B"/>
            </a:solidFill>
            <a:prstDash val="solid"/>
          </a:ln>
        </p:spPr>
      </p:sp>
      <p:sp>
        <p:nvSpPr>
          <p:cNvPr id="19" name="Shape 16"/>
          <p:cNvSpPr/>
          <p:nvPr/>
        </p:nvSpPr>
        <p:spPr>
          <a:xfrm>
            <a:off x="7020074" y="1179277"/>
            <a:ext cx="0" cy="1605669"/>
          </a:xfrm>
          <a:prstGeom prst="line">
            <a:avLst/>
          </a:prstGeom>
          <a:noFill/>
          <a:ln w="7144">
            <a:solidFill>
              <a:srgbClr val="252E42"/>
            </a:solidFill>
            <a:prstDash val="solid"/>
          </a:ln>
        </p:spPr>
      </p:sp>
      <p:sp>
        <p:nvSpPr>
          <p:cNvPr id="20" name="Shape 17"/>
          <p:cNvSpPr/>
          <p:nvPr/>
        </p:nvSpPr>
        <p:spPr>
          <a:xfrm>
            <a:off x="5446328" y="2781374"/>
            <a:ext cx="1577318" cy="0"/>
          </a:xfrm>
          <a:prstGeom prst="line">
            <a:avLst/>
          </a:prstGeom>
          <a:noFill/>
          <a:ln w="7144">
            <a:solidFill>
              <a:srgbClr val="252E42"/>
            </a:solidFill>
            <a:prstDash val="solid"/>
          </a:ln>
        </p:spPr>
      </p:sp>
      <p:sp>
        <p:nvSpPr>
          <p:cNvPr id="21" name="Shape 18"/>
          <p:cNvSpPr/>
          <p:nvPr/>
        </p:nvSpPr>
        <p:spPr>
          <a:xfrm>
            <a:off x="5449900" y="1179277"/>
            <a:ext cx="0" cy="1605669"/>
          </a:xfrm>
          <a:prstGeom prst="line">
            <a:avLst/>
          </a:prstGeom>
          <a:noFill/>
          <a:ln w="7144">
            <a:solidFill>
              <a:srgbClr val="252E42"/>
            </a:solidFill>
            <a:prstDash val="solid"/>
          </a:ln>
        </p:spPr>
      </p:sp>
      <p:sp>
        <p:nvSpPr>
          <p:cNvPr id="22" name="Shape 19"/>
          <p:cNvSpPr/>
          <p:nvPr/>
        </p:nvSpPr>
        <p:spPr>
          <a:xfrm>
            <a:off x="7109371" y="1189992"/>
            <a:ext cx="1577429" cy="0"/>
          </a:xfrm>
          <a:prstGeom prst="line">
            <a:avLst/>
          </a:prstGeom>
          <a:noFill/>
          <a:ln w="21431">
            <a:solidFill>
              <a:srgbClr val="06B6D4"/>
            </a:solidFill>
            <a:prstDash val="solid"/>
          </a:ln>
        </p:spPr>
      </p:sp>
      <p:sp>
        <p:nvSpPr>
          <p:cNvPr id="23" name="Shape 20"/>
          <p:cNvSpPr/>
          <p:nvPr/>
        </p:nvSpPr>
        <p:spPr>
          <a:xfrm>
            <a:off x="8683228" y="1179277"/>
            <a:ext cx="0" cy="1605669"/>
          </a:xfrm>
          <a:prstGeom prst="line">
            <a:avLst/>
          </a:prstGeom>
          <a:noFill/>
          <a:ln w="7144">
            <a:solidFill>
              <a:srgbClr val="252E42"/>
            </a:solidFill>
            <a:prstDash val="solid"/>
          </a:ln>
        </p:spPr>
      </p:sp>
      <p:sp>
        <p:nvSpPr>
          <p:cNvPr id="24" name="Shape 21"/>
          <p:cNvSpPr/>
          <p:nvPr/>
        </p:nvSpPr>
        <p:spPr>
          <a:xfrm>
            <a:off x="7109371" y="2781374"/>
            <a:ext cx="1577429" cy="0"/>
          </a:xfrm>
          <a:prstGeom prst="line">
            <a:avLst/>
          </a:prstGeom>
          <a:noFill/>
          <a:ln w="7144">
            <a:solidFill>
              <a:srgbClr val="252E42"/>
            </a:solidFill>
            <a:prstDash val="solid"/>
          </a:ln>
        </p:spPr>
      </p:sp>
      <p:sp>
        <p:nvSpPr>
          <p:cNvPr id="25" name="Shape 22"/>
          <p:cNvSpPr/>
          <p:nvPr/>
        </p:nvSpPr>
        <p:spPr>
          <a:xfrm>
            <a:off x="7112943" y="1179277"/>
            <a:ext cx="0" cy="1605669"/>
          </a:xfrm>
          <a:prstGeom prst="line">
            <a:avLst/>
          </a:prstGeom>
          <a:noFill/>
          <a:ln w="7144">
            <a:solidFill>
              <a:srgbClr val="252E42"/>
            </a:solidFill>
            <a:prstDash val="solid"/>
          </a:ln>
        </p:spPr>
      </p:sp>
      <p:pic>
        <p:nvPicPr>
          <p:cNvPr id="26" name="Image 1" descr="preencoded.png">    </p:cNvPr>
          <p:cNvPicPr>
            <a:picLocks noChangeAspect="1"/>
          </p:cNvPicPr>
          <p:nvPr/>
        </p:nvPicPr>
        <p:blipFill>
          <a:blip r:embed="rId2">
            <a:alphaModFix amt="50000"/>
          </a:blip>
          <a:stretch>
            <a:fillRect/>
          </a:stretch>
        </p:blipFill>
        <p:spPr>
          <a:xfrm>
            <a:off x="457200" y="2899246"/>
            <a:ext cx="8229600" cy="14288"/>
          </a:xfrm>
          <a:prstGeom prst="rect">
            <a:avLst/>
          </a:prstGeom>
        </p:spPr>
      </p:pic>
      <p:sp>
        <p:nvSpPr>
          <p:cNvPr id="27" name="Text 23"/>
          <p:cNvSpPr/>
          <p:nvPr/>
        </p:nvSpPr>
        <p:spPr>
          <a:xfrm>
            <a:off x="457200" y="2984971"/>
            <a:ext cx="8229600" cy="164592"/>
          </a:xfrm>
          <a:prstGeom prst="rect">
            <a:avLst/>
          </a:prstGeom>
          <a:noFill/>
          <a:ln/>
        </p:spPr>
        <p:txBody>
          <a:bodyPr wrap="square" lIns="0" tIns="0" rIns="0" bIns="0" rtlCol="0" anchor="t"/>
          <a:lstStyle/>
          <a:p>
            <a:pPr algn="ctr" indent="0" marL="0">
              <a:lnSpc>
                <a:spcPts val="1013"/>
              </a:lnSpc>
              <a:buNone/>
            </a:pPr>
            <a:r>
              <a:rPr lang="en-US" sz="675" dirty="0">
                <a:solidFill>
                  <a:srgbClr val="8B95AD"/>
                </a:solidFill>
                <a:latin typeface="Carlito" pitchFamily="34" charset="0"/>
                <a:ea typeface="Carlito" pitchFamily="34" charset="-122"/>
                <a:cs typeface="Carlito" pitchFamily="34" charset="-120"/>
              </a:rPr>
              <a:t>Each screen development must pass </a:t>
            </a:r>
            <a:pPr algn="ctr" indent="0" marL="0">
              <a:lnSpc>
                <a:spcPts val="1013"/>
              </a:lnSpc>
              <a:buNone/>
            </a:pPr>
            <a:r>
              <a:rPr lang="en-US" sz="675" dirty="0">
                <a:solidFill>
                  <a:srgbClr val="3B82F6"/>
                </a:solidFill>
                <a:latin typeface="Liberation Sans Narrow" pitchFamily="34" charset="0"/>
                <a:ea typeface="Liberation Sans Narrow" pitchFamily="34" charset="-122"/>
                <a:cs typeface="Liberation Sans Narrow" pitchFamily="34" charset="-120"/>
              </a:rPr>
              <a:t>5 questions</a:t>
            </a:r>
            <a:pPr algn="ctr" indent="0" marL="0">
              <a:lnSpc>
                <a:spcPts val="1013"/>
              </a:lnSpc>
              <a:buNone/>
            </a:pPr>
            <a:r>
              <a:rPr lang="en-US" sz="675" dirty="0">
                <a:solidFill>
                  <a:srgbClr val="8B95AD"/>
                </a:solidFill>
                <a:latin typeface="Carlito" pitchFamily="34" charset="0"/>
                <a:ea typeface="Carlito" pitchFamily="34" charset="-122"/>
                <a:cs typeface="Carlito" pitchFamily="34" charset="-120"/>
              </a:rPr>
              <a:t>: Is this important? · What should the user do? · Why trust this? · Does the user have control? · Does this match the Design DNA?</a:t>
            </a:r>
            <a:endParaRPr lang="en-US" sz="675" dirty="0"/>
          </a:p>
        </p:txBody>
      </p:sp>
      <p:sp>
        <p:nvSpPr>
          <p:cNvPr id="28" name="Text 24"/>
          <p:cNvSpPr/>
          <p:nvPr/>
        </p:nvSpPr>
        <p:spPr>
          <a:xfrm>
            <a:off x="457200" y="1179277"/>
            <a:ext cx="1577318" cy="1605669"/>
          </a:xfrm>
          <a:prstGeom prst="roundRect">
            <a:avLst>
              <a:gd name="adj" fmla="val 9662"/>
            </a:avLst>
          </a:prstGeom>
          <a:solidFill>
            <a:srgbClr val="161C2A">
              <a:alpha val="70000"/>
            </a:srgbClr>
          </a:solidFill>
          <a:ln/>
        </p:spPr>
        <p:txBody>
          <a:bodyPr wrap="square" rtlCol="0" anchor="ctr"/>
          <a:lstStyle/>
          <a:p>
            <a:pPr indent="0" marL="0">
              <a:buNone/>
            </a:pPr>
            <a:endParaRPr lang="en-US" dirty="0"/>
          </a:p>
        </p:txBody>
      </p:sp>
      <p:sp>
        <p:nvSpPr>
          <p:cNvPr id="29" name="Text 25"/>
          <p:cNvSpPr/>
          <p:nvPr/>
        </p:nvSpPr>
        <p:spPr>
          <a:xfrm>
            <a:off x="571500" y="1322152"/>
            <a:ext cx="157163" cy="157163"/>
          </a:xfrm>
          <a:prstGeom prst="ellipse">
            <a:avLst/>
          </a:prstGeom>
          <a:solidFill>
            <a:srgbClr val="3B82F6">
              <a:alpha val="20000"/>
            </a:srgbClr>
          </a:solidFill>
          <a:ln w="14288">
            <a:solidFill>
              <a:srgbClr val="3B82F6"/>
            </a:solidFill>
            <a:prstDash val="solid"/>
          </a:ln>
        </p:spPr>
        <p:txBody>
          <a:bodyPr wrap="square" rtlCol="0" anchor="ctr"/>
          <a:lstStyle/>
          <a:p>
            <a:pPr indent="0" marL="0">
              <a:buNone/>
            </a:pPr>
            <a:endParaRPr lang="en-US" dirty="0"/>
          </a:p>
        </p:txBody>
      </p:sp>
      <p:sp>
        <p:nvSpPr>
          <p:cNvPr id="30" name="Text 26"/>
          <p:cNvSpPr/>
          <p:nvPr/>
        </p:nvSpPr>
        <p:spPr>
          <a:xfrm>
            <a:off x="631106" y="1353629"/>
            <a:ext cx="91440" cy="118542"/>
          </a:xfrm>
          <a:prstGeom prst="rect">
            <a:avLst/>
          </a:prstGeom>
          <a:noFill/>
          <a:ln/>
        </p:spPr>
        <p:txBody>
          <a:bodyPr wrap="none" lIns="0" tIns="0" rIns="0" bIns="0" rtlCol="0" anchor="t"/>
          <a:lstStyle/>
          <a:p>
            <a:pPr algn="l" indent="0" marL="0">
              <a:lnSpc>
                <a:spcPts val="742"/>
              </a:lnSpc>
              <a:buNone/>
            </a:pPr>
            <a:r>
              <a:rPr lang="en-US" sz="800" dirty="0">
                <a:solidFill>
                  <a:srgbClr val="3B82F6"/>
                </a:solidFill>
                <a:latin typeface="Liberation Sans Narrow" pitchFamily="34" charset="0"/>
                <a:ea typeface="Liberation Sans Narrow" pitchFamily="34" charset="-122"/>
                <a:cs typeface="Liberation Sans Narrow" pitchFamily="34" charset="-120"/>
              </a:rPr>
              <a:t>7</a:t>
            </a:r>
            <a:endParaRPr lang="en-US" sz="800" dirty="0"/>
          </a:p>
        </p:txBody>
      </p:sp>
      <p:sp>
        <p:nvSpPr>
          <p:cNvPr id="31" name="Text 27"/>
          <p:cNvSpPr/>
          <p:nvPr/>
        </p:nvSpPr>
        <p:spPr>
          <a:xfrm>
            <a:off x="778669" y="1340681"/>
            <a:ext cx="1148693" cy="164561"/>
          </a:xfrm>
          <a:prstGeom prst="rect">
            <a:avLst/>
          </a:prstGeom>
          <a:noFill/>
          <a:ln/>
        </p:spPr>
        <p:txBody>
          <a:bodyPr wrap="none" lIns="0" tIns="0" rIns="0" bIns="0" rtlCol="0" anchor="t"/>
          <a:lstStyle/>
          <a:p>
            <a:pPr algn="l" indent="0" marL="0">
              <a:lnSpc>
                <a:spcPts val="945"/>
              </a:lnSpc>
              <a:buNone/>
            </a:pPr>
            <a:r>
              <a:rPr lang="en-US" sz="800" dirty="0">
                <a:solidFill>
                  <a:srgbClr val="3B82F6"/>
                </a:solidFill>
                <a:latin typeface="Liberation Sans Narrow" pitchFamily="34" charset="0"/>
                <a:ea typeface="Liberation Sans Narrow" pitchFamily="34" charset="-122"/>
                <a:cs typeface="Liberation Sans Narrow" pitchFamily="34" charset="-120"/>
              </a:rPr>
              <a:t>MS7</a:t>
            </a:r>
            <a:endParaRPr lang="en-US" sz="800" dirty="0"/>
          </a:p>
        </p:txBody>
      </p:sp>
      <p:sp>
        <p:nvSpPr>
          <p:cNvPr id="32" name="Text 28"/>
          <p:cNvSpPr/>
          <p:nvPr/>
        </p:nvSpPr>
        <p:spPr>
          <a:xfrm>
            <a:off x="564356" y="1557896"/>
            <a:ext cx="1363005" cy="142701"/>
          </a:xfrm>
          <a:prstGeom prst="rect">
            <a:avLst/>
          </a:prstGeom>
          <a:noFill/>
          <a:ln/>
        </p:spPr>
        <p:txBody>
          <a:bodyPr wrap="none" lIns="0" tIns="0" rIns="0" bIns="0" rtlCol="0" anchor="t"/>
          <a:lstStyle/>
          <a:p>
            <a:pPr algn="l" indent="0" marL="0">
              <a:lnSpc>
                <a:spcPts val="959"/>
              </a:lnSpc>
              <a:buNone/>
            </a:pPr>
            <a:r>
              <a:rPr lang="en-US" sz="800" dirty="0">
                <a:solidFill>
                  <a:srgbClr val="FFFFFF"/>
                </a:solidFill>
                <a:latin typeface="Carlito" pitchFamily="34" charset="0"/>
                <a:ea typeface="Carlito" pitchFamily="34" charset="-122"/>
                <a:cs typeface="Carlito" pitchFamily="34" charset="-120"/>
              </a:rPr>
              <a:t>Core Intelligence Hub</a:t>
            </a:r>
            <a:endParaRPr lang="en-US" sz="800" dirty="0"/>
          </a:p>
        </p:txBody>
      </p:sp>
      <p:sp>
        <p:nvSpPr>
          <p:cNvPr id="33" name="Text 29"/>
          <p:cNvSpPr/>
          <p:nvPr/>
        </p:nvSpPr>
        <p:spPr>
          <a:xfrm>
            <a:off x="564356" y="1751223"/>
            <a:ext cx="1363005" cy="1009878"/>
          </a:xfrm>
          <a:prstGeom prst="rect">
            <a:avLst/>
          </a:prstGeom>
          <a:noFill/>
          <a:ln/>
        </p:spPr>
        <p:txBody>
          <a:bodyPr wrap="square" lIns="0" tIns="0" rIns="0" bIns="0" rtlCol="0" anchor="t"/>
          <a:lstStyle/>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▶Build Intelligence Hub as primary experience</a:t>
            </a:r>
            <a:endParaRPr lang="en-US" sz="800" dirty="0"/>
          </a:p>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▶Implement 5-Question Framework layout</a:t>
            </a:r>
            <a:endParaRPr lang="en-US" sz="800" dirty="0"/>
          </a:p>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▶Ship IntelligenceNarrative redesign</a:t>
            </a:r>
            <a:endParaRPr lang="en-US" sz="800" dirty="0"/>
          </a:p>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▶Progressive disclosure L1-L2</a:t>
            </a:r>
            <a:endParaRPr lang="en-US" sz="800" dirty="0"/>
          </a:p>
        </p:txBody>
      </p:sp>
      <p:sp>
        <p:nvSpPr>
          <p:cNvPr id="34" name="Text 30"/>
          <p:cNvSpPr/>
          <p:nvPr/>
        </p:nvSpPr>
        <p:spPr>
          <a:xfrm>
            <a:off x="2120243" y="1179277"/>
            <a:ext cx="1577318" cy="1605669"/>
          </a:xfrm>
          <a:prstGeom prst="roundRect">
            <a:avLst>
              <a:gd name="adj" fmla="val 9662"/>
            </a:avLst>
          </a:prstGeom>
          <a:solidFill>
            <a:srgbClr val="161C2A">
              <a:alpha val="70000"/>
            </a:srgbClr>
          </a:solidFill>
          <a:ln/>
        </p:spPr>
        <p:txBody>
          <a:bodyPr wrap="square" rtlCol="0" anchor="ctr"/>
          <a:lstStyle/>
          <a:p>
            <a:pPr indent="0" marL="0">
              <a:buNone/>
            </a:pPr>
            <a:endParaRPr lang="en-US" dirty="0"/>
          </a:p>
        </p:txBody>
      </p:sp>
      <p:sp>
        <p:nvSpPr>
          <p:cNvPr id="35" name="Text 31"/>
          <p:cNvSpPr/>
          <p:nvPr/>
        </p:nvSpPr>
        <p:spPr>
          <a:xfrm>
            <a:off x="2234543" y="1322152"/>
            <a:ext cx="157163" cy="157163"/>
          </a:xfrm>
          <a:prstGeom prst="ellipse">
            <a:avLst/>
          </a:prstGeom>
          <a:solidFill>
            <a:srgbClr val="8B5CF6">
              <a:alpha val="20000"/>
            </a:srgbClr>
          </a:solidFill>
          <a:ln w="14288">
            <a:solidFill>
              <a:srgbClr val="A855F7"/>
            </a:solidFill>
            <a:prstDash val="solid"/>
          </a:ln>
        </p:spPr>
        <p:txBody>
          <a:bodyPr wrap="square" rtlCol="0" anchor="ctr"/>
          <a:lstStyle/>
          <a:p>
            <a:pPr indent="0" marL="0">
              <a:buNone/>
            </a:pPr>
            <a:endParaRPr lang="en-US" dirty="0"/>
          </a:p>
        </p:txBody>
      </p:sp>
      <p:sp>
        <p:nvSpPr>
          <p:cNvPr id="36" name="Text 32"/>
          <p:cNvSpPr/>
          <p:nvPr/>
        </p:nvSpPr>
        <p:spPr>
          <a:xfrm>
            <a:off x="2294148" y="1353629"/>
            <a:ext cx="91440" cy="118542"/>
          </a:xfrm>
          <a:prstGeom prst="rect">
            <a:avLst/>
          </a:prstGeom>
          <a:noFill/>
          <a:ln/>
        </p:spPr>
        <p:txBody>
          <a:bodyPr wrap="none" lIns="0" tIns="0" rIns="0" bIns="0" rtlCol="0" anchor="t"/>
          <a:lstStyle/>
          <a:p>
            <a:pPr algn="l" indent="0" marL="0">
              <a:lnSpc>
                <a:spcPts val="742"/>
              </a:lnSpc>
              <a:buNone/>
            </a:pPr>
            <a:r>
              <a:rPr lang="en-US" sz="800" dirty="0">
                <a:solidFill>
                  <a:srgbClr val="A855F7"/>
                </a:solidFill>
                <a:latin typeface="Liberation Sans Narrow" pitchFamily="34" charset="0"/>
                <a:ea typeface="Liberation Sans Narrow" pitchFamily="34" charset="-122"/>
                <a:cs typeface="Liberation Sans Narrow" pitchFamily="34" charset="-120"/>
              </a:rPr>
              <a:t>8</a:t>
            </a:r>
            <a:endParaRPr lang="en-US" sz="800" dirty="0"/>
          </a:p>
        </p:txBody>
      </p:sp>
      <p:sp>
        <p:nvSpPr>
          <p:cNvPr id="37" name="Text 33"/>
          <p:cNvSpPr/>
          <p:nvPr/>
        </p:nvSpPr>
        <p:spPr>
          <a:xfrm>
            <a:off x="2441711" y="1340681"/>
            <a:ext cx="1148693" cy="164561"/>
          </a:xfrm>
          <a:prstGeom prst="rect">
            <a:avLst/>
          </a:prstGeom>
          <a:noFill/>
          <a:ln/>
        </p:spPr>
        <p:txBody>
          <a:bodyPr wrap="none" lIns="0" tIns="0" rIns="0" bIns="0" rtlCol="0" anchor="t"/>
          <a:lstStyle/>
          <a:p>
            <a:pPr algn="l" indent="0" marL="0">
              <a:lnSpc>
                <a:spcPts val="945"/>
              </a:lnSpc>
              <a:buNone/>
            </a:pPr>
            <a:r>
              <a:rPr lang="en-US" sz="800" dirty="0">
                <a:solidFill>
                  <a:srgbClr val="A855F7"/>
                </a:solidFill>
                <a:latin typeface="Liberation Sans Narrow" pitchFamily="34" charset="0"/>
                <a:ea typeface="Liberation Sans Narrow" pitchFamily="34" charset="-122"/>
                <a:cs typeface="Liberation Sans Narrow" pitchFamily="34" charset="-120"/>
              </a:rPr>
              <a:t>MS8</a:t>
            </a:r>
            <a:endParaRPr lang="en-US" sz="800" dirty="0"/>
          </a:p>
        </p:txBody>
      </p:sp>
      <p:sp>
        <p:nvSpPr>
          <p:cNvPr id="38" name="Text 34"/>
          <p:cNvSpPr/>
          <p:nvPr/>
        </p:nvSpPr>
        <p:spPr>
          <a:xfrm>
            <a:off x="2227399" y="1557896"/>
            <a:ext cx="1363005" cy="142701"/>
          </a:xfrm>
          <a:prstGeom prst="rect">
            <a:avLst/>
          </a:prstGeom>
          <a:noFill/>
          <a:ln/>
        </p:spPr>
        <p:txBody>
          <a:bodyPr wrap="none" lIns="0" tIns="0" rIns="0" bIns="0" rtlCol="0" anchor="t"/>
          <a:lstStyle/>
          <a:p>
            <a:pPr algn="l" indent="0" marL="0">
              <a:lnSpc>
                <a:spcPts val="959"/>
              </a:lnSpc>
              <a:buNone/>
            </a:pPr>
            <a:r>
              <a:rPr lang="en-US" sz="800" dirty="0">
                <a:solidFill>
                  <a:srgbClr val="FFFFFF"/>
                </a:solidFill>
                <a:latin typeface="Carlito" pitchFamily="34" charset="0"/>
                <a:ea typeface="Carlito" pitchFamily="34" charset="-122"/>
                <a:cs typeface="Carlito" pitchFamily="34" charset="-120"/>
              </a:rPr>
              <a:t>Depth &amp; Trust</a:t>
            </a:r>
            <a:endParaRPr lang="en-US" sz="800" dirty="0"/>
          </a:p>
        </p:txBody>
      </p:sp>
      <p:sp>
        <p:nvSpPr>
          <p:cNvPr id="39" name="Text 35"/>
          <p:cNvSpPr/>
          <p:nvPr/>
        </p:nvSpPr>
        <p:spPr>
          <a:xfrm>
            <a:off x="2227399" y="1751223"/>
            <a:ext cx="1363005" cy="772532"/>
          </a:xfrm>
          <a:prstGeom prst="rect">
            <a:avLst/>
          </a:prstGeom>
          <a:noFill/>
          <a:ln/>
        </p:spPr>
        <p:txBody>
          <a:bodyPr wrap="square" lIns="0" tIns="0" rIns="0" bIns="0" rtlCol="0" anchor="t"/>
          <a:lstStyle/>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▶Evidence chain full integration</a:t>
            </a:r>
            <a:endParaRPr lang="en-US" sz="800" dirty="0"/>
          </a:p>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▶Confidence breakdown tooltips</a:t>
            </a:r>
            <a:endParaRPr lang="en-US" sz="800" dirty="0"/>
          </a:p>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▶L3-L4 progressive disclosure</a:t>
            </a:r>
            <a:endParaRPr lang="en-US" sz="800" dirty="0"/>
          </a:p>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▶Account Intelligence experience</a:t>
            </a:r>
            <a:endParaRPr lang="en-US" sz="800" dirty="0"/>
          </a:p>
        </p:txBody>
      </p:sp>
      <p:sp>
        <p:nvSpPr>
          <p:cNvPr id="40" name="Text 36"/>
          <p:cNvSpPr/>
          <p:nvPr/>
        </p:nvSpPr>
        <p:spPr>
          <a:xfrm>
            <a:off x="3783285" y="1179277"/>
            <a:ext cx="1577318" cy="1605669"/>
          </a:xfrm>
          <a:prstGeom prst="roundRect">
            <a:avLst>
              <a:gd name="adj" fmla="val 9662"/>
            </a:avLst>
          </a:prstGeom>
          <a:solidFill>
            <a:srgbClr val="161C2A">
              <a:alpha val="70000"/>
            </a:srgbClr>
          </a:solidFill>
          <a:ln/>
        </p:spPr>
        <p:txBody>
          <a:bodyPr wrap="square" rtlCol="0" anchor="ctr"/>
          <a:lstStyle/>
          <a:p>
            <a:pPr indent="0" marL="0">
              <a:buNone/>
            </a:pPr>
            <a:endParaRPr lang="en-US" dirty="0"/>
          </a:p>
        </p:txBody>
      </p:sp>
      <p:sp>
        <p:nvSpPr>
          <p:cNvPr id="41" name="Text 37"/>
          <p:cNvSpPr/>
          <p:nvPr/>
        </p:nvSpPr>
        <p:spPr>
          <a:xfrm>
            <a:off x="3897585" y="1322152"/>
            <a:ext cx="157163" cy="157163"/>
          </a:xfrm>
          <a:prstGeom prst="ellipse">
            <a:avLst/>
          </a:prstGeom>
          <a:solidFill>
            <a:srgbClr val="22C55E">
              <a:alpha val="20000"/>
            </a:srgbClr>
          </a:solidFill>
          <a:ln w="14288">
            <a:solidFill>
              <a:srgbClr val="22C55E"/>
            </a:solidFill>
            <a:prstDash val="solid"/>
          </a:ln>
        </p:spPr>
        <p:txBody>
          <a:bodyPr wrap="square" rtlCol="0" anchor="ctr"/>
          <a:lstStyle/>
          <a:p>
            <a:pPr indent="0" marL="0">
              <a:buNone/>
            </a:pPr>
            <a:endParaRPr lang="en-US" dirty="0"/>
          </a:p>
        </p:txBody>
      </p:sp>
      <p:sp>
        <p:nvSpPr>
          <p:cNvPr id="42" name="Text 38"/>
          <p:cNvSpPr/>
          <p:nvPr/>
        </p:nvSpPr>
        <p:spPr>
          <a:xfrm>
            <a:off x="3957191" y="1353629"/>
            <a:ext cx="91440" cy="118542"/>
          </a:xfrm>
          <a:prstGeom prst="rect">
            <a:avLst/>
          </a:prstGeom>
          <a:noFill/>
          <a:ln/>
        </p:spPr>
        <p:txBody>
          <a:bodyPr wrap="none" lIns="0" tIns="0" rIns="0" bIns="0" rtlCol="0" anchor="t"/>
          <a:lstStyle/>
          <a:p>
            <a:pPr algn="l" indent="0" marL="0">
              <a:lnSpc>
                <a:spcPts val="742"/>
              </a:lnSpc>
              <a:buNone/>
            </a:pPr>
            <a:r>
              <a:rPr lang="en-US" sz="800" dirty="0">
                <a:solidFill>
                  <a:srgbClr val="22C55E"/>
                </a:solidFill>
                <a:latin typeface="Liberation Sans Narrow" pitchFamily="34" charset="0"/>
                <a:ea typeface="Liberation Sans Narrow" pitchFamily="34" charset="-122"/>
                <a:cs typeface="Liberation Sans Narrow" pitchFamily="34" charset="-120"/>
              </a:rPr>
              <a:t>9</a:t>
            </a:r>
            <a:endParaRPr lang="en-US" sz="800" dirty="0"/>
          </a:p>
        </p:txBody>
      </p:sp>
      <p:sp>
        <p:nvSpPr>
          <p:cNvPr id="43" name="Text 39"/>
          <p:cNvSpPr/>
          <p:nvPr/>
        </p:nvSpPr>
        <p:spPr>
          <a:xfrm>
            <a:off x="4104754" y="1340681"/>
            <a:ext cx="1148693" cy="164561"/>
          </a:xfrm>
          <a:prstGeom prst="rect">
            <a:avLst/>
          </a:prstGeom>
          <a:noFill/>
          <a:ln/>
        </p:spPr>
        <p:txBody>
          <a:bodyPr wrap="none" lIns="0" tIns="0" rIns="0" bIns="0" rtlCol="0" anchor="t"/>
          <a:lstStyle/>
          <a:p>
            <a:pPr algn="l" indent="0" marL="0">
              <a:lnSpc>
                <a:spcPts val="945"/>
              </a:lnSpc>
              <a:buNone/>
            </a:pPr>
            <a:r>
              <a:rPr lang="en-US" sz="800" dirty="0">
                <a:solidFill>
                  <a:srgbClr val="22C55E"/>
                </a:solidFill>
                <a:latin typeface="Liberation Sans Narrow" pitchFamily="34" charset="0"/>
                <a:ea typeface="Liberation Sans Narrow" pitchFamily="34" charset="-122"/>
                <a:cs typeface="Liberation Sans Narrow" pitchFamily="34" charset="-120"/>
              </a:rPr>
              <a:t>MS9</a:t>
            </a:r>
            <a:endParaRPr lang="en-US" sz="800" dirty="0"/>
          </a:p>
        </p:txBody>
      </p:sp>
      <p:sp>
        <p:nvSpPr>
          <p:cNvPr id="44" name="Text 40"/>
          <p:cNvSpPr/>
          <p:nvPr/>
        </p:nvSpPr>
        <p:spPr>
          <a:xfrm>
            <a:off x="3890442" y="1557896"/>
            <a:ext cx="1363005" cy="142701"/>
          </a:xfrm>
          <a:prstGeom prst="rect">
            <a:avLst/>
          </a:prstGeom>
          <a:noFill/>
          <a:ln/>
        </p:spPr>
        <p:txBody>
          <a:bodyPr wrap="none" lIns="0" tIns="0" rIns="0" bIns="0" rtlCol="0" anchor="t"/>
          <a:lstStyle/>
          <a:p>
            <a:pPr algn="l" indent="0" marL="0">
              <a:lnSpc>
                <a:spcPts val="959"/>
              </a:lnSpc>
              <a:buNone/>
            </a:pPr>
            <a:r>
              <a:rPr lang="en-US" sz="800" dirty="0">
                <a:solidFill>
                  <a:srgbClr val="FFFFFF"/>
                </a:solidFill>
                <a:latin typeface="Carlito" pitchFamily="34" charset="0"/>
                <a:ea typeface="Carlito" pitchFamily="34" charset="-122"/>
                <a:cs typeface="Carlito" pitchFamily="34" charset="-120"/>
              </a:rPr>
              <a:t>Intelligence Advisors</a:t>
            </a:r>
            <a:endParaRPr lang="en-US" sz="800" dirty="0"/>
          </a:p>
        </p:txBody>
      </p:sp>
      <p:sp>
        <p:nvSpPr>
          <p:cNvPr id="45" name="Text 41"/>
          <p:cNvSpPr/>
          <p:nvPr/>
        </p:nvSpPr>
        <p:spPr>
          <a:xfrm>
            <a:off x="3890442" y="1751223"/>
            <a:ext cx="1363005" cy="653859"/>
          </a:xfrm>
          <a:prstGeom prst="rect">
            <a:avLst/>
          </a:prstGeom>
          <a:noFill/>
          <a:ln/>
        </p:spPr>
        <p:txBody>
          <a:bodyPr wrap="square" lIns="0" tIns="0" rIns="0" bIns="0" rtlCol="0" anchor="t"/>
          <a:lstStyle/>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▶AI advisor interfaces</a:t>
            </a:r>
            <a:endParaRPr lang="en-US" sz="800" dirty="0"/>
          </a:p>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▶Market Intelligence experience</a:t>
            </a:r>
            <a:endParaRPr lang="en-US" sz="800" dirty="0"/>
          </a:p>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▶Workspace experience</a:t>
            </a:r>
            <a:endParaRPr lang="en-US" sz="800" dirty="0"/>
          </a:p>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▶Human Assistance Layer</a:t>
            </a:r>
            <a:endParaRPr lang="en-US" sz="800" dirty="0"/>
          </a:p>
        </p:txBody>
      </p:sp>
      <p:sp>
        <p:nvSpPr>
          <p:cNvPr id="46" name="Text 42"/>
          <p:cNvSpPr/>
          <p:nvPr/>
        </p:nvSpPr>
        <p:spPr>
          <a:xfrm>
            <a:off x="5446328" y="1179277"/>
            <a:ext cx="1577318" cy="1605669"/>
          </a:xfrm>
          <a:prstGeom prst="roundRect">
            <a:avLst>
              <a:gd name="adj" fmla="val 9662"/>
            </a:avLst>
          </a:prstGeom>
          <a:solidFill>
            <a:srgbClr val="161C2A">
              <a:alpha val="70000"/>
            </a:srgbClr>
          </a:solidFill>
          <a:ln/>
        </p:spPr>
        <p:txBody>
          <a:bodyPr wrap="square" rtlCol="0" anchor="ctr"/>
          <a:lstStyle/>
          <a:p>
            <a:pPr indent="0" marL="0">
              <a:buNone/>
            </a:pPr>
            <a:endParaRPr lang="en-US" dirty="0"/>
          </a:p>
        </p:txBody>
      </p:sp>
      <p:sp>
        <p:nvSpPr>
          <p:cNvPr id="47" name="Text 43"/>
          <p:cNvSpPr/>
          <p:nvPr/>
        </p:nvSpPr>
        <p:spPr>
          <a:xfrm>
            <a:off x="5560628" y="1322152"/>
            <a:ext cx="157163" cy="157163"/>
          </a:xfrm>
          <a:prstGeom prst="ellipse">
            <a:avLst/>
          </a:prstGeom>
          <a:solidFill>
            <a:srgbClr val="F59E0B">
              <a:alpha val="20000"/>
            </a:srgbClr>
          </a:solidFill>
          <a:ln w="14288">
            <a:solidFill>
              <a:srgbClr val="F59E0B"/>
            </a:solidFill>
            <a:prstDash val="solid"/>
          </a:ln>
        </p:spPr>
        <p:txBody>
          <a:bodyPr wrap="square" rtlCol="0" anchor="ctr"/>
          <a:lstStyle/>
          <a:p>
            <a:pPr indent="0" marL="0">
              <a:buNone/>
            </a:pPr>
            <a:endParaRPr lang="en-US" dirty="0"/>
          </a:p>
        </p:txBody>
      </p:sp>
      <p:sp>
        <p:nvSpPr>
          <p:cNvPr id="48" name="Text 44"/>
          <p:cNvSpPr/>
          <p:nvPr/>
        </p:nvSpPr>
        <p:spPr>
          <a:xfrm>
            <a:off x="5586925" y="1353629"/>
            <a:ext cx="138166" cy="118542"/>
          </a:xfrm>
          <a:prstGeom prst="rect">
            <a:avLst/>
          </a:prstGeom>
          <a:noFill/>
          <a:ln/>
        </p:spPr>
        <p:txBody>
          <a:bodyPr wrap="none" lIns="0" tIns="0" rIns="0" bIns="0" rtlCol="0" anchor="t"/>
          <a:lstStyle/>
          <a:p>
            <a:pPr algn="l" indent="0" marL="0">
              <a:lnSpc>
                <a:spcPts val="742"/>
              </a:lnSpc>
              <a:buNone/>
            </a:pPr>
            <a:r>
              <a:rPr lang="en-US" sz="600" dirty="0">
                <a:solidFill>
                  <a:srgbClr val="F59E0B"/>
                </a:solidFill>
                <a:latin typeface="Liberation Sans Narrow" pitchFamily="34" charset="0"/>
                <a:ea typeface="Liberation Sans Narrow" pitchFamily="34" charset="-122"/>
                <a:cs typeface="Liberation Sans Narrow" pitchFamily="34" charset="-120"/>
              </a:rPr>
              <a:t>10</a:t>
            </a:r>
            <a:endParaRPr lang="en-US" sz="600" dirty="0"/>
          </a:p>
        </p:txBody>
      </p:sp>
      <p:sp>
        <p:nvSpPr>
          <p:cNvPr id="49" name="Text 45"/>
          <p:cNvSpPr/>
          <p:nvPr/>
        </p:nvSpPr>
        <p:spPr>
          <a:xfrm>
            <a:off x="5767797" y="1340681"/>
            <a:ext cx="1148693" cy="164561"/>
          </a:xfrm>
          <a:prstGeom prst="rect">
            <a:avLst/>
          </a:prstGeom>
          <a:noFill/>
          <a:ln/>
        </p:spPr>
        <p:txBody>
          <a:bodyPr wrap="none" lIns="0" tIns="0" rIns="0" bIns="0" rtlCol="0" anchor="t"/>
          <a:lstStyle/>
          <a:p>
            <a:pPr algn="l" indent="0" marL="0">
              <a:lnSpc>
                <a:spcPts val="945"/>
              </a:lnSpc>
              <a:buNone/>
            </a:pPr>
            <a:r>
              <a:rPr lang="en-US" sz="800" dirty="0">
                <a:solidFill>
                  <a:srgbClr val="F59E0B"/>
                </a:solidFill>
                <a:latin typeface="Liberation Sans Narrow" pitchFamily="34" charset="0"/>
                <a:ea typeface="Liberation Sans Narrow" pitchFamily="34" charset="-122"/>
                <a:cs typeface="Liberation Sans Narrow" pitchFamily="34" charset="-120"/>
              </a:rPr>
              <a:t>MS10</a:t>
            </a:r>
            <a:endParaRPr lang="en-US" sz="800" dirty="0"/>
          </a:p>
        </p:txBody>
      </p:sp>
      <p:sp>
        <p:nvSpPr>
          <p:cNvPr id="50" name="Text 46"/>
          <p:cNvSpPr/>
          <p:nvPr/>
        </p:nvSpPr>
        <p:spPr>
          <a:xfrm>
            <a:off x="5553484" y="1557896"/>
            <a:ext cx="1363005" cy="142701"/>
          </a:xfrm>
          <a:prstGeom prst="rect">
            <a:avLst/>
          </a:prstGeom>
          <a:noFill/>
          <a:ln/>
        </p:spPr>
        <p:txBody>
          <a:bodyPr wrap="none" lIns="0" tIns="0" rIns="0" bIns="0" rtlCol="0" anchor="t"/>
          <a:lstStyle/>
          <a:p>
            <a:pPr algn="l" indent="0" marL="0">
              <a:lnSpc>
                <a:spcPts val="959"/>
              </a:lnSpc>
              <a:buNone/>
            </a:pPr>
            <a:r>
              <a:rPr lang="en-US" sz="800" dirty="0">
                <a:solidFill>
                  <a:srgbClr val="FFFFFF"/>
                </a:solidFill>
                <a:latin typeface="Carlito" pitchFamily="34" charset="0"/>
                <a:ea typeface="Carlito" pitchFamily="34" charset="-122"/>
                <a:cs typeface="Carlito" pitchFamily="34" charset="-120"/>
              </a:rPr>
              <a:t>Operations &amp; Command</a:t>
            </a:r>
            <a:endParaRPr lang="en-US" sz="800" dirty="0"/>
          </a:p>
        </p:txBody>
      </p:sp>
      <p:sp>
        <p:nvSpPr>
          <p:cNvPr id="51" name="Text 47"/>
          <p:cNvSpPr/>
          <p:nvPr/>
        </p:nvSpPr>
        <p:spPr>
          <a:xfrm>
            <a:off x="5553484" y="1751223"/>
            <a:ext cx="1363005" cy="653859"/>
          </a:xfrm>
          <a:prstGeom prst="rect">
            <a:avLst/>
          </a:prstGeom>
          <a:noFill/>
          <a:ln/>
        </p:spPr>
        <p:txBody>
          <a:bodyPr wrap="square" lIns="0" tIns="0" rIns="0" bIns="0" rtlCol="0" anchor="t"/>
          <a:lstStyle/>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▶Command Center experience</a:t>
            </a:r>
            <a:endParaRPr lang="en-US" sz="800" dirty="0"/>
          </a:p>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▶Operations experience</a:t>
            </a:r>
            <a:endParaRPr lang="en-US" sz="800" dirty="0"/>
          </a:p>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▶Analytics integration</a:t>
            </a:r>
            <a:endParaRPr lang="en-US" sz="800" dirty="0"/>
          </a:p>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▶System health overlay</a:t>
            </a:r>
            <a:endParaRPr lang="en-US" sz="800" dirty="0"/>
          </a:p>
        </p:txBody>
      </p:sp>
      <p:sp>
        <p:nvSpPr>
          <p:cNvPr id="52" name="Text 48"/>
          <p:cNvSpPr/>
          <p:nvPr/>
        </p:nvSpPr>
        <p:spPr>
          <a:xfrm>
            <a:off x="7109371" y="1179277"/>
            <a:ext cx="1577429" cy="1605669"/>
          </a:xfrm>
          <a:prstGeom prst="roundRect">
            <a:avLst>
              <a:gd name="adj" fmla="val 9661"/>
            </a:avLst>
          </a:prstGeom>
          <a:solidFill>
            <a:srgbClr val="161C2A">
              <a:alpha val="70000"/>
            </a:srgbClr>
          </a:solidFill>
          <a:ln/>
        </p:spPr>
        <p:txBody>
          <a:bodyPr wrap="square" rtlCol="0" anchor="ctr"/>
          <a:lstStyle/>
          <a:p>
            <a:pPr indent="0" marL="0">
              <a:buNone/>
            </a:pPr>
            <a:endParaRPr lang="en-US" dirty="0"/>
          </a:p>
        </p:txBody>
      </p:sp>
      <p:sp>
        <p:nvSpPr>
          <p:cNvPr id="53" name="Text 49"/>
          <p:cNvSpPr/>
          <p:nvPr/>
        </p:nvSpPr>
        <p:spPr>
          <a:xfrm>
            <a:off x="7223671" y="1322152"/>
            <a:ext cx="157163" cy="157163"/>
          </a:xfrm>
          <a:prstGeom prst="ellipse">
            <a:avLst/>
          </a:prstGeom>
          <a:solidFill>
            <a:srgbClr val="06B6D4">
              <a:alpha val="20000"/>
            </a:srgbClr>
          </a:solidFill>
          <a:ln w="14288">
            <a:solidFill>
              <a:srgbClr val="06B6D4"/>
            </a:solidFill>
            <a:prstDash val="solid"/>
          </a:ln>
        </p:spPr>
        <p:txBody>
          <a:bodyPr wrap="square" rtlCol="0" anchor="ctr"/>
          <a:lstStyle/>
          <a:p>
            <a:pPr indent="0" marL="0">
              <a:buNone/>
            </a:pPr>
            <a:endParaRPr lang="en-US" dirty="0"/>
          </a:p>
        </p:txBody>
      </p:sp>
      <p:sp>
        <p:nvSpPr>
          <p:cNvPr id="54" name="Text 50"/>
          <p:cNvSpPr/>
          <p:nvPr/>
        </p:nvSpPr>
        <p:spPr>
          <a:xfrm>
            <a:off x="7249968" y="1353629"/>
            <a:ext cx="138166" cy="118542"/>
          </a:xfrm>
          <a:prstGeom prst="rect">
            <a:avLst/>
          </a:prstGeom>
          <a:noFill/>
          <a:ln/>
        </p:spPr>
        <p:txBody>
          <a:bodyPr wrap="none" lIns="0" tIns="0" rIns="0" bIns="0" rtlCol="0" anchor="t"/>
          <a:lstStyle/>
          <a:p>
            <a:pPr algn="l" indent="0" marL="0">
              <a:lnSpc>
                <a:spcPts val="742"/>
              </a:lnSpc>
              <a:buNone/>
            </a:pPr>
            <a:r>
              <a:rPr lang="en-US" sz="600" dirty="0">
                <a:solidFill>
                  <a:srgbClr val="06B6D4"/>
                </a:solidFill>
                <a:latin typeface="Liberation Sans Narrow" pitchFamily="34" charset="0"/>
                <a:ea typeface="Liberation Sans Narrow" pitchFamily="34" charset="-122"/>
                <a:cs typeface="Liberation Sans Narrow" pitchFamily="34" charset="-120"/>
              </a:rPr>
              <a:t>11</a:t>
            </a:r>
            <a:endParaRPr lang="en-US" sz="600" dirty="0"/>
          </a:p>
        </p:txBody>
      </p:sp>
      <p:sp>
        <p:nvSpPr>
          <p:cNvPr id="55" name="Text 51"/>
          <p:cNvSpPr/>
          <p:nvPr/>
        </p:nvSpPr>
        <p:spPr>
          <a:xfrm>
            <a:off x="7430839" y="1340681"/>
            <a:ext cx="1148804" cy="164561"/>
          </a:xfrm>
          <a:prstGeom prst="rect">
            <a:avLst/>
          </a:prstGeom>
          <a:noFill/>
          <a:ln/>
        </p:spPr>
        <p:txBody>
          <a:bodyPr wrap="none" lIns="0" tIns="0" rIns="0" bIns="0" rtlCol="0" anchor="t"/>
          <a:lstStyle/>
          <a:p>
            <a:pPr algn="l" indent="0" marL="0">
              <a:lnSpc>
                <a:spcPts val="945"/>
              </a:lnSpc>
              <a:buNone/>
            </a:pPr>
            <a:r>
              <a:rPr lang="en-US" sz="800" dirty="0">
                <a:solidFill>
                  <a:srgbClr val="06B6D4"/>
                </a:solidFill>
                <a:latin typeface="Liberation Sans Narrow" pitchFamily="34" charset="0"/>
                <a:ea typeface="Liberation Sans Narrow" pitchFamily="34" charset="-122"/>
                <a:cs typeface="Liberation Sans Narrow" pitchFamily="34" charset="-120"/>
              </a:rPr>
              <a:t>MS11</a:t>
            </a:r>
            <a:endParaRPr lang="en-US" sz="800" dirty="0"/>
          </a:p>
        </p:txBody>
      </p:sp>
      <p:sp>
        <p:nvSpPr>
          <p:cNvPr id="56" name="Text 52"/>
          <p:cNvSpPr/>
          <p:nvPr/>
        </p:nvSpPr>
        <p:spPr>
          <a:xfrm>
            <a:off x="7216527" y="1557896"/>
            <a:ext cx="1363117" cy="142701"/>
          </a:xfrm>
          <a:prstGeom prst="rect">
            <a:avLst/>
          </a:prstGeom>
          <a:noFill/>
          <a:ln/>
        </p:spPr>
        <p:txBody>
          <a:bodyPr wrap="none" lIns="0" tIns="0" rIns="0" bIns="0" rtlCol="0" anchor="t"/>
          <a:lstStyle/>
          <a:p>
            <a:pPr algn="l" indent="0" marL="0">
              <a:lnSpc>
                <a:spcPts val="959"/>
              </a:lnSpc>
              <a:buNone/>
            </a:pPr>
            <a:r>
              <a:rPr lang="en-US" sz="800" dirty="0">
                <a:solidFill>
                  <a:srgbClr val="FFFFFF"/>
                </a:solidFill>
                <a:latin typeface="Carlito" pitchFamily="34" charset="0"/>
                <a:ea typeface="Carlito" pitchFamily="34" charset="-122"/>
                <a:cs typeface="Carlito" pitchFamily="34" charset="-120"/>
              </a:rPr>
              <a:t>Polish &amp; Perfection</a:t>
            </a:r>
            <a:endParaRPr lang="en-US" sz="800" dirty="0"/>
          </a:p>
        </p:txBody>
      </p:sp>
      <p:sp>
        <p:nvSpPr>
          <p:cNvPr id="57" name="Text 53"/>
          <p:cNvSpPr/>
          <p:nvPr/>
        </p:nvSpPr>
        <p:spPr>
          <a:xfrm>
            <a:off x="7216527" y="1751223"/>
            <a:ext cx="1363117" cy="1009878"/>
          </a:xfrm>
          <a:prstGeom prst="rect">
            <a:avLst/>
          </a:prstGeom>
          <a:noFill/>
          <a:ln/>
        </p:spPr>
        <p:txBody>
          <a:bodyPr wrap="square" lIns="0" tIns="0" rIns="0" bIns="0" rtlCol="0" anchor="t"/>
          <a:lstStyle/>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▶Empty state + success state design</a:t>
            </a:r>
            <a:endParaRPr lang="en-US" sz="800" dirty="0"/>
          </a:p>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▶Emotional copy library complete</a:t>
            </a:r>
            <a:endParaRPr lang="en-US" sz="800" dirty="0"/>
          </a:p>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▶72-point behavioral psychology applied</a:t>
            </a:r>
            <a:endParaRPr lang="en-US" sz="800" dirty="0"/>
          </a:p>
          <a:p>
            <a:pPr algn="l" marL="342900" indent="-342900">
              <a:lnSpc>
                <a:spcPts val="882"/>
              </a:lnSpc>
              <a:spcAft>
                <a:spcPts val="338"/>
              </a:spcAft>
              <a:buSzPct val="100000"/>
              <a:buChar char="•"/>
            </a:pPr>
            <a:r>
              <a:rPr lang="en-US" sz="800" dirty="0">
                <a:solidFill>
                  <a:srgbClr val="8B95AD"/>
                </a:solidFill>
                <a:latin typeface="Carlito" pitchFamily="34" charset="0"/>
                <a:ea typeface="Carlito" pitchFamily="34" charset="-122"/>
                <a:cs typeface="Carlito" pitchFamily="34" charset="-120"/>
              </a:rPr>
              <a:t>▶Performance optimization</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457200" y="457200"/>
            <a:ext cx="8636000" cy="275396"/>
          </a:xfrm>
          <a:prstGeom prst="rect">
            <a:avLst/>
          </a:prstGeom>
          <a:noFill/>
          <a:ln/>
        </p:spPr>
        <p:txBody>
          <a:bodyPr wrap="square" lIns="0" tIns="0" rIns="0" bIns="0" rtlCol="0" anchor="t">
            <a:normAutofit/>
          </a:bodyPr>
          <a:lstStyle/>
          <a:p>
            <a:pPr algn="l" indent="0" marL="0">
              <a:lnSpc>
                <a:spcPts val="2160"/>
              </a:lnSpc>
              <a:buNone/>
            </a:pPr>
            <a:r>
              <a:rPr lang="en-US" sz="1440" b="1" spc="-29" kern="0" dirty="0">
                <a:solidFill>
                  <a:srgbClr val="FFFFFF"/>
                </a:solidFill>
                <a:latin typeface="Liberation Sans Narrow" pitchFamily="34" charset="0"/>
                <a:ea typeface="Liberation Sans Narrow" pitchFamily="34" charset="-122"/>
                <a:cs typeface="Liberation Sans Narrow" pitchFamily="34" charset="-120"/>
              </a:rPr>
              <a:t>15 Locked Core Design Patterns</a:t>
            </a:r>
            <a:endParaRPr lang="en-US" sz="1440" dirty="0"/>
          </a:p>
        </p:txBody>
      </p:sp>
      <p:sp>
        <p:nvSpPr>
          <p:cNvPr id="3" name="Text 1"/>
          <p:cNvSpPr/>
          <p:nvPr/>
        </p:nvSpPr>
        <p:spPr>
          <a:xfrm>
            <a:off x="457200" y="760028"/>
            <a:ext cx="8229600" cy="164655"/>
          </a:xfrm>
          <a:prstGeom prst="rect">
            <a:avLst/>
          </a:prstGeom>
          <a:noFill/>
          <a:ln/>
        </p:spPr>
        <p:txBody>
          <a:bodyPr wrap="square" lIns="0" tIns="0" rIns="0" bIns="0" rtlCol="0" anchor="t"/>
          <a:lstStyle/>
          <a:p>
            <a:pPr algn="l" indent="0" marL="0">
              <a:lnSpc>
                <a:spcPts val="1107"/>
              </a:lnSpc>
              <a:buNone/>
            </a:pPr>
            <a:r>
              <a:rPr lang="en-US" sz="800" dirty="0">
                <a:solidFill>
                  <a:srgbClr val="8B95AD"/>
                </a:solidFill>
                <a:latin typeface="Carlito" pitchFamily="34" charset="0"/>
                <a:ea typeface="Carlito" pitchFamily="34" charset="-122"/>
                <a:cs typeface="Carlito" pitchFamily="34" charset="-120"/>
              </a:rPr>
              <a:t>MS6 implements all 15. MS7–MS11 extend with remaining patterns from the 72-point behavioral psychology checklist.</a:t>
            </a:r>
            <a:endParaRPr lang="en-US" sz="800" dirty="0"/>
          </a:p>
        </p:txBody>
      </p:sp>
      <p:sp>
        <p:nvSpPr>
          <p:cNvPr id="4" name="Text 2"/>
          <p:cNvSpPr/>
          <p:nvPr/>
        </p:nvSpPr>
        <p:spPr>
          <a:xfrm>
            <a:off x="457200" y="929246"/>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5" name="Text 3"/>
          <p:cNvSpPr/>
          <p:nvPr/>
        </p:nvSpPr>
        <p:spPr>
          <a:xfrm>
            <a:off x="460772" y="1154274"/>
            <a:ext cx="2689845" cy="552413"/>
          </a:xfrm>
          <a:prstGeom prst="roundRect">
            <a:avLst>
              <a:gd name="adj" fmla="val 27588"/>
            </a:avLst>
          </a:prstGeom>
          <a:solidFill>
            <a:srgbClr val="161C2A">
              <a:alpha val="70000"/>
            </a:srgbClr>
          </a:solidFill>
          <a:ln w="7144">
            <a:solidFill>
              <a:srgbClr val="252E42"/>
            </a:solidFill>
            <a:prstDash val="solid"/>
          </a:ln>
        </p:spPr>
        <p:txBody>
          <a:bodyPr wrap="square" rtlCol="0" anchor="ctr"/>
          <a:lstStyle/>
          <a:p>
            <a:pPr indent="0" marL="0">
              <a:buNone/>
            </a:pPr>
            <a:endParaRPr lang="en-US" dirty="0"/>
          </a:p>
        </p:txBody>
      </p:sp>
      <p:sp>
        <p:nvSpPr>
          <p:cNvPr id="6" name="Text 4"/>
          <p:cNvSpPr/>
          <p:nvPr/>
        </p:nvSpPr>
        <p:spPr>
          <a:xfrm>
            <a:off x="564356" y="1353294"/>
            <a:ext cx="198060" cy="166722"/>
          </a:xfrm>
          <a:prstGeom prst="rect">
            <a:avLst/>
          </a:prstGeom>
          <a:noFill/>
          <a:ln/>
        </p:spPr>
        <p:txBody>
          <a:bodyPr wrap="none" lIns="0" tIns="0" rIns="0" bIns="0" rtlCol="0" anchor="t"/>
          <a:lstStyle/>
          <a:p>
            <a:pPr algn="l" indent="0" marL="0">
              <a:lnSpc>
                <a:spcPts val="1215"/>
              </a:lnSpc>
              <a:buNone/>
            </a:pPr>
            <a:r>
              <a:rPr lang="en-US" sz="810" dirty="0">
                <a:solidFill>
                  <a:srgbClr val="3B82F6"/>
                </a:solidFill>
                <a:latin typeface="Liberation Sans Narrow" pitchFamily="34" charset="0"/>
                <a:ea typeface="Liberation Sans Narrow" pitchFamily="34" charset="-122"/>
                <a:cs typeface="Liberation Sans Narrow" pitchFamily="34" charset="-120"/>
              </a:rPr>
              <a:t>01</a:t>
            </a:r>
            <a:endParaRPr lang="en-US" sz="810" dirty="0"/>
          </a:p>
        </p:txBody>
      </p:sp>
      <p:sp>
        <p:nvSpPr>
          <p:cNvPr id="7" name="Text 5"/>
          <p:cNvSpPr/>
          <p:nvPr/>
        </p:nvSpPr>
        <p:spPr>
          <a:xfrm>
            <a:off x="759582" y="1372493"/>
            <a:ext cx="1727854" cy="142600"/>
          </a:xfrm>
          <a:prstGeom prst="rect">
            <a:avLst/>
          </a:prstGeom>
          <a:noFill/>
          <a:ln/>
        </p:spPr>
        <p:txBody>
          <a:bodyPr wrap="none" lIns="0" tIns="0" rIns="0" bIns="0" rtlCol="0" anchor="t"/>
          <a:lstStyle/>
          <a:p>
            <a:pPr algn="l" indent="0" marL="0">
              <a:lnSpc>
                <a:spcPts val="913"/>
              </a:lnSpc>
              <a:buNone/>
            </a:pPr>
            <a:r>
              <a:rPr lang="en-US" sz="702" dirty="0">
                <a:solidFill>
                  <a:srgbClr val="FFFFFF"/>
                </a:solidFill>
                <a:latin typeface="Carlito" pitchFamily="34" charset="0"/>
                <a:ea typeface="Carlito" pitchFamily="34" charset="-122"/>
                <a:cs typeface="Carlito" pitchFamily="34" charset="-120"/>
              </a:rPr>
              <a:t>AI Intelligence as Executive Briefing</a:t>
            </a:r>
            <a:endParaRPr lang="en-US" sz="702" dirty="0"/>
          </a:p>
        </p:txBody>
      </p:sp>
      <p:sp>
        <p:nvSpPr>
          <p:cNvPr id="8" name="Text 6"/>
          <p:cNvSpPr/>
          <p:nvPr/>
        </p:nvSpPr>
        <p:spPr>
          <a:xfrm>
            <a:off x="2430884" y="1353665"/>
            <a:ext cx="616148" cy="153519"/>
          </a:xfrm>
          <a:prstGeom prst="roundRect">
            <a:avLst>
              <a:gd name="adj" fmla="val 62038233"/>
            </a:avLst>
          </a:prstGeom>
          <a:solidFill>
            <a:srgbClr val="3B82F6">
              <a:alpha val="15000"/>
            </a:srgbClr>
          </a:solidFill>
          <a:ln w="7144">
            <a:solidFill>
              <a:srgbClr val="3B82F6"/>
            </a:solidFill>
            <a:prstDash val="solid"/>
          </a:ln>
        </p:spPr>
        <p:txBody>
          <a:bodyPr wrap="square" rtlCol="0" anchor="ctr"/>
          <a:lstStyle/>
          <a:p>
            <a:pPr indent="0" marL="0">
              <a:buNone/>
            </a:pPr>
            <a:endParaRPr lang="en-US" dirty="0"/>
          </a:p>
        </p:txBody>
      </p:sp>
      <p:sp>
        <p:nvSpPr>
          <p:cNvPr id="9" name="Text 7"/>
          <p:cNvSpPr/>
          <p:nvPr/>
        </p:nvSpPr>
        <p:spPr>
          <a:xfrm>
            <a:off x="2349526" y="1361889"/>
            <a:ext cx="778866" cy="137071"/>
          </a:xfrm>
          <a:prstGeom prst="rect">
            <a:avLst/>
          </a:prstGeom>
          <a:noFill/>
          <a:ln/>
        </p:spPr>
        <p:txBody>
          <a:bodyPr wrap="none" lIns="0" tIns="0" rIns="0" bIns="0" rtlCol="0" anchor="ctr"/>
          <a:lstStyle/>
          <a:p>
            <a:pPr algn="ctr" indent="0" marL="0">
              <a:lnSpc>
                <a:spcPts val="742"/>
              </a:lnSpc>
              <a:buNone/>
            </a:pPr>
            <a:r>
              <a:rPr lang="en-US" sz="800" spc="25" kern="0" dirty="0">
                <a:solidFill>
                  <a:srgbClr val="60A5FA"/>
                </a:solidFill>
                <a:latin typeface="Carlito" pitchFamily="34" charset="0"/>
                <a:ea typeface="Carlito" pitchFamily="34" charset="-122"/>
                <a:cs typeface="Carlito" pitchFamily="34" charset="-120"/>
              </a:rPr>
              <a:t>PHILOSOPHY</a:t>
            </a:r>
            <a:endParaRPr lang="en-US" sz="800" dirty="0"/>
          </a:p>
        </p:txBody>
      </p:sp>
      <p:sp>
        <p:nvSpPr>
          <p:cNvPr id="10" name="Text 8"/>
          <p:cNvSpPr/>
          <p:nvPr/>
        </p:nvSpPr>
        <p:spPr>
          <a:xfrm>
            <a:off x="3229198" y="1154274"/>
            <a:ext cx="2687724" cy="552413"/>
          </a:xfrm>
          <a:prstGeom prst="roundRect">
            <a:avLst>
              <a:gd name="adj" fmla="val 27588"/>
            </a:avLst>
          </a:prstGeom>
          <a:solidFill>
            <a:srgbClr val="161C2A">
              <a:alpha val="70000"/>
            </a:srgbClr>
          </a:solidFill>
          <a:ln w="7144">
            <a:solidFill>
              <a:srgbClr val="252E42"/>
            </a:solidFill>
            <a:prstDash val="solid"/>
          </a:ln>
        </p:spPr>
        <p:txBody>
          <a:bodyPr wrap="square" rtlCol="0" anchor="ctr"/>
          <a:lstStyle/>
          <a:p>
            <a:pPr indent="0" marL="0">
              <a:buNone/>
            </a:pPr>
            <a:endParaRPr lang="en-US" dirty="0"/>
          </a:p>
        </p:txBody>
      </p:sp>
      <p:sp>
        <p:nvSpPr>
          <p:cNvPr id="11" name="Text 9"/>
          <p:cNvSpPr/>
          <p:nvPr/>
        </p:nvSpPr>
        <p:spPr>
          <a:xfrm>
            <a:off x="3332783" y="1353294"/>
            <a:ext cx="198060" cy="166722"/>
          </a:xfrm>
          <a:prstGeom prst="rect">
            <a:avLst/>
          </a:prstGeom>
          <a:noFill/>
          <a:ln/>
        </p:spPr>
        <p:txBody>
          <a:bodyPr wrap="none" lIns="0" tIns="0" rIns="0" bIns="0" rtlCol="0" anchor="t"/>
          <a:lstStyle/>
          <a:p>
            <a:pPr algn="l" indent="0" marL="0">
              <a:lnSpc>
                <a:spcPts val="1215"/>
              </a:lnSpc>
              <a:buNone/>
            </a:pPr>
            <a:r>
              <a:rPr lang="en-US" sz="810" dirty="0">
                <a:solidFill>
                  <a:srgbClr val="3B82F6"/>
                </a:solidFill>
                <a:latin typeface="Liberation Sans Narrow" pitchFamily="34" charset="0"/>
                <a:ea typeface="Liberation Sans Narrow" pitchFamily="34" charset="-122"/>
                <a:cs typeface="Liberation Sans Narrow" pitchFamily="34" charset="-120"/>
              </a:rPr>
              <a:t>02</a:t>
            </a:r>
            <a:endParaRPr lang="en-US" sz="810" dirty="0"/>
          </a:p>
        </p:txBody>
      </p:sp>
      <p:sp>
        <p:nvSpPr>
          <p:cNvPr id="12" name="Text 10"/>
          <p:cNvSpPr/>
          <p:nvPr/>
        </p:nvSpPr>
        <p:spPr>
          <a:xfrm>
            <a:off x="3528008" y="1372493"/>
            <a:ext cx="1677632" cy="142600"/>
          </a:xfrm>
          <a:prstGeom prst="rect">
            <a:avLst/>
          </a:prstGeom>
          <a:noFill/>
          <a:ln/>
        </p:spPr>
        <p:txBody>
          <a:bodyPr wrap="none" lIns="0" tIns="0" rIns="0" bIns="0" rtlCol="0" anchor="t"/>
          <a:lstStyle/>
          <a:p>
            <a:pPr algn="l" indent="0" marL="0">
              <a:lnSpc>
                <a:spcPts val="913"/>
              </a:lnSpc>
              <a:buNone/>
            </a:pPr>
            <a:r>
              <a:rPr lang="en-US" sz="800" dirty="0">
                <a:solidFill>
                  <a:srgbClr val="FFFFFF"/>
                </a:solidFill>
                <a:latin typeface="Carlito" pitchFamily="34" charset="0"/>
                <a:ea typeface="Carlito" pitchFamily="34" charset="-122"/>
                <a:cs typeface="Carlito" pitchFamily="34" charset="-120"/>
              </a:rPr>
              <a:t>Cognitive Load Reduction</a:t>
            </a:r>
            <a:endParaRPr lang="en-US" sz="800" dirty="0"/>
          </a:p>
        </p:txBody>
      </p:sp>
      <p:sp>
        <p:nvSpPr>
          <p:cNvPr id="13" name="Text 11"/>
          <p:cNvSpPr/>
          <p:nvPr/>
        </p:nvSpPr>
        <p:spPr>
          <a:xfrm>
            <a:off x="5197190" y="1353665"/>
            <a:ext cx="616148" cy="153519"/>
          </a:xfrm>
          <a:prstGeom prst="roundRect">
            <a:avLst>
              <a:gd name="adj" fmla="val 62038233"/>
            </a:avLst>
          </a:prstGeom>
          <a:solidFill>
            <a:srgbClr val="3B82F6">
              <a:alpha val="15000"/>
            </a:srgbClr>
          </a:solidFill>
          <a:ln w="7144">
            <a:solidFill>
              <a:srgbClr val="3B82F6"/>
            </a:solidFill>
            <a:prstDash val="solid"/>
          </a:ln>
        </p:spPr>
        <p:txBody>
          <a:bodyPr wrap="square" rtlCol="0" anchor="ctr"/>
          <a:lstStyle/>
          <a:p>
            <a:pPr indent="0" marL="0">
              <a:buNone/>
            </a:pPr>
            <a:endParaRPr lang="en-US" dirty="0"/>
          </a:p>
        </p:txBody>
      </p:sp>
      <p:sp>
        <p:nvSpPr>
          <p:cNvPr id="14" name="Text 12"/>
          <p:cNvSpPr/>
          <p:nvPr/>
        </p:nvSpPr>
        <p:spPr>
          <a:xfrm>
            <a:off x="5115831" y="1361889"/>
            <a:ext cx="778866" cy="137071"/>
          </a:xfrm>
          <a:prstGeom prst="rect">
            <a:avLst/>
          </a:prstGeom>
          <a:noFill/>
          <a:ln/>
        </p:spPr>
        <p:txBody>
          <a:bodyPr wrap="none" lIns="0" tIns="0" rIns="0" bIns="0" rtlCol="0" anchor="ctr"/>
          <a:lstStyle/>
          <a:p>
            <a:pPr algn="ctr" indent="0" marL="0">
              <a:lnSpc>
                <a:spcPts val="742"/>
              </a:lnSpc>
              <a:buNone/>
            </a:pPr>
            <a:r>
              <a:rPr lang="en-US" sz="800" spc="25" kern="0" dirty="0">
                <a:solidFill>
                  <a:srgbClr val="60A5FA"/>
                </a:solidFill>
                <a:latin typeface="Carlito" pitchFamily="34" charset="0"/>
                <a:ea typeface="Carlito" pitchFamily="34" charset="-122"/>
                <a:cs typeface="Carlito" pitchFamily="34" charset="-120"/>
              </a:rPr>
              <a:t>PHILOSOPHY</a:t>
            </a:r>
            <a:endParaRPr lang="en-US" sz="800" dirty="0"/>
          </a:p>
        </p:txBody>
      </p:sp>
      <p:sp>
        <p:nvSpPr>
          <p:cNvPr id="15" name="Text 13"/>
          <p:cNvSpPr/>
          <p:nvPr/>
        </p:nvSpPr>
        <p:spPr>
          <a:xfrm>
            <a:off x="5995504" y="1154274"/>
            <a:ext cx="2687724" cy="552413"/>
          </a:xfrm>
          <a:prstGeom prst="roundRect">
            <a:avLst>
              <a:gd name="adj" fmla="val 27588"/>
            </a:avLst>
          </a:prstGeom>
          <a:solidFill>
            <a:srgbClr val="161C2A">
              <a:alpha val="70000"/>
            </a:srgbClr>
          </a:solidFill>
          <a:ln w="7144">
            <a:solidFill>
              <a:srgbClr val="252E42"/>
            </a:solidFill>
            <a:prstDash val="solid"/>
          </a:ln>
        </p:spPr>
        <p:txBody>
          <a:bodyPr wrap="square" rtlCol="0" anchor="ctr"/>
          <a:lstStyle/>
          <a:p>
            <a:pPr indent="0" marL="0">
              <a:buNone/>
            </a:pPr>
            <a:endParaRPr lang="en-US" dirty="0"/>
          </a:p>
        </p:txBody>
      </p:sp>
      <p:sp>
        <p:nvSpPr>
          <p:cNvPr id="16" name="Text 14"/>
          <p:cNvSpPr/>
          <p:nvPr/>
        </p:nvSpPr>
        <p:spPr>
          <a:xfrm>
            <a:off x="6099088" y="1353294"/>
            <a:ext cx="198060" cy="166722"/>
          </a:xfrm>
          <a:prstGeom prst="rect">
            <a:avLst/>
          </a:prstGeom>
          <a:noFill/>
          <a:ln/>
        </p:spPr>
        <p:txBody>
          <a:bodyPr wrap="none" lIns="0" tIns="0" rIns="0" bIns="0" rtlCol="0" anchor="t"/>
          <a:lstStyle/>
          <a:p>
            <a:pPr algn="l" indent="0" marL="0">
              <a:lnSpc>
                <a:spcPts val="1215"/>
              </a:lnSpc>
              <a:buNone/>
            </a:pPr>
            <a:r>
              <a:rPr lang="en-US" sz="810" dirty="0">
                <a:solidFill>
                  <a:srgbClr val="A855F7"/>
                </a:solidFill>
                <a:latin typeface="Liberation Sans Narrow" pitchFamily="34" charset="0"/>
                <a:ea typeface="Liberation Sans Narrow" pitchFamily="34" charset="-122"/>
                <a:cs typeface="Liberation Sans Narrow" pitchFamily="34" charset="-120"/>
              </a:rPr>
              <a:t>03</a:t>
            </a:r>
            <a:endParaRPr lang="en-US" sz="810" dirty="0"/>
          </a:p>
        </p:txBody>
      </p:sp>
      <p:sp>
        <p:nvSpPr>
          <p:cNvPr id="17" name="Text 15"/>
          <p:cNvSpPr/>
          <p:nvPr/>
        </p:nvSpPr>
        <p:spPr>
          <a:xfrm>
            <a:off x="6294313" y="1372493"/>
            <a:ext cx="1586800" cy="142600"/>
          </a:xfrm>
          <a:prstGeom prst="rect">
            <a:avLst/>
          </a:prstGeom>
          <a:noFill/>
          <a:ln/>
        </p:spPr>
        <p:txBody>
          <a:bodyPr wrap="none" lIns="0" tIns="0" rIns="0" bIns="0" rtlCol="0" anchor="t"/>
          <a:lstStyle/>
          <a:p>
            <a:pPr algn="l" indent="0" marL="0">
              <a:lnSpc>
                <a:spcPts val="913"/>
              </a:lnSpc>
              <a:buNone/>
            </a:pPr>
            <a:r>
              <a:rPr lang="en-US" sz="800" dirty="0">
                <a:solidFill>
                  <a:srgbClr val="FFFFFF"/>
                </a:solidFill>
                <a:latin typeface="Carlito" pitchFamily="34" charset="0"/>
                <a:ea typeface="Carlito" pitchFamily="34" charset="-122"/>
                <a:cs typeface="Carlito" pitchFamily="34" charset="-120"/>
              </a:rPr>
              <a:t>Progressive Disclosure</a:t>
            </a:r>
            <a:endParaRPr lang="en-US" sz="800" dirty="0"/>
          </a:p>
        </p:txBody>
      </p:sp>
      <p:sp>
        <p:nvSpPr>
          <p:cNvPr id="18" name="Text 16"/>
          <p:cNvSpPr/>
          <p:nvPr/>
        </p:nvSpPr>
        <p:spPr>
          <a:xfrm>
            <a:off x="7876989" y="1353665"/>
            <a:ext cx="702655" cy="153519"/>
          </a:xfrm>
          <a:prstGeom prst="roundRect">
            <a:avLst>
              <a:gd name="adj" fmla="val 62038233"/>
            </a:avLst>
          </a:prstGeom>
          <a:solidFill>
            <a:srgbClr val="8B5CF6">
              <a:alpha val="15000"/>
            </a:srgbClr>
          </a:solidFill>
          <a:ln w="7144">
            <a:solidFill>
              <a:srgbClr val="8B5CF6"/>
            </a:solidFill>
            <a:prstDash val="solid"/>
          </a:ln>
        </p:spPr>
        <p:txBody>
          <a:bodyPr wrap="square" rtlCol="0" anchor="ctr"/>
          <a:lstStyle/>
          <a:p>
            <a:pPr indent="0" marL="0">
              <a:buNone/>
            </a:pPr>
            <a:endParaRPr lang="en-US" dirty="0"/>
          </a:p>
        </p:txBody>
      </p:sp>
      <p:sp>
        <p:nvSpPr>
          <p:cNvPr id="19" name="Text 17"/>
          <p:cNvSpPr/>
          <p:nvPr/>
        </p:nvSpPr>
        <p:spPr>
          <a:xfrm>
            <a:off x="7764553" y="1361889"/>
            <a:ext cx="927527" cy="137071"/>
          </a:xfrm>
          <a:prstGeom prst="rect">
            <a:avLst/>
          </a:prstGeom>
          <a:noFill/>
          <a:ln/>
        </p:spPr>
        <p:txBody>
          <a:bodyPr wrap="none" lIns="0" tIns="0" rIns="0" bIns="0" rtlCol="0" anchor="ctr"/>
          <a:lstStyle/>
          <a:p>
            <a:pPr algn="ctr" indent="0" marL="0">
              <a:lnSpc>
                <a:spcPts val="742"/>
              </a:lnSpc>
              <a:buNone/>
            </a:pPr>
            <a:r>
              <a:rPr lang="en-US" sz="800" spc="25" kern="0" dirty="0">
                <a:solidFill>
                  <a:srgbClr val="A78BFA"/>
                </a:solidFill>
                <a:latin typeface="Carlito" pitchFamily="34" charset="0"/>
                <a:ea typeface="Carlito" pitchFamily="34" charset="-122"/>
                <a:cs typeface="Carlito" pitchFamily="34" charset="-120"/>
              </a:rPr>
              <a:t>ARCHITECTURE</a:t>
            </a:r>
            <a:endParaRPr lang="en-US" sz="800" dirty="0"/>
          </a:p>
        </p:txBody>
      </p:sp>
      <p:sp>
        <p:nvSpPr>
          <p:cNvPr id="20" name="Text 18"/>
          <p:cNvSpPr/>
          <p:nvPr/>
        </p:nvSpPr>
        <p:spPr>
          <a:xfrm>
            <a:off x="460772" y="1785268"/>
            <a:ext cx="2689845" cy="552413"/>
          </a:xfrm>
          <a:prstGeom prst="roundRect">
            <a:avLst>
              <a:gd name="adj" fmla="val 27588"/>
            </a:avLst>
          </a:prstGeom>
          <a:solidFill>
            <a:srgbClr val="161C2A">
              <a:alpha val="70000"/>
            </a:srgbClr>
          </a:solidFill>
          <a:ln w="7144">
            <a:solidFill>
              <a:srgbClr val="252E42"/>
            </a:solidFill>
            <a:prstDash val="solid"/>
          </a:ln>
        </p:spPr>
        <p:txBody>
          <a:bodyPr wrap="square" rtlCol="0" anchor="ctr"/>
          <a:lstStyle/>
          <a:p>
            <a:pPr indent="0" marL="0">
              <a:buNone/>
            </a:pPr>
            <a:endParaRPr lang="en-US" dirty="0"/>
          </a:p>
        </p:txBody>
      </p:sp>
      <p:sp>
        <p:nvSpPr>
          <p:cNvPr id="21" name="Text 19"/>
          <p:cNvSpPr/>
          <p:nvPr/>
        </p:nvSpPr>
        <p:spPr>
          <a:xfrm>
            <a:off x="564356" y="1984288"/>
            <a:ext cx="198060" cy="166722"/>
          </a:xfrm>
          <a:prstGeom prst="rect">
            <a:avLst/>
          </a:prstGeom>
          <a:noFill/>
          <a:ln/>
        </p:spPr>
        <p:txBody>
          <a:bodyPr wrap="none" lIns="0" tIns="0" rIns="0" bIns="0" rtlCol="0" anchor="t"/>
          <a:lstStyle/>
          <a:p>
            <a:pPr algn="l" indent="0" marL="0">
              <a:lnSpc>
                <a:spcPts val="1215"/>
              </a:lnSpc>
              <a:buNone/>
            </a:pPr>
            <a:r>
              <a:rPr lang="en-US" sz="810" dirty="0">
                <a:solidFill>
                  <a:srgbClr val="A855F7"/>
                </a:solidFill>
                <a:latin typeface="Liberation Sans Narrow" pitchFamily="34" charset="0"/>
                <a:ea typeface="Liberation Sans Narrow" pitchFamily="34" charset="-122"/>
                <a:cs typeface="Liberation Sans Narrow" pitchFamily="34" charset="-120"/>
              </a:rPr>
              <a:t>04</a:t>
            </a:r>
            <a:endParaRPr lang="en-US" sz="810" dirty="0"/>
          </a:p>
        </p:txBody>
      </p:sp>
      <p:sp>
        <p:nvSpPr>
          <p:cNvPr id="22" name="Text 20"/>
          <p:cNvSpPr/>
          <p:nvPr/>
        </p:nvSpPr>
        <p:spPr>
          <a:xfrm>
            <a:off x="759582" y="2003487"/>
            <a:ext cx="1589027" cy="142600"/>
          </a:xfrm>
          <a:prstGeom prst="rect">
            <a:avLst/>
          </a:prstGeom>
          <a:noFill/>
          <a:ln/>
        </p:spPr>
        <p:txBody>
          <a:bodyPr wrap="none" lIns="0" tIns="0" rIns="0" bIns="0" rtlCol="0" anchor="t"/>
          <a:lstStyle/>
          <a:p>
            <a:pPr algn="l" indent="0" marL="0">
              <a:lnSpc>
                <a:spcPts val="913"/>
              </a:lnSpc>
              <a:buNone/>
            </a:pPr>
            <a:r>
              <a:rPr lang="en-US" sz="800" dirty="0">
                <a:solidFill>
                  <a:srgbClr val="FFFFFF"/>
                </a:solidFill>
                <a:latin typeface="Carlito" pitchFamily="34" charset="0"/>
                <a:ea typeface="Carlito" pitchFamily="34" charset="-122"/>
                <a:cs typeface="Carlito" pitchFamily="34" charset="-120"/>
              </a:rPr>
              <a:t>Navigation Intelligence</a:t>
            </a:r>
            <a:endParaRPr lang="en-US" sz="800" dirty="0"/>
          </a:p>
        </p:txBody>
      </p:sp>
      <p:sp>
        <p:nvSpPr>
          <p:cNvPr id="23" name="Text 21"/>
          <p:cNvSpPr/>
          <p:nvPr/>
        </p:nvSpPr>
        <p:spPr>
          <a:xfrm>
            <a:off x="2344378" y="1984659"/>
            <a:ext cx="702655" cy="153519"/>
          </a:xfrm>
          <a:prstGeom prst="roundRect">
            <a:avLst>
              <a:gd name="adj" fmla="val 62038233"/>
            </a:avLst>
          </a:prstGeom>
          <a:solidFill>
            <a:srgbClr val="8B5CF6">
              <a:alpha val="15000"/>
            </a:srgbClr>
          </a:solidFill>
          <a:ln w="7144">
            <a:solidFill>
              <a:srgbClr val="8B5CF6"/>
            </a:solidFill>
            <a:prstDash val="solid"/>
          </a:ln>
        </p:spPr>
        <p:txBody>
          <a:bodyPr wrap="square" rtlCol="0" anchor="ctr"/>
          <a:lstStyle/>
          <a:p>
            <a:pPr indent="0" marL="0">
              <a:buNone/>
            </a:pPr>
            <a:endParaRPr lang="en-US" dirty="0"/>
          </a:p>
        </p:txBody>
      </p:sp>
      <p:sp>
        <p:nvSpPr>
          <p:cNvPr id="24" name="Text 22"/>
          <p:cNvSpPr/>
          <p:nvPr/>
        </p:nvSpPr>
        <p:spPr>
          <a:xfrm>
            <a:off x="2231942" y="1992883"/>
            <a:ext cx="927527" cy="137071"/>
          </a:xfrm>
          <a:prstGeom prst="rect">
            <a:avLst/>
          </a:prstGeom>
          <a:noFill/>
          <a:ln/>
        </p:spPr>
        <p:txBody>
          <a:bodyPr wrap="none" lIns="0" tIns="0" rIns="0" bIns="0" rtlCol="0" anchor="ctr"/>
          <a:lstStyle/>
          <a:p>
            <a:pPr algn="ctr" indent="0" marL="0">
              <a:lnSpc>
                <a:spcPts val="742"/>
              </a:lnSpc>
              <a:buNone/>
            </a:pPr>
            <a:r>
              <a:rPr lang="en-US" sz="800" spc="25" kern="0" dirty="0">
                <a:solidFill>
                  <a:srgbClr val="A78BFA"/>
                </a:solidFill>
                <a:latin typeface="Carlito" pitchFamily="34" charset="0"/>
                <a:ea typeface="Carlito" pitchFamily="34" charset="-122"/>
                <a:cs typeface="Carlito" pitchFamily="34" charset="-120"/>
              </a:rPr>
              <a:t>ARCHITECTURE</a:t>
            </a:r>
            <a:endParaRPr lang="en-US" sz="800" dirty="0"/>
          </a:p>
        </p:txBody>
      </p:sp>
      <p:sp>
        <p:nvSpPr>
          <p:cNvPr id="25" name="Text 23"/>
          <p:cNvSpPr/>
          <p:nvPr/>
        </p:nvSpPr>
        <p:spPr>
          <a:xfrm>
            <a:off x="3229198" y="1785268"/>
            <a:ext cx="2687724" cy="552413"/>
          </a:xfrm>
          <a:prstGeom prst="roundRect">
            <a:avLst>
              <a:gd name="adj" fmla="val 27588"/>
            </a:avLst>
          </a:prstGeom>
          <a:solidFill>
            <a:srgbClr val="161C2A">
              <a:alpha val="70000"/>
            </a:srgbClr>
          </a:solidFill>
          <a:ln w="7144">
            <a:solidFill>
              <a:srgbClr val="252E42"/>
            </a:solidFill>
            <a:prstDash val="solid"/>
          </a:ln>
        </p:spPr>
        <p:txBody>
          <a:bodyPr wrap="square" rtlCol="0" anchor="ctr"/>
          <a:lstStyle/>
          <a:p>
            <a:pPr indent="0" marL="0">
              <a:buNone/>
            </a:pPr>
            <a:endParaRPr lang="en-US" dirty="0"/>
          </a:p>
        </p:txBody>
      </p:sp>
      <p:sp>
        <p:nvSpPr>
          <p:cNvPr id="26" name="Text 24"/>
          <p:cNvSpPr/>
          <p:nvPr/>
        </p:nvSpPr>
        <p:spPr>
          <a:xfrm>
            <a:off x="3332783" y="1984288"/>
            <a:ext cx="198060" cy="166722"/>
          </a:xfrm>
          <a:prstGeom prst="rect">
            <a:avLst/>
          </a:prstGeom>
          <a:noFill/>
          <a:ln/>
        </p:spPr>
        <p:txBody>
          <a:bodyPr wrap="none" lIns="0" tIns="0" rIns="0" bIns="0" rtlCol="0" anchor="t"/>
          <a:lstStyle/>
          <a:p>
            <a:pPr algn="l" indent="0" marL="0">
              <a:lnSpc>
                <a:spcPts val="1215"/>
              </a:lnSpc>
              <a:buNone/>
            </a:pPr>
            <a:r>
              <a:rPr lang="en-US" sz="810" dirty="0">
                <a:solidFill>
                  <a:srgbClr val="3B82F6"/>
                </a:solidFill>
                <a:latin typeface="Liberation Sans Narrow" pitchFamily="34" charset="0"/>
                <a:ea typeface="Liberation Sans Narrow" pitchFamily="34" charset="-122"/>
                <a:cs typeface="Liberation Sans Narrow" pitchFamily="34" charset="-120"/>
              </a:rPr>
              <a:t>05</a:t>
            </a:r>
            <a:endParaRPr lang="en-US" sz="810" dirty="0"/>
          </a:p>
        </p:txBody>
      </p:sp>
      <p:sp>
        <p:nvSpPr>
          <p:cNvPr id="27" name="Text 25"/>
          <p:cNvSpPr/>
          <p:nvPr/>
        </p:nvSpPr>
        <p:spPr>
          <a:xfrm>
            <a:off x="3528008" y="2003487"/>
            <a:ext cx="1725564" cy="142600"/>
          </a:xfrm>
          <a:prstGeom prst="rect">
            <a:avLst/>
          </a:prstGeom>
          <a:noFill/>
          <a:ln/>
        </p:spPr>
        <p:txBody>
          <a:bodyPr wrap="square" lIns="0" tIns="0" rIns="0" bIns="0" rtlCol="0" anchor="t"/>
          <a:lstStyle/>
          <a:p>
            <a:pPr algn="l" indent="0" marL="0">
              <a:lnSpc>
                <a:spcPts val="913"/>
              </a:lnSpc>
              <a:buNone/>
            </a:pPr>
            <a:r>
              <a:rPr lang="en-US" sz="800" dirty="0">
                <a:solidFill>
                  <a:srgbClr val="FFFFFF"/>
                </a:solidFill>
                <a:latin typeface="Carlito" pitchFamily="34" charset="0"/>
                <a:ea typeface="Carlito" pitchFamily="34" charset="-122"/>
                <a:cs typeface="Carlito" pitchFamily="34" charset="-120"/>
              </a:rPr>
              <a:t>Decision Fatigue Prevention</a:t>
            </a:r>
            <a:endParaRPr lang="en-US" sz="800" dirty="0"/>
          </a:p>
        </p:txBody>
      </p:sp>
      <p:sp>
        <p:nvSpPr>
          <p:cNvPr id="28" name="Text 26"/>
          <p:cNvSpPr/>
          <p:nvPr/>
        </p:nvSpPr>
        <p:spPr>
          <a:xfrm>
            <a:off x="5197190" y="1984659"/>
            <a:ext cx="616148" cy="153519"/>
          </a:xfrm>
          <a:prstGeom prst="roundRect">
            <a:avLst>
              <a:gd name="adj" fmla="val 62038233"/>
            </a:avLst>
          </a:prstGeom>
          <a:solidFill>
            <a:srgbClr val="3B82F6">
              <a:alpha val="15000"/>
            </a:srgbClr>
          </a:solidFill>
          <a:ln w="7144">
            <a:solidFill>
              <a:srgbClr val="3B82F6"/>
            </a:solidFill>
            <a:prstDash val="solid"/>
          </a:ln>
        </p:spPr>
        <p:txBody>
          <a:bodyPr wrap="square" rtlCol="0" anchor="ctr"/>
          <a:lstStyle/>
          <a:p>
            <a:pPr indent="0" marL="0">
              <a:buNone/>
            </a:pPr>
            <a:endParaRPr lang="en-US" dirty="0"/>
          </a:p>
        </p:txBody>
      </p:sp>
      <p:sp>
        <p:nvSpPr>
          <p:cNvPr id="29" name="Text 27"/>
          <p:cNvSpPr/>
          <p:nvPr/>
        </p:nvSpPr>
        <p:spPr>
          <a:xfrm>
            <a:off x="5115831" y="1992883"/>
            <a:ext cx="778866" cy="137071"/>
          </a:xfrm>
          <a:prstGeom prst="rect">
            <a:avLst/>
          </a:prstGeom>
          <a:noFill/>
          <a:ln/>
        </p:spPr>
        <p:txBody>
          <a:bodyPr wrap="none" lIns="0" tIns="0" rIns="0" bIns="0" rtlCol="0" anchor="ctr"/>
          <a:lstStyle/>
          <a:p>
            <a:pPr algn="ctr" indent="0" marL="0">
              <a:lnSpc>
                <a:spcPts val="742"/>
              </a:lnSpc>
              <a:buNone/>
            </a:pPr>
            <a:r>
              <a:rPr lang="en-US" sz="800" spc="25" kern="0" dirty="0">
                <a:solidFill>
                  <a:srgbClr val="60A5FA"/>
                </a:solidFill>
                <a:latin typeface="Carlito" pitchFamily="34" charset="0"/>
                <a:ea typeface="Carlito" pitchFamily="34" charset="-122"/>
                <a:cs typeface="Carlito" pitchFamily="34" charset="-120"/>
              </a:rPr>
              <a:t>PHILOSOPHY</a:t>
            </a:r>
            <a:endParaRPr lang="en-US" sz="800" dirty="0"/>
          </a:p>
        </p:txBody>
      </p:sp>
      <p:sp>
        <p:nvSpPr>
          <p:cNvPr id="30" name="Text 28"/>
          <p:cNvSpPr/>
          <p:nvPr/>
        </p:nvSpPr>
        <p:spPr>
          <a:xfrm>
            <a:off x="5995504" y="1785268"/>
            <a:ext cx="2687724" cy="552413"/>
          </a:xfrm>
          <a:prstGeom prst="roundRect">
            <a:avLst>
              <a:gd name="adj" fmla="val 27588"/>
            </a:avLst>
          </a:prstGeom>
          <a:solidFill>
            <a:srgbClr val="161C2A">
              <a:alpha val="70000"/>
            </a:srgbClr>
          </a:solidFill>
          <a:ln w="7144">
            <a:solidFill>
              <a:srgbClr val="252E42"/>
            </a:solidFill>
            <a:prstDash val="solid"/>
          </a:ln>
        </p:spPr>
        <p:txBody>
          <a:bodyPr wrap="square" rtlCol="0" anchor="ctr"/>
          <a:lstStyle/>
          <a:p>
            <a:pPr indent="0" marL="0">
              <a:buNone/>
            </a:pPr>
            <a:endParaRPr lang="en-US" dirty="0"/>
          </a:p>
        </p:txBody>
      </p:sp>
      <p:sp>
        <p:nvSpPr>
          <p:cNvPr id="31" name="Text 29"/>
          <p:cNvSpPr/>
          <p:nvPr/>
        </p:nvSpPr>
        <p:spPr>
          <a:xfrm>
            <a:off x="6099088" y="1984288"/>
            <a:ext cx="198060" cy="166722"/>
          </a:xfrm>
          <a:prstGeom prst="rect">
            <a:avLst/>
          </a:prstGeom>
          <a:noFill/>
          <a:ln/>
        </p:spPr>
        <p:txBody>
          <a:bodyPr wrap="none" lIns="0" tIns="0" rIns="0" bIns="0" rtlCol="0" anchor="t"/>
          <a:lstStyle/>
          <a:p>
            <a:pPr algn="l" indent="0" marL="0">
              <a:lnSpc>
                <a:spcPts val="1215"/>
              </a:lnSpc>
              <a:buNone/>
            </a:pPr>
            <a:r>
              <a:rPr lang="en-US" sz="810" dirty="0">
                <a:solidFill>
                  <a:srgbClr val="22C55E"/>
                </a:solidFill>
                <a:latin typeface="Liberation Sans Narrow" pitchFamily="34" charset="0"/>
                <a:ea typeface="Liberation Sans Narrow" pitchFamily="34" charset="-122"/>
                <a:cs typeface="Liberation Sans Narrow" pitchFamily="34" charset="-120"/>
              </a:rPr>
              <a:t>06</a:t>
            </a:r>
            <a:endParaRPr lang="en-US" sz="810" dirty="0"/>
          </a:p>
        </p:txBody>
      </p:sp>
      <p:sp>
        <p:nvSpPr>
          <p:cNvPr id="32" name="Text 30"/>
          <p:cNvSpPr/>
          <p:nvPr/>
        </p:nvSpPr>
        <p:spPr>
          <a:xfrm>
            <a:off x="6294313" y="2003487"/>
            <a:ext cx="1986195" cy="142600"/>
          </a:xfrm>
          <a:prstGeom prst="rect">
            <a:avLst/>
          </a:prstGeom>
          <a:noFill/>
          <a:ln/>
        </p:spPr>
        <p:txBody>
          <a:bodyPr wrap="square" lIns="0" tIns="0" rIns="0" bIns="0" rtlCol="0" anchor="t"/>
          <a:lstStyle/>
          <a:p>
            <a:pPr algn="l" indent="0" marL="0">
              <a:lnSpc>
                <a:spcPts val="913"/>
              </a:lnSpc>
              <a:buNone/>
            </a:pPr>
            <a:r>
              <a:rPr lang="en-US" sz="702" dirty="0">
                <a:solidFill>
                  <a:srgbClr val="FFFFFF"/>
                </a:solidFill>
                <a:latin typeface="Carlito" pitchFamily="34" charset="0"/>
                <a:ea typeface="Carlito" pitchFamily="34" charset="-122"/>
                <a:cs typeface="Carlito" pitchFamily="34" charset="-120"/>
              </a:rPr>
              <a:t>Trust Visualization / Evidence Footprint</a:t>
            </a:r>
            <a:endParaRPr lang="en-US" sz="702" dirty="0"/>
          </a:p>
        </p:txBody>
      </p:sp>
      <p:sp>
        <p:nvSpPr>
          <p:cNvPr id="33" name="Text 31"/>
          <p:cNvSpPr/>
          <p:nvPr/>
        </p:nvSpPr>
        <p:spPr>
          <a:xfrm>
            <a:off x="8204820" y="1984659"/>
            <a:ext cx="374824" cy="153519"/>
          </a:xfrm>
          <a:prstGeom prst="roundRect">
            <a:avLst>
              <a:gd name="adj" fmla="val 62038233"/>
            </a:avLst>
          </a:prstGeom>
          <a:solidFill>
            <a:srgbClr val="22C55E">
              <a:alpha val="15000"/>
            </a:srgbClr>
          </a:solidFill>
          <a:ln w="7144">
            <a:solidFill>
              <a:srgbClr val="22C55E"/>
            </a:solidFill>
            <a:prstDash val="solid"/>
          </a:ln>
        </p:spPr>
        <p:txBody>
          <a:bodyPr wrap="square" rtlCol="0" anchor="ctr"/>
          <a:lstStyle/>
          <a:p>
            <a:pPr indent="0" marL="0">
              <a:buNone/>
            </a:pPr>
            <a:endParaRPr lang="en-US" dirty="0"/>
          </a:p>
        </p:txBody>
      </p:sp>
      <p:sp>
        <p:nvSpPr>
          <p:cNvPr id="34" name="Text 32"/>
          <p:cNvSpPr/>
          <p:nvPr/>
        </p:nvSpPr>
        <p:spPr>
          <a:xfrm>
            <a:off x="8188626" y="1992883"/>
            <a:ext cx="407213" cy="137071"/>
          </a:xfrm>
          <a:prstGeom prst="rect">
            <a:avLst/>
          </a:prstGeom>
          <a:noFill/>
          <a:ln/>
        </p:spPr>
        <p:txBody>
          <a:bodyPr wrap="none" lIns="0" tIns="0" rIns="0" bIns="0" rtlCol="0" anchor="ctr"/>
          <a:lstStyle/>
          <a:p>
            <a:pPr algn="ctr" indent="0" marL="0">
              <a:lnSpc>
                <a:spcPts val="742"/>
              </a:lnSpc>
              <a:buNone/>
            </a:pPr>
            <a:r>
              <a:rPr lang="en-US" sz="800" spc="25" kern="0" dirty="0">
                <a:solidFill>
                  <a:srgbClr val="4ADE80"/>
                </a:solidFill>
                <a:latin typeface="Carlito" pitchFamily="34" charset="0"/>
                <a:ea typeface="Carlito" pitchFamily="34" charset="-122"/>
                <a:cs typeface="Carlito" pitchFamily="34" charset="-120"/>
              </a:rPr>
              <a:t>TRUST</a:t>
            </a:r>
            <a:endParaRPr lang="en-US" sz="800" dirty="0"/>
          </a:p>
        </p:txBody>
      </p:sp>
      <p:sp>
        <p:nvSpPr>
          <p:cNvPr id="35" name="Text 33"/>
          <p:cNvSpPr/>
          <p:nvPr/>
        </p:nvSpPr>
        <p:spPr>
          <a:xfrm>
            <a:off x="460772" y="2416262"/>
            <a:ext cx="2689845" cy="629766"/>
          </a:xfrm>
          <a:prstGeom prst="roundRect">
            <a:avLst>
              <a:gd name="adj" fmla="val 24199"/>
            </a:avLst>
          </a:prstGeom>
          <a:solidFill>
            <a:srgbClr val="161C2A">
              <a:alpha val="70000"/>
            </a:srgbClr>
          </a:solidFill>
          <a:ln w="7144">
            <a:solidFill>
              <a:srgbClr val="252E42"/>
            </a:solidFill>
            <a:prstDash val="solid"/>
          </a:ln>
        </p:spPr>
        <p:txBody>
          <a:bodyPr wrap="square" rtlCol="0" anchor="ctr"/>
          <a:lstStyle/>
          <a:p>
            <a:pPr indent="0" marL="0">
              <a:buNone/>
            </a:pPr>
            <a:endParaRPr lang="en-US" dirty="0"/>
          </a:p>
        </p:txBody>
      </p:sp>
      <p:sp>
        <p:nvSpPr>
          <p:cNvPr id="36" name="Text 34"/>
          <p:cNvSpPr/>
          <p:nvPr/>
        </p:nvSpPr>
        <p:spPr>
          <a:xfrm>
            <a:off x="564356" y="2653903"/>
            <a:ext cx="198060" cy="166722"/>
          </a:xfrm>
          <a:prstGeom prst="rect">
            <a:avLst/>
          </a:prstGeom>
          <a:noFill/>
          <a:ln/>
        </p:spPr>
        <p:txBody>
          <a:bodyPr wrap="none" lIns="0" tIns="0" rIns="0" bIns="0" rtlCol="0" anchor="t"/>
          <a:lstStyle/>
          <a:p>
            <a:pPr algn="l" indent="0" marL="0">
              <a:lnSpc>
                <a:spcPts val="1215"/>
              </a:lnSpc>
              <a:buNone/>
            </a:pPr>
            <a:r>
              <a:rPr lang="en-US" sz="810" dirty="0">
                <a:solidFill>
                  <a:srgbClr val="22C55E"/>
                </a:solidFill>
                <a:latin typeface="Liberation Sans Narrow" pitchFamily="34" charset="0"/>
                <a:ea typeface="Liberation Sans Narrow" pitchFamily="34" charset="-122"/>
                <a:cs typeface="Liberation Sans Narrow" pitchFamily="34" charset="-120"/>
              </a:rPr>
              <a:t>07</a:t>
            </a:r>
            <a:endParaRPr lang="en-US" sz="810" dirty="0"/>
          </a:p>
        </p:txBody>
      </p:sp>
      <p:sp>
        <p:nvSpPr>
          <p:cNvPr id="37" name="Text 35"/>
          <p:cNvSpPr/>
          <p:nvPr/>
        </p:nvSpPr>
        <p:spPr>
          <a:xfrm>
            <a:off x="759582" y="2615282"/>
            <a:ext cx="1841190" cy="285200"/>
          </a:xfrm>
          <a:prstGeom prst="rect">
            <a:avLst/>
          </a:prstGeom>
          <a:noFill/>
          <a:ln/>
        </p:spPr>
        <p:txBody>
          <a:bodyPr wrap="square" lIns="0" tIns="0" rIns="0" bIns="0" rtlCol="0" anchor="t"/>
          <a:lstStyle/>
          <a:p>
            <a:pPr algn="l" indent="0" marL="0">
              <a:lnSpc>
                <a:spcPts val="913"/>
              </a:lnSpc>
              <a:buNone/>
            </a:pPr>
            <a:r>
              <a:rPr lang="en-US" sz="800" dirty="0">
                <a:solidFill>
                  <a:srgbClr val="FFFFFF"/>
                </a:solidFill>
                <a:latin typeface="Carlito" pitchFamily="34" charset="0"/>
                <a:ea typeface="Carlito" pitchFamily="34" charset="-122"/>
                <a:cs typeface="Carlito" pitchFamily="34" charset="-120"/>
              </a:rPr>
              <a:t>Confidence + Freshness + Source Transparency</a:t>
            </a:r>
            <a:endParaRPr lang="en-US" sz="800" dirty="0"/>
          </a:p>
        </p:txBody>
      </p:sp>
      <p:sp>
        <p:nvSpPr>
          <p:cNvPr id="38" name="Text 36"/>
          <p:cNvSpPr/>
          <p:nvPr/>
        </p:nvSpPr>
        <p:spPr>
          <a:xfrm>
            <a:off x="2672209" y="2654385"/>
            <a:ext cx="374824" cy="153519"/>
          </a:xfrm>
          <a:prstGeom prst="roundRect">
            <a:avLst>
              <a:gd name="adj" fmla="val 62038233"/>
            </a:avLst>
          </a:prstGeom>
          <a:solidFill>
            <a:srgbClr val="22C55E">
              <a:alpha val="15000"/>
            </a:srgbClr>
          </a:solidFill>
          <a:ln w="7144">
            <a:solidFill>
              <a:srgbClr val="22C55E"/>
            </a:solidFill>
            <a:prstDash val="solid"/>
          </a:ln>
        </p:spPr>
        <p:txBody>
          <a:bodyPr wrap="square" rtlCol="0" anchor="ctr"/>
          <a:lstStyle/>
          <a:p>
            <a:pPr indent="0" marL="0">
              <a:buNone/>
            </a:pPr>
            <a:endParaRPr lang="en-US" dirty="0"/>
          </a:p>
        </p:txBody>
      </p:sp>
      <p:sp>
        <p:nvSpPr>
          <p:cNvPr id="39" name="Text 37"/>
          <p:cNvSpPr/>
          <p:nvPr/>
        </p:nvSpPr>
        <p:spPr>
          <a:xfrm>
            <a:off x="2656014" y="2662610"/>
            <a:ext cx="407213" cy="137071"/>
          </a:xfrm>
          <a:prstGeom prst="rect">
            <a:avLst/>
          </a:prstGeom>
          <a:noFill/>
          <a:ln/>
        </p:spPr>
        <p:txBody>
          <a:bodyPr wrap="none" lIns="0" tIns="0" rIns="0" bIns="0" rtlCol="0" anchor="ctr"/>
          <a:lstStyle/>
          <a:p>
            <a:pPr algn="ctr" indent="0" marL="0">
              <a:lnSpc>
                <a:spcPts val="742"/>
              </a:lnSpc>
              <a:buNone/>
            </a:pPr>
            <a:r>
              <a:rPr lang="en-US" sz="800" spc="25" kern="0" dirty="0">
                <a:solidFill>
                  <a:srgbClr val="4ADE80"/>
                </a:solidFill>
                <a:latin typeface="Carlito" pitchFamily="34" charset="0"/>
                <a:ea typeface="Carlito" pitchFamily="34" charset="-122"/>
                <a:cs typeface="Carlito" pitchFamily="34" charset="-120"/>
              </a:rPr>
              <a:t>TRUST</a:t>
            </a:r>
            <a:endParaRPr lang="en-US" sz="800" dirty="0"/>
          </a:p>
        </p:txBody>
      </p:sp>
      <p:sp>
        <p:nvSpPr>
          <p:cNvPr id="40" name="Text 38"/>
          <p:cNvSpPr/>
          <p:nvPr/>
        </p:nvSpPr>
        <p:spPr>
          <a:xfrm>
            <a:off x="3229198" y="2416262"/>
            <a:ext cx="2687724" cy="629766"/>
          </a:xfrm>
          <a:prstGeom prst="roundRect">
            <a:avLst>
              <a:gd name="adj" fmla="val 24199"/>
            </a:avLst>
          </a:prstGeom>
          <a:solidFill>
            <a:srgbClr val="161C2A">
              <a:alpha val="70000"/>
            </a:srgbClr>
          </a:solidFill>
          <a:ln w="7144">
            <a:solidFill>
              <a:srgbClr val="252E42"/>
            </a:solidFill>
            <a:prstDash val="solid"/>
          </a:ln>
        </p:spPr>
        <p:txBody>
          <a:bodyPr wrap="square" rtlCol="0" anchor="ctr"/>
          <a:lstStyle/>
          <a:p>
            <a:pPr indent="0" marL="0">
              <a:buNone/>
            </a:pPr>
            <a:endParaRPr lang="en-US" dirty="0"/>
          </a:p>
        </p:txBody>
      </p:sp>
      <p:sp>
        <p:nvSpPr>
          <p:cNvPr id="41" name="Text 39"/>
          <p:cNvSpPr/>
          <p:nvPr/>
        </p:nvSpPr>
        <p:spPr>
          <a:xfrm>
            <a:off x="3332783" y="2653903"/>
            <a:ext cx="198060" cy="166722"/>
          </a:xfrm>
          <a:prstGeom prst="rect">
            <a:avLst/>
          </a:prstGeom>
          <a:noFill/>
          <a:ln/>
        </p:spPr>
        <p:txBody>
          <a:bodyPr wrap="none" lIns="0" tIns="0" rIns="0" bIns="0" rtlCol="0" anchor="t"/>
          <a:lstStyle/>
          <a:p>
            <a:pPr algn="l" indent="0" marL="0">
              <a:lnSpc>
                <a:spcPts val="1215"/>
              </a:lnSpc>
              <a:buNone/>
            </a:pPr>
            <a:r>
              <a:rPr lang="en-US" sz="810" dirty="0">
                <a:solidFill>
                  <a:srgbClr val="F59E0B"/>
                </a:solidFill>
                <a:latin typeface="Liberation Sans Narrow" pitchFamily="34" charset="0"/>
                <a:ea typeface="Liberation Sans Narrow" pitchFamily="34" charset="-122"/>
                <a:cs typeface="Liberation Sans Narrow" pitchFamily="34" charset="-120"/>
              </a:rPr>
              <a:t>08</a:t>
            </a:r>
            <a:endParaRPr lang="en-US" sz="810" dirty="0"/>
          </a:p>
        </p:txBody>
      </p:sp>
      <p:sp>
        <p:nvSpPr>
          <p:cNvPr id="42" name="Text 40"/>
          <p:cNvSpPr/>
          <p:nvPr/>
        </p:nvSpPr>
        <p:spPr>
          <a:xfrm>
            <a:off x="3528008" y="2673214"/>
            <a:ext cx="1719004" cy="142600"/>
          </a:xfrm>
          <a:prstGeom prst="rect">
            <a:avLst/>
          </a:prstGeom>
          <a:noFill/>
          <a:ln/>
        </p:spPr>
        <p:txBody>
          <a:bodyPr wrap="none" lIns="0" tIns="0" rIns="0" bIns="0" rtlCol="0" anchor="t"/>
          <a:lstStyle/>
          <a:p>
            <a:pPr algn="l" indent="0" marL="0">
              <a:lnSpc>
                <a:spcPts val="913"/>
              </a:lnSpc>
              <a:buNone/>
            </a:pPr>
            <a:r>
              <a:rPr lang="en-US" sz="800" dirty="0">
                <a:solidFill>
                  <a:srgbClr val="FFFFFF"/>
                </a:solidFill>
                <a:latin typeface="Carlito" pitchFamily="34" charset="0"/>
                <a:ea typeface="Carlito" pitchFamily="34" charset="-122"/>
                <a:cs typeface="Carlito" pitchFamily="34" charset="-120"/>
              </a:rPr>
              <a:t>Emotional Copywriting</a:t>
            </a:r>
            <a:endParaRPr lang="en-US" sz="800" dirty="0"/>
          </a:p>
        </p:txBody>
      </p:sp>
      <p:sp>
        <p:nvSpPr>
          <p:cNvPr id="43" name="Text 41"/>
          <p:cNvSpPr/>
          <p:nvPr/>
        </p:nvSpPr>
        <p:spPr>
          <a:xfrm>
            <a:off x="5236592" y="2654385"/>
            <a:ext cx="576746" cy="153519"/>
          </a:xfrm>
          <a:prstGeom prst="roundRect">
            <a:avLst>
              <a:gd name="adj" fmla="val 62038233"/>
            </a:avLst>
          </a:prstGeom>
          <a:solidFill>
            <a:srgbClr val="F59E0B">
              <a:alpha val="15000"/>
            </a:srgbClr>
          </a:solidFill>
          <a:ln w="7144">
            <a:solidFill>
              <a:srgbClr val="F59E0B"/>
            </a:solidFill>
            <a:prstDash val="solid"/>
          </a:ln>
        </p:spPr>
        <p:txBody>
          <a:bodyPr wrap="square" rtlCol="0" anchor="ctr"/>
          <a:lstStyle/>
          <a:p>
            <a:pPr indent="0" marL="0">
              <a:buNone/>
            </a:pPr>
            <a:endParaRPr lang="en-US" dirty="0"/>
          </a:p>
        </p:txBody>
      </p:sp>
      <p:sp>
        <p:nvSpPr>
          <p:cNvPr id="44" name="Text 42"/>
          <p:cNvSpPr/>
          <p:nvPr/>
        </p:nvSpPr>
        <p:spPr>
          <a:xfrm>
            <a:off x="5172698" y="2662610"/>
            <a:ext cx="704535" cy="137071"/>
          </a:xfrm>
          <a:prstGeom prst="rect">
            <a:avLst/>
          </a:prstGeom>
          <a:noFill/>
          <a:ln/>
        </p:spPr>
        <p:txBody>
          <a:bodyPr wrap="none" lIns="0" tIns="0" rIns="0" bIns="0" rtlCol="0" anchor="ctr"/>
          <a:lstStyle/>
          <a:p>
            <a:pPr algn="ctr" indent="0" marL="0">
              <a:lnSpc>
                <a:spcPts val="742"/>
              </a:lnSpc>
              <a:buNone/>
            </a:pPr>
            <a:r>
              <a:rPr lang="en-US" sz="800" spc="25" kern="0" dirty="0">
                <a:solidFill>
                  <a:srgbClr val="FBBF24"/>
                </a:solidFill>
                <a:latin typeface="Carlito" pitchFamily="34" charset="0"/>
                <a:ea typeface="Carlito" pitchFamily="34" charset="-122"/>
                <a:cs typeface="Carlito" pitchFamily="34" charset="-120"/>
              </a:rPr>
              <a:t>EMOTIONAL</a:t>
            </a:r>
            <a:endParaRPr lang="en-US" sz="800" dirty="0"/>
          </a:p>
        </p:txBody>
      </p:sp>
      <p:sp>
        <p:nvSpPr>
          <p:cNvPr id="45" name="Text 43"/>
          <p:cNvSpPr/>
          <p:nvPr/>
        </p:nvSpPr>
        <p:spPr>
          <a:xfrm>
            <a:off x="5995504" y="2416262"/>
            <a:ext cx="2687724" cy="629766"/>
          </a:xfrm>
          <a:prstGeom prst="roundRect">
            <a:avLst>
              <a:gd name="adj" fmla="val 24199"/>
            </a:avLst>
          </a:prstGeom>
          <a:solidFill>
            <a:srgbClr val="161C2A">
              <a:alpha val="70000"/>
            </a:srgbClr>
          </a:solidFill>
          <a:ln w="7144">
            <a:solidFill>
              <a:srgbClr val="252E42"/>
            </a:solidFill>
            <a:prstDash val="solid"/>
          </a:ln>
        </p:spPr>
        <p:txBody>
          <a:bodyPr wrap="square" rtlCol="0" anchor="ctr"/>
          <a:lstStyle/>
          <a:p>
            <a:pPr indent="0" marL="0">
              <a:buNone/>
            </a:pPr>
            <a:endParaRPr lang="en-US" dirty="0"/>
          </a:p>
        </p:txBody>
      </p:sp>
      <p:sp>
        <p:nvSpPr>
          <p:cNvPr id="46" name="Text 44"/>
          <p:cNvSpPr/>
          <p:nvPr/>
        </p:nvSpPr>
        <p:spPr>
          <a:xfrm>
            <a:off x="6099088" y="2653903"/>
            <a:ext cx="198060" cy="166722"/>
          </a:xfrm>
          <a:prstGeom prst="rect">
            <a:avLst/>
          </a:prstGeom>
          <a:noFill/>
          <a:ln/>
        </p:spPr>
        <p:txBody>
          <a:bodyPr wrap="none" lIns="0" tIns="0" rIns="0" bIns="0" rtlCol="0" anchor="t"/>
          <a:lstStyle/>
          <a:p>
            <a:pPr algn="l" indent="0" marL="0">
              <a:lnSpc>
                <a:spcPts val="1215"/>
              </a:lnSpc>
              <a:buNone/>
            </a:pPr>
            <a:r>
              <a:rPr lang="en-US" sz="810" dirty="0">
                <a:solidFill>
                  <a:srgbClr val="F59E0B"/>
                </a:solidFill>
                <a:latin typeface="Liberation Sans Narrow" pitchFamily="34" charset="0"/>
                <a:ea typeface="Liberation Sans Narrow" pitchFamily="34" charset="-122"/>
                <a:cs typeface="Liberation Sans Narrow" pitchFamily="34" charset="-120"/>
              </a:rPr>
              <a:t>09</a:t>
            </a:r>
            <a:endParaRPr lang="en-US" sz="810" dirty="0"/>
          </a:p>
        </p:txBody>
      </p:sp>
      <p:sp>
        <p:nvSpPr>
          <p:cNvPr id="47" name="Text 45"/>
          <p:cNvSpPr/>
          <p:nvPr/>
        </p:nvSpPr>
        <p:spPr>
          <a:xfrm>
            <a:off x="6294313" y="2673214"/>
            <a:ext cx="1768118" cy="142600"/>
          </a:xfrm>
          <a:prstGeom prst="rect">
            <a:avLst/>
          </a:prstGeom>
          <a:noFill/>
          <a:ln/>
        </p:spPr>
        <p:txBody>
          <a:bodyPr wrap="square" lIns="0" tIns="0" rIns="0" bIns="0" rtlCol="0" anchor="t"/>
          <a:lstStyle/>
          <a:p>
            <a:pPr algn="l" indent="0" marL="0">
              <a:lnSpc>
                <a:spcPts val="913"/>
              </a:lnSpc>
              <a:buNone/>
            </a:pPr>
            <a:r>
              <a:rPr lang="en-US" sz="800" dirty="0">
                <a:solidFill>
                  <a:srgbClr val="FFFFFF"/>
                </a:solidFill>
                <a:latin typeface="Carlito" pitchFamily="34" charset="0"/>
                <a:ea typeface="Carlito" pitchFamily="34" charset="-122"/>
                <a:cs typeface="Carlito" pitchFamily="34" charset="-120"/>
              </a:rPr>
              <a:t>Compassionate Error Handling</a:t>
            </a:r>
            <a:endParaRPr lang="en-US" sz="800" dirty="0"/>
          </a:p>
        </p:txBody>
      </p:sp>
      <p:sp>
        <p:nvSpPr>
          <p:cNvPr id="48" name="Text 46"/>
          <p:cNvSpPr/>
          <p:nvPr/>
        </p:nvSpPr>
        <p:spPr>
          <a:xfrm>
            <a:off x="8002898" y="2654385"/>
            <a:ext cx="576746" cy="153519"/>
          </a:xfrm>
          <a:prstGeom prst="roundRect">
            <a:avLst>
              <a:gd name="adj" fmla="val 62038233"/>
            </a:avLst>
          </a:prstGeom>
          <a:solidFill>
            <a:srgbClr val="F59E0B">
              <a:alpha val="15000"/>
            </a:srgbClr>
          </a:solidFill>
          <a:ln w="7144">
            <a:solidFill>
              <a:srgbClr val="F59E0B"/>
            </a:solidFill>
            <a:prstDash val="solid"/>
          </a:ln>
        </p:spPr>
        <p:txBody>
          <a:bodyPr wrap="square" rtlCol="0" anchor="ctr"/>
          <a:lstStyle/>
          <a:p>
            <a:pPr indent="0" marL="0">
              <a:buNone/>
            </a:pPr>
            <a:endParaRPr lang="en-US" dirty="0"/>
          </a:p>
        </p:txBody>
      </p:sp>
      <p:sp>
        <p:nvSpPr>
          <p:cNvPr id="49" name="Text 47"/>
          <p:cNvSpPr/>
          <p:nvPr/>
        </p:nvSpPr>
        <p:spPr>
          <a:xfrm>
            <a:off x="7939003" y="2662610"/>
            <a:ext cx="704535" cy="137071"/>
          </a:xfrm>
          <a:prstGeom prst="rect">
            <a:avLst/>
          </a:prstGeom>
          <a:noFill/>
          <a:ln/>
        </p:spPr>
        <p:txBody>
          <a:bodyPr wrap="none" lIns="0" tIns="0" rIns="0" bIns="0" rtlCol="0" anchor="ctr"/>
          <a:lstStyle/>
          <a:p>
            <a:pPr algn="ctr" indent="0" marL="0">
              <a:lnSpc>
                <a:spcPts val="742"/>
              </a:lnSpc>
              <a:buNone/>
            </a:pPr>
            <a:r>
              <a:rPr lang="en-US" sz="800" spc="25" kern="0" dirty="0">
                <a:solidFill>
                  <a:srgbClr val="FBBF24"/>
                </a:solidFill>
                <a:latin typeface="Carlito" pitchFamily="34" charset="0"/>
                <a:ea typeface="Carlito" pitchFamily="34" charset="-122"/>
                <a:cs typeface="Carlito" pitchFamily="34" charset="-120"/>
              </a:rPr>
              <a:t>EMOTIONAL</a:t>
            </a:r>
            <a:endParaRPr lang="en-US" sz="800" dirty="0"/>
          </a:p>
        </p:txBody>
      </p:sp>
      <p:sp>
        <p:nvSpPr>
          <p:cNvPr id="50" name="Text 48"/>
          <p:cNvSpPr/>
          <p:nvPr/>
        </p:nvSpPr>
        <p:spPr>
          <a:xfrm>
            <a:off x="460772" y="3124609"/>
            <a:ext cx="2689845" cy="629766"/>
          </a:xfrm>
          <a:prstGeom prst="roundRect">
            <a:avLst>
              <a:gd name="adj" fmla="val 24199"/>
            </a:avLst>
          </a:prstGeom>
          <a:solidFill>
            <a:srgbClr val="161C2A">
              <a:alpha val="70000"/>
            </a:srgbClr>
          </a:solidFill>
          <a:ln w="7144">
            <a:solidFill>
              <a:srgbClr val="252E42"/>
            </a:solidFill>
            <a:prstDash val="solid"/>
          </a:ln>
        </p:spPr>
        <p:txBody>
          <a:bodyPr wrap="square" rtlCol="0" anchor="ctr"/>
          <a:lstStyle/>
          <a:p>
            <a:pPr indent="0" marL="0">
              <a:buNone/>
            </a:pPr>
            <a:endParaRPr lang="en-US" dirty="0"/>
          </a:p>
        </p:txBody>
      </p:sp>
      <p:sp>
        <p:nvSpPr>
          <p:cNvPr id="51" name="Text 49"/>
          <p:cNvSpPr/>
          <p:nvPr/>
        </p:nvSpPr>
        <p:spPr>
          <a:xfrm>
            <a:off x="564356" y="3362251"/>
            <a:ext cx="198060" cy="166722"/>
          </a:xfrm>
          <a:prstGeom prst="rect">
            <a:avLst/>
          </a:prstGeom>
          <a:noFill/>
          <a:ln/>
        </p:spPr>
        <p:txBody>
          <a:bodyPr wrap="none" lIns="0" tIns="0" rIns="0" bIns="0" rtlCol="0" anchor="t"/>
          <a:lstStyle/>
          <a:p>
            <a:pPr algn="l" indent="0" marL="0">
              <a:lnSpc>
                <a:spcPts val="1215"/>
              </a:lnSpc>
              <a:buNone/>
            </a:pPr>
            <a:r>
              <a:rPr lang="en-US" sz="810" dirty="0">
                <a:solidFill>
                  <a:srgbClr val="F59E0B"/>
                </a:solidFill>
                <a:latin typeface="Liberation Sans Narrow" pitchFamily="34" charset="0"/>
                <a:ea typeface="Liberation Sans Narrow" pitchFamily="34" charset="-122"/>
                <a:cs typeface="Liberation Sans Narrow" pitchFamily="34" charset="-120"/>
              </a:rPr>
              <a:t>10</a:t>
            </a:r>
            <a:endParaRPr lang="en-US" sz="810" dirty="0"/>
          </a:p>
        </p:txBody>
      </p:sp>
      <p:sp>
        <p:nvSpPr>
          <p:cNvPr id="52" name="Text 50"/>
          <p:cNvSpPr/>
          <p:nvPr/>
        </p:nvSpPr>
        <p:spPr>
          <a:xfrm>
            <a:off x="759582" y="3381561"/>
            <a:ext cx="1721231" cy="142600"/>
          </a:xfrm>
          <a:prstGeom prst="rect">
            <a:avLst/>
          </a:prstGeom>
          <a:noFill/>
          <a:ln/>
        </p:spPr>
        <p:txBody>
          <a:bodyPr wrap="none" lIns="0" tIns="0" rIns="0" bIns="0" rtlCol="0" anchor="t"/>
          <a:lstStyle/>
          <a:p>
            <a:pPr algn="l" indent="0" marL="0">
              <a:lnSpc>
                <a:spcPts val="913"/>
              </a:lnSpc>
              <a:buNone/>
            </a:pPr>
            <a:r>
              <a:rPr lang="en-US" sz="800" dirty="0">
                <a:solidFill>
                  <a:srgbClr val="FFFFFF"/>
                </a:solidFill>
                <a:latin typeface="Carlito" pitchFamily="34" charset="0"/>
                <a:ea typeface="Carlito" pitchFamily="34" charset="-122"/>
                <a:cs typeface="Carlito" pitchFamily="34" charset="-120"/>
              </a:rPr>
              <a:t>Loss Aversion Design</a:t>
            </a:r>
            <a:endParaRPr lang="en-US" sz="800" dirty="0"/>
          </a:p>
        </p:txBody>
      </p:sp>
      <p:sp>
        <p:nvSpPr>
          <p:cNvPr id="53" name="Text 51"/>
          <p:cNvSpPr/>
          <p:nvPr/>
        </p:nvSpPr>
        <p:spPr>
          <a:xfrm>
            <a:off x="2470286" y="3362733"/>
            <a:ext cx="576746" cy="153519"/>
          </a:xfrm>
          <a:prstGeom prst="roundRect">
            <a:avLst>
              <a:gd name="adj" fmla="val 62038233"/>
            </a:avLst>
          </a:prstGeom>
          <a:solidFill>
            <a:srgbClr val="F59E0B">
              <a:alpha val="15000"/>
            </a:srgbClr>
          </a:solidFill>
          <a:ln w="7144">
            <a:solidFill>
              <a:srgbClr val="F59E0B"/>
            </a:solidFill>
            <a:prstDash val="solid"/>
          </a:ln>
        </p:spPr>
        <p:txBody>
          <a:bodyPr wrap="square" rtlCol="0" anchor="ctr"/>
          <a:lstStyle/>
          <a:p>
            <a:pPr indent="0" marL="0">
              <a:buNone/>
            </a:pPr>
            <a:endParaRPr lang="en-US" dirty="0"/>
          </a:p>
        </p:txBody>
      </p:sp>
      <p:sp>
        <p:nvSpPr>
          <p:cNvPr id="54" name="Text 52"/>
          <p:cNvSpPr/>
          <p:nvPr/>
        </p:nvSpPr>
        <p:spPr>
          <a:xfrm>
            <a:off x="2406392" y="3370957"/>
            <a:ext cx="704535" cy="137071"/>
          </a:xfrm>
          <a:prstGeom prst="rect">
            <a:avLst/>
          </a:prstGeom>
          <a:noFill/>
          <a:ln/>
        </p:spPr>
        <p:txBody>
          <a:bodyPr wrap="none" lIns="0" tIns="0" rIns="0" bIns="0" rtlCol="0" anchor="ctr"/>
          <a:lstStyle/>
          <a:p>
            <a:pPr algn="ctr" indent="0" marL="0">
              <a:lnSpc>
                <a:spcPts val="742"/>
              </a:lnSpc>
              <a:buNone/>
            </a:pPr>
            <a:r>
              <a:rPr lang="en-US" sz="800" spc="25" kern="0" dirty="0">
                <a:solidFill>
                  <a:srgbClr val="FBBF24"/>
                </a:solidFill>
                <a:latin typeface="Carlito" pitchFamily="34" charset="0"/>
                <a:ea typeface="Carlito" pitchFamily="34" charset="-122"/>
                <a:cs typeface="Carlito" pitchFamily="34" charset="-120"/>
              </a:rPr>
              <a:t>EMOTIONAL</a:t>
            </a:r>
            <a:endParaRPr lang="en-US" sz="800" dirty="0"/>
          </a:p>
        </p:txBody>
      </p:sp>
      <p:sp>
        <p:nvSpPr>
          <p:cNvPr id="55" name="Text 53"/>
          <p:cNvSpPr/>
          <p:nvPr/>
        </p:nvSpPr>
        <p:spPr>
          <a:xfrm>
            <a:off x="3229198" y="3124609"/>
            <a:ext cx="2687724" cy="629766"/>
          </a:xfrm>
          <a:prstGeom prst="roundRect">
            <a:avLst>
              <a:gd name="adj" fmla="val 24199"/>
            </a:avLst>
          </a:prstGeom>
          <a:solidFill>
            <a:srgbClr val="161C2A">
              <a:alpha val="70000"/>
            </a:srgbClr>
          </a:solidFill>
          <a:ln w="7144">
            <a:solidFill>
              <a:srgbClr val="252E42"/>
            </a:solidFill>
            <a:prstDash val="solid"/>
          </a:ln>
        </p:spPr>
        <p:txBody>
          <a:bodyPr wrap="square" rtlCol="0" anchor="ctr"/>
          <a:lstStyle/>
          <a:p>
            <a:pPr indent="0" marL="0">
              <a:buNone/>
            </a:pPr>
            <a:endParaRPr lang="en-US" dirty="0"/>
          </a:p>
        </p:txBody>
      </p:sp>
      <p:sp>
        <p:nvSpPr>
          <p:cNvPr id="56" name="Text 54"/>
          <p:cNvSpPr/>
          <p:nvPr/>
        </p:nvSpPr>
        <p:spPr>
          <a:xfrm>
            <a:off x="3332783" y="3362251"/>
            <a:ext cx="198060" cy="166722"/>
          </a:xfrm>
          <a:prstGeom prst="rect">
            <a:avLst/>
          </a:prstGeom>
          <a:noFill/>
          <a:ln/>
        </p:spPr>
        <p:txBody>
          <a:bodyPr wrap="none" lIns="0" tIns="0" rIns="0" bIns="0" rtlCol="0" anchor="t"/>
          <a:lstStyle/>
          <a:p>
            <a:pPr algn="l" indent="0" marL="0">
              <a:lnSpc>
                <a:spcPts val="1215"/>
              </a:lnSpc>
              <a:buNone/>
            </a:pPr>
            <a:r>
              <a:rPr lang="en-US" sz="810" dirty="0">
                <a:solidFill>
                  <a:srgbClr val="F59E0B"/>
                </a:solidFill>
                <a:latin typeface="Liberation Sans Narrow" pitchFamily="34" charset="0"/>
                <a:ea typeface="Liberation Sans Narrow" pitchFamily="34" charset="-122"/>
                <a:cs typeface="Liberation Sans Narrow" pitchFamily="34" charset="-120"/>
              </a:rPr>
              <a:t>11</a:t>
            </a:r>
            <a:endParaRPr lang="en-US" sz="810" dirty="0"/>
          </a:p>
        </p:txBody>
      </p:sp>
      <p:sp>
        <p:nvSpPr>
          <p:cNvPr id="57" name="Text 55"/>
          <p:cNvSpPr/>
          <p:nvPr/>
        </p:nvSpPr>
        <p:spPr>
          <a:xfrm>
            <a:off x="3528008" y="3323630"/>
            <a:ext cx="1637147" cy="285200"/>
          </a:xfrm>
          <a:prstGeom prst="rect">
            <a:avLst/>
          </a:prstGeom>
          <a:noFill/>
          <a:ln/>
        </p:spPr>
        <p:txBody>
          <a:bodyPr wrap="square" lIns="0" tIns="0" rIns="0" bIns="0" rtlCol="0" anchor="t"/>
          <a:lstStyle/>
          <a:p>
            <a:pPr algn="l" indent="0" marL="0">
              <a:lnSpc>
                <a:spcPts val="913"/>
              </a:lnSpc>
              <a:buNone/>
            </a:pPr>
            <a:r>
              <a:rPr lang="en-US" sz="800" dirty="0">
                <a:solidFill>
                  <a:srgbClr val="FFFFFF"/>
                </a:solidFill>
                <a:latin typeface="Carlito" pitchFamily="34" charset="0"/>
                <a:ea typeface="Carlito" pitchFamily="34" charset="-122"/>
                <a:cs typeface="Carlito" pitchFamily="34" charset="-120"/>
              </a:rPr>
              <a:t>Endowment Effect / Personal Ownership</a:t>
            </a:r>
            <a:endParaRPr lang="en-US" sz="800" dirty="0"/>
          </a:p>
        </p:txBody>
      </p:sp>
      <p:sp>
        <p:nvSpPr>
          <p:cNvPr id="58" name="Text 56"/>
          <p:cNvSpPr/>
          <p:nvPr/>
        </p:nvSpPr>
        <p:spPr>
          <a:xfrm>
            <a:off x="5236592" y="3362733"/>
            <a:ext cx="576746" cy="153519"/>
          </a:xfrm>
          <a:prstGeom prst="roundRect">
            <a:avLst>
              <a:gd name="adj" fmla="val 62038233"/>
            </a:avLst>
          </a:prstGeom>
          <a:solidFill>
            <a:srgbClr val="F59E0B">
              <a:alpha val="15000"/>
            </a:srgbClr>
          </a:solidFill>
          <a:ln w="7144">
            <a:solidFill>
              <a:srgbClr val="F59E0B"/>
            </a:solidFill>
            <a:prstDash val="solid"/>
          </a:ln>
        </p:spPr>
        <p:txBody>
          <a:bodyPr wrap="square" rtlCol="0" anchor="ctr"/>
          <a:lstStyle/>
          <a:p>
            <a:pPr indent="0" marL="0">
              <a:buNone/>
            </a:pPr>
            <a:endParaRPr lang="en-US" dirty="0"/>
          </a:p>
        </p:txBody>
      </p:sp>
      <p:sp>
        <p:nvSpPr>
          <p:cNvPr id="59" name="Text 57"/>
          <p:cNvSpPr/>
          <p:nvPr/>
        </p:nvSpPr>
        <p:spPr>
          <a:xfrm>
            <a:off x="5172698" y="3370957"/>
            <a:ext cx="704535" cy="137071"/>
          </a:xfrm>
          <a:prstGeom prst="rect">
            <a:avLst/>
          </a:prstGeom>
          <a:noFill/>
          <a:ln/>
        </p:spPr>
        <p:txBody>
          <a:bodyPr wrap="none" lIns="0" tIns="0" rIns="0" bIns="0" rtlCol="0" anchor="ctr"/>
          <a:lstStyle/>
          <a:p>
            <a:pPr algn="ctr" indent="0" marL="0">
              <a:lnSpc>
                <a:spcPts val="742"/>
              </a:lnSpc>
              <a:buNone/>
            </a:pPr>
            <a:r>
              <a:rPr lang="en-US" sz="800" spc="25" kern="0" dirty="0">
                <a:solidFill>
                  <a:srgbClr val="FBBF24"/>
                </a:solidFill>
                <a:latin typeface="Carlito" pitchFamily="34" charset="0"/>
                <a:ea typeface="Carlito" pitchFamily="34" charset="-122"/>
                <a:cs typeface="Carlito" pitchFamily="34" charset="-120"/>
              </a:rPr>
              <a:t>EMOTIONAL</a:t>
            </a:r>
            <a:endParaRPr lang="en-US" sz="800" dirty="0"/>
          </a:p>
        </p:txBody>
      </p:sp>
      <p:sp>
        <p:nvSpPr>
          <p:cNvPr id="60" name="Text 58"/>
          <p:cNvSpPr/>
          <p:nvPr/>
        </p:nvSpPr>
        <p:spPr>
          <a:xfrm>
            <a:off x="5995504" y="3124609"/>
            <a:ext cx="2687724" cy="629766"/>
          </a:xfrm>
          <a:prstGeom prst="roundRect">
            <a:avLst>
              <a:gd name="adj" fmla="val 24199"/>
            </a:avLst>
          </a:prstGeom>
          <a:solidFill>
            <a:srgbClr val="161C2A">
              <a:alpha val="70000"/>
            </a:srgbClr>
          </a:solidFill>
          <a:ln w="7144">
            <a:solidFill>
              <a:srgbClr val="252E42"/>
            </a:solidFill>
            <a:prstDash val="solid"/>
          </a:ln>
        </p:spPr>
        <p:txBody>
          <a:bodyPr wrap="square" rtlCol="0" anchor="ctr"/>
          <a:lstStyle/>
          <a:p>
            <a:pPr indent="0" marL="0">
              <a:buNone/>
            </a:pPr>
            <a:endParaRPr lang="en-US" dirty="0"/>
          </a:p>
        </p:txBody>
      </p:sp>
      <p:sp>
        <p:nvSpPr>
          <p:cNvPr id="61" name="Text 59"/>
          <p:cNvSpPr/>
          <p:nvPr/>
        </p:nvSpPr>
        <p:spPr>
          <a:xfrm>
            <a:off x="6099088" y="3362251"/>
            <a:ext cx="198060" cy="166722"/>
          </a:xfrm>
          <a:prstGeom prst="rect">
            <a:avLst/>
          </a:prstGeom>
          <a:noFill/>
          <a:ln/>
        </p:spPr>
        <p:txBody>
          <a:bodyPr wrap="none" lIns="0" tIns="0" rIns="0" bIns="0" rtlCol="0" anchor="t"/>
          <a:lstStyle/>
          <a:p>
            <a:pPr algn="l" indent="0" marL="0">
              <a:lnSpc>
                <a:spcPts val="1215"/>
              </a:lnSpc>
              <a:buNone/>
            </a:pPr>
            <a:r>
              <a:rPr lang="en-US" sz="810" dirty="0">
                <a:solidFill>
                  <a:srgbClr val="06B6D4"/>
                </a:solidFill>
                <a:latin typeface="Liberation Sans Narrow" pitchFamily="34" charset="0"/>
                <a:ea typeface="Liberation Sans Narrow" pitchFamily="34" charset="-122"/>
                <a:cs typeface="Liberation Sans Narrow" pitchFamily="34" charset="-120"/>
              </a:rPr>
              <a:t>12</a:t>
            </a:r>
            <a:endParaRPr lang="en-US" sz="810" dirty="0"/>
          </a:p>
        </p:txBody>
      </p:sp>
      <p:sp>
        <p:nvSpPr>
          <p:cNvPr id="62" name="Text 60"/>
          <p:cNvSpPr/>
          <p:nvPr/>
        </p:nvSpPr>
        <p:spPr>
          <a:xfrm>
            <a:off x="6294313" y="3381561"/>
            <a:ext cx="1956298" cy="142600"/>
          </a:xfrm>
          <a:prstGeom prst="rect">
            <a:avLst/>
          </a:prstGeom>
          <a:noFill/>
          <a:ln/>
        </p:spPr>
        <p:txBody>
          <a:bodyPr wrap="square" lIns="0" tIns="0" rIns="0" bIns="0" rtlCol="0" anchor="t"/>
          <a:lstStyle/>
          <a:p>
            <a:pPr algn="l" indent="0" marL="0">
              <a:lnSpc>
                <a:spcPts val="913"/>
              </a:lnSpc>
              <a:buNone/>
            </a:pPr>
            <a:r>
              <a:rPr lang="en-US" sz="702" dirty="0">
                <a:solidFill>
                  <a:srgbClr val="FFFFFF"/>
                </a:solidFill>
                <a:latin typeface="Carlito" pitchFamily="34" charset="0"/>
                <a:ea typeface="Carlito" pitchFamily="34" charset="-122"/>
                <a:cs typeface="Carlito" pitchFamily="34" charset="-120"/>
              </a:rPr>
              <a:t>Premium Enterprise Visual Language</a:t>
            </a:r>
            <a:endParaRPr lang="en-US" sz="702" dirty="0"/>
          </a:p>
        </p:txBody>
      </p:sp>
      <p:sp>
        <p:nvSpPr>
          <p:cNvPr id="63" name="Text 61"/>
          <p:cNvSpPr/>
          <p:nvPr/>
        </p:nvSpPr>
        <p:spPr>
          <a:xfrm>
            <a:off x="8177138" y="3362733"/>
            <a:ext cx="402506" cy="153519"/>
          </a:xfrm>
          <a:prstGeom prst="roundRect">
            <a:avLst>
              <a:gd name="adj" fmla="val 62038233"/>
            </a:avLst>
          </a:prstGeom>
          <a:solidFill>
            <a:srgbClr val="06B6D4">
              <a:alpha val="15000"/>
            </a:srgbClr>
          </a:solidFill>
          <a:ln w="7144">
            <a:solidFill>
              <a:srgbClr val="06B6D4"/>
            </a:solidFill>
            <a:prstDash val="solid"/>
          </a:ln>
        </p:spPr>
        <p:txBody>
          <a:bodyPr wrap="square" rtlCol="0" anchor="ctr"/>
          <a:lstStyle/>
          <a:p>
            <a:pPr indent="0" marL="0">
              <a:buNone/>
            </a:pPr>
            <a:endParaRPr lang="en-US" dirty="0"/>
          </a:p>
        </p:txBody>
      </p:sp>
      <p:sp>
        <p:nvSpPr>
          <p:cNvPr id="64" name="Text 62"/>
          <p:cNvSpPr/>
          <p:nvPr/>
        </p:nvSpPr>
        <p:spPr>
          <a:xfrm>
            <a:off x="8137619" y="3370957"/>
            <a:ext cx="481543" cy="137071"/>
          </a:xfrm>
          <a:prstGeom prst="rect">
            <a:avLst/>
          </a:prstGeom>
          <a:noFill/>
          <a:ln/>
        </p:spPr>
        <p:txBody>
          <a:bodyPr wrap="none" lIns="0" tIns="0" rIns="0" bIns="0" rtlCol="0" anchor="ctr"/>
          <a:lstStyle/>
          <a:p>
            <a:pPr algn="ctr" indent="0" marL="0">
              <a:lnSpc>
                <a:spcPts val="742"/>
              </a:lnSpc>
              <a:buNone/>
            </a:pPr>
            <a:r>
              <a:rPr lang="en-US" sz="800" spc="25" kern="0" dirty="0">
                <a:solidFill>
                  <a:srgbClr val="22D3EE"/>
                </a:solidFill>
                <a:latin typeface="Carlito" pitchFamily="34" charset="0"/>
                <a:ea typeface="Carlito" pitchFamily="34" charset="-122"/>
                <a:cs typeface="Carlito" pitchFamily="34" charset="-120"/>
              </a:rPr>
              <a:t>VISUAL</a:t>
            </a:r>
            <a:endParaRPr lang="en-US" sz="800" dirty="0"/>
          </a:p>
        </p:txBody>
      </p:sp>
      <p:sp>
        <p:nvSpPr>
          <p:cNvPr id="65" name="Text 63"/>
          <p:cNvSpPr/>
          <p:nvPr/>
        </p:nvSpPr>
        <p:spPr>
          <a:xfrm>
            <a:off x="460772" y="3832957"/>
            <a:ext cx="2689845" cy="629766"/>
          </a:xfrm>
          <a:prstGeom prst="roundRect">
            <a:avLst>
              <a:gd name="adj" fmla="val 24199"/>
            </a:avLst>
          </a:prstGeom>
          <a:solidFill>
            <a:srgbClr val="161C2A">
              <a:alpha val="70000"/>
            </a:srgbClr>
          </a:solidFill>
          <a:ln w="7144">
            <a:solidFill>
              <a:srgbClr val="252E42"/>
            </a:solidFill>
            <a:prstDash val="solid"/>
          </a:ln>
        </p:spPr>
        <p:txBody>
          <a:bodyPr wrap="square" rtlCol="0" anchor="ctr"/>
          <a:lstStyle/>
          <a:p>
            <a:pPr indent="0" marL="0">
              <a:buNone/>
            </a:pPr>
            <a:endParaRPr lang="en-US" dirty="0"/>
          </a:p>
        </p:txBody>
      </p:sp>
      <p:sp>
        <p:nvSpPr>
          <p:cNvPr id="66" name="Text 64"/>
          <p:cNvSpPr/>
          <p:nvPr/>
        </p:nvSpPr>
        <p:spPr>
          <a:xfrm>
            <a:off x="564356" y="4070598"/>
            <a:ext cx="198060" cy="166722"/>
          </a:xfrm>
          <a:prstGeom prst="rect">
            <a:avLst/>
          </a:prstGeom>
          <a:noFill/>
          <a:ln/>
        </p:spPr>
        <p:txBody>
          <a:bodyPr wrap="none" lIns="0" tIns="0" rIns="0" bIns="0" rtlCol="0" anchor="t"/>
          <a:lstStyle/>
          <a:p>
            <a:pPr algn="l" indent="0" marL="0">
              <a:lnSpc>
                <a:spcPts val="1215"/>
              </a:lnSpc>
              <a:buNone/>
            </a:pPr>
            <a:r>
              <a:rPr lang="en-US" sz="810" dirty="0">
                <a:solidFill>
                  <a:srgbClr val="A855F7"/>
                </a:solidFill>
                <a:latin typeface="Liberation Sans Narrow" pitchFamily="34" charset="0"/>
                <a:ea typeface="Liberation Sans Narrow" pitchFamily="34" charset="-122"/>
                <a:cs typeface="Liberation Sans Narrow" pitchFamily="34" charset="-120"/>
              </a:rPr>
              <a:t>13</a:t>
            </a:r>
            <a:endParaRPr lang="en-US" sz="810" dirty="0"/>
          </a:p>
        </p:txBody>
      </p:sp>
      <p:sp>
        <p:nvSpPr>
          <p:cNvPr id="67" name="Text 65"/>
          <p:cNvSpPr/>
          <p:nvPr/>
        </p:nvSpPr>
        <p:spPr>
          <a:xfrm>
            <a:off x="759582" y="4089908"/>
            <a:ext cx="1589027" cy="142600"/>
          </a:xfrm>
          <a:prstGeom prst="rect">
            <a:avLst/>
          </a:prstGeom>
          <a:noFill/>
          <a:ln/>
        </p:spPr>
        <p:txBody>
          <a:bodyPr wrap="none" lIns="0" tIns="0" rIns="0" bIns="0" rtlCol="0" anchor="t"/>
          <a:lstStyle/>
          <a:p>
            <a:pPr algn="l" indent="0" marL="0">
              <a:lnSpc>
                <a:spcPts val="913"/>
              </a:lnSpc>
              <a:buNone/>
            </a:pPr>
            <a:r>
              <a:rPr lang="en-US" sz="800" dirty="0">
                <a:solidFill>
                  <a:srgbClr val="FFFFFF"/>
                </a:solidFill>
                <a:latin typeface="Carlito" pitchFamily="34" charset="0"/>
                <a:ea typeface="Carlito" pitchFamily="34" charset="-122"/>
                <a:cs typeface="Carlito" pitchFamily="34" charset="-120"/>
              </a:rPr>
              <a:t>Human Assistance Layer</a:t>
            </a:r>
            <a:endParaRPr lang="en-US" sz="800" dirty="0"/>
          </a:p>
        </p:txBody>
      </p:sp>
      <p:sp>
        <p:nvSpPr>
          <p:cNvPr id="68" name="Text 66"/>
          <p:cNvSpPr/>
          <p:nvPr/>
        </p:nvSpPr>
        <p:spPr>
          <a:xfrm>
            <a:off x="2344378" y="4071080"/>
            <a:ext cx="702655" cy="153519"/>
          </a:xfrm>
          <a:prstGeom prst="roundRect">
            <a:avLst>
              <a:gd name="adj" fmla="val 62038233"/>
            </a:avLst>
          </a:prstGeom>
          <a:solidFill>
            <a:srgbClr val="8B5CF6">
              <a:alpha val="15000"/>
            </a:srgbClr>
          </a:solidFill>
          <a:ln w="7144">
            <a:solidFill>
              <a:srgbClr val="8B5CF6"/>
            </a:solidFill>
            <a:prstDash val="solid"/>
          </a:ln>
        </p:spPr>
        <p:txBody>
          <a:bodyPr wrap="square" rtlCol="0" anchor="ctr"/>
          <a:lstStyle/>
          <a:p>
            <a:pPr indent="0" marL="0">
              <a:buNone/>
            </a:pPr>
            <a:endParaRPr lang="en-US" dirty="0"/>
          </a:p>
        </p:txBody>
      </p:sp>
      <p:sp>
        <p:nvSpPr>
          <p:cNvPr id="69" name="Text 67"/>
          <p:cNvSpPr/>
          <p:nvPr/>
        </p:nvSpPr>
        <p:spPr>
          <a:xfrm>
            <a:off x="2231942" y="4079304"/>
            <a:ext cx="927527" cy="137071"/>
          </a:xfrm>
          <a:prstGeom prst="rect">
            <a:avLst/>
          </a:prstGeom>
          <a:noFill/>
          <a:ln/>
        </p:spPr>
        <p:txBody>
          <a:bodyPr wrap="none" lIns="0" tIns="0" rIns="0" bIns="0" rtlCol="0" anchor="ctr"/>
          <a:lstStyle/>
          <a:p>
            <a:pPr algn="ctr" indent="0" marL="0">
              <a:lnSpc>
                <a:spcPts val="742"/>
              </a:lnSpc>
              <a:buNone/>
            </a:pPr>
            <a:r>
              <a:rPr lang="en-US" sz="800" spc="25" kern="0" dirty="0">
                <a:solidFill>
                  <a:srgbClr val="A78BFA"/>
                </a:solidFill>
                <a:latin typeface="Carlito" pitchFamily="34" charset="0"/>
                <a:ea typeface="Carlito" pitchFamily="34" charset="-122"/>
                <a:cs typeface="Carlito" pitchFamily="34" charset="-120"/>
              </a:rPr>
              <a:t>ARCHITECTURE</a:t>
            </a:r>
            <a:endParaRPr lang="en-US" sz="800" dirty="0"/>
          </a:p>
        </p:txBody>
      </p:sp>
      <p:sp>
        <p:nvSpPr>
          <p:cNvPr id="70" name="Text 68"/>
          <p:cNvSpPr/>
          <p:nvPr/>
        </p:nvSpPr>
        <p:spPr>
          <a:xfrm>
            <a:off x="3229198" y="3832957"/>
            <a:ext cx="2687724" cy="629766"/>
          </a:xfrm>
          <a:prstGeom prst="roundRect">
            <a:avLst>
              <a:gd name="adj" fmla="val 24199"/>
            </a:avLst>
          </a:prstGeom>
          <a:solidFill>
            <a:srgbClr val="161C2A">
              <a:alpha val="70000"/>
            </a:srgbClr>
          </a:solidFill>
          <a:ln w="7144">
            <a:solidFill>
              <a:srgbClr val="252E42"/>
            </a:solidFill>
            <a:prstDash val="solid"/>
          </a:ln>
        </p:spPr>
        <p:txBody>
          <a:bodyPr wrap="square" rtlCol="0" anchor="ctr"/>
          <a:lstStyle/>
          <a:p>
            <a:pPr indent="0" marL="0">
              <a:buNone/>
            </a:pPr>
            <a:endParaRPr lang="en-US" dirty="0"/>
          </a:p>
        </p:txBody>
      </p:sp>
      <p:sp>
        <p:nvSpPr>
          <p:cNvPr id="71" name="Text 69"/>
          <p:cNvSpPr/>
          <p:nvPr/>
        </p:nvSpPr>
        <p:spPr>
          <a:xfrm>
            <a:off x="3332783" y="4070598"/>
            <a:ext cx="198060" cy="166722"/>
          </a:xfrm>
          <a:prstGeom prst="rect">
            <a:avLst/>
          </a:prstGeom>
          <a:noFill/>
          <a:ln/>
        </p:spPr>
        <p:txBody>
          <a:bodyPr wrap="none" lIns="0" tIns="0" rIns="0" bIns="0" rtlCol="0" anchor="t"/>
          <a:lstStyle/>
          <a:p>
            <a:pPr algn="l" indent="0" marL="0">
              <a:lnSpc>
                <a:spcPts val="1215"/>
              </a:lnSpc>
              <a:buNone/>
            </a:pPr>
            <a:r>
              <a:rPr lang="en-US" sz="810" dirty="0">
                <a:solidFill>
                  <a:srgbClr val="06B6D4"/>
                </a:solidFill>
                <a:latin typeface="Liberation Sans Narrow" pitchFamily="34" charset="0"/>
                <a:ea typeface="Liberation Sans Narrow" pitchFamily="34" charset="-122"/>
                <a:cs typeface="Liberation Sans Narrow" pitchFamily="34" charset="-120"/>
              </a:rPr>
              <a:t>14</a:t>
            </a:r>
            <a:endParaRPr lang="en-US" sz="810" dirty="0"/>
          </a:p>
        </p:txBody>
      </p:sp>
      <p:sp>
        <p:nvSpPr>
          <p:cNvPr id="72" name="Text 70"/>
          <p:cNvSpPr/>
          <p:nvPr/>
        </p:nvSpPr>
        <p:spPr>
          <a:xfrm>
            <a:off x="3528008" y="4031977"/>
            <a:ext cx="1811387" cy="285200"/>
          </a:xfrm>
          <a:prstGeom prst="rect">
            <a:avLst/>
          </a:prstGeom>
          <a:noFill/>
          <a:ln/>
        </p:spPr>
        <p:txBody>
          <a:bodyPr wrap="square" lIns="0" tIns="0" rIns="0" bIns="0" rtlCol="0" anchor="t"/>
          <a:lstStyle/>
          <a:p>
            <a:pPr algn="l" indent="0" marL="0">
              <a:lnSpc>
                <a:spcPts val="913"/>
              </a:lnSpc>
              <a:buNone/>
            </a:pPr>
            <a:r>
              <a:rPr lang="en-US" sz="800" dirty="0">
                <a:solidFill>
                  <a:srgbClr val="FFFFFF"/>
                </a:solidFill>
                <a:latin typeface="Carlito" pitchFamily="34" charset="0"/>
                <a:ea typeface="Carlito" pitchFamily="34" charset="-122"/>
                <a:cs typeface="Carlito" pitchFamily="34" charset="-120"/>
              </a:rPr>
              <a:t>Empty State + Success State Experience</a:t>
            </a:r>
            <a:endParaRPr lang="en-US" sz="800" dirty="0"/>
          </a:p>
        </p:txBody>
      </p:sp>
      <p:sp>
        <p:nvSpPr>
          <p:cNvPr id="73" name="Text 71"/>
          <p:cNvSpPr/>
          <p:nvPr/>
        </p:nvSpPr>
        <p:spPr>
          <a:xfrm>
            <a:off x="5410833" y="4071080"/>
            <a:ext cx="402506" cy="153519"/>
          </a:xfrm>
          <a:prstGeom prst="roundRect">
            <a:avLst>
              <a:gd name="adj" fmla="val 62038233"/>
            </a:avLst>
          </a:prstGeom>
          <a:solidFill>
            <a:srgbClr val="06B6D4">
              <a:alpha val="15000"/>
            </a:srgbClr>
          </a:solidFill>
          <a:ln w="7144">
            <a:solidFill>
              <a:srgbClr val="06B6D4"/>
            </a:solidFill>
            <a:prstDash val="solid"/>
          </a:ln>
        </p:spPr>
        <p:txBody>
          <a:bodyPr wrap="square" rtlCol="0" anchor="ctr"/>
          <a:lstStyle/>
          <a:p>
            <a:pPr indent="0" marL="0">
              <a:buNone/>
            </a:pPr>
            <a:endParaRPr lang="en-US" dirty="0"/>
          </a:p>
        </p:txBody>
      </p:sp>
      <p:sp>
        <p:nvSpPr>
          <p:cNvPr id="74" name="Text 72"/>
          <p:cNvSpPr/>
          <p:nvPr/>
        </p:nvSpPr>
        <p:spPr>
          <a:xfrm>
            <a:off x="5371314" y="4079304"/>
            <a:ext cx="481543" cy="137071"/>
          </a:xfrm>
          <a:prstGeom prst="rect">
            <a:avLst/>
          </a:prstGeom>
          <a:noFill/>
          <a:ln/>
        </p:spPr>
        <p:txBody>
          <a:bodyPr wrap="none" lIns="0" tIns="0" rIns="0" bIns="0" rtlCol="0" anchor="ctr"/>
          <a:lstStyle/>
          <a:p>
            <a:pPr algn="ctr" indent="0" marL="0">
              <a:lnSpc>
                <a:spcPts val="742"/>
              </a:lnSpc>
              <a:buNone/>
            </a:pPr>
            <a:r>
              <a:rPr lang="en-US" sz="800" spc="25" kern="0" dirty="0">
                <a:solidFill>
                  <a:srgbClr val="22D3EE"/>
                </a:solidFill>
                <a:latin typeface="Carlito" pitchFamily="34" charset="0"/>
                <a:ea typeface="Carlito" pitchFamily="34" charset="-122"/>
                <a:cs typeface="Carlito" pitchFamily="34" charset="-120"/>
              </a:rPr>
              <a:t>VISUAL</a:t>
            </a:r>
            <a:endParaRPr lang="en-US" sz="800" dirty="0"/>
          </a:p>
        </p:txBody>
      </p:sp>
      <p:sp>
        <p:nvSpPr>
          <p:cNvPr id="75" name="Text 73"/>
          <p:cNvSpPr/>
          <p:nvPr/>
        </p:nvSpPr>
        <p:spPr>
          <a:xfrm>
            <a:off x="5995504" y="3832957"/>
            <a:ext cx="2687724" cy="629766"/>
          </a:xfrm>
          <a:prstGeom prst="roundRect">
            <a:avLst>
              <a:gd name="adj" fmla="val 24199"/>
            </a:avLst>
          </a:prstGeom>
          <a:solidFill>
            <a:srgbClr val="161C2A">
              <a:alpha val="70000"/>
            </a:srgbClr>
          </a:solidFill>
          <a:ln w="7144">
            <a:solidFill>
              <a:srgbClr val="252E42"/>
            </a:solidFill>
            <a:prstDash val="solid"/>
          </a:ln>
        </p:spPr>
        <p:txBody>
          <a:bodyPr wrap="square" rtlCol="0" anchor="ctr"/>
          <a:lstStyle/>
          <a:p>
            <a:pPr indent="0" marL="0">
              <a:buNone/>
            </a:pPr>
            <a:endParaRPr lang="en-US" dirty="0"/>
          </a:p>
        </p:txBody>
      </p:sp>
      <p:sp>
        <p:nvSpPr>
          <p:cNvPr id="76" name="Text 74"/>
          <p:cNvSpPr/>
          <p:nvPr/>
        </p:nvSpPr>
        <p:spPr>
          <a:xfrm>
            <a:off x="6099088" y="4070598"/>
            <a:ext cx="198060" cy="166722"/>
          </a:xfrm>
          <a:prstGeom prst="rect">
            <a:avLst/>
          </a:prstGeom>
          <a:noFill/>
          <a:ln/>
        </p:spPr>
        <p:txBody>
          <a:bodyPr wrap="none" lIns="0" tIns="0" rIns="0" bIns="0" rtlCol="0" anchor="t"/>
          <a:lstStyle/>
          <a:p>
            <a:pPr algn="l" indent="0" marL="0">
              <a:lnSpc>
                <a:spcPts val="1215"/>
              </a:lnSpc>
              <a:buNone/>
            </a:pPr>
            <a:r>
              <a:rPr lang="en-US" sz="810" dirty="0">
                <a:solidFill>
                  <a:srgbClr val="A855F7"/>
                </a:solidFill>
                <a:latin typeface="Liberation Sans Narrow" pitchFamily="34" charset="0"/>
                <a:ea typeface="Liberation Sans Narrow" pitchFamily="34" charset="-122"/>
                <a:cs typeface="Liberation Sans Narrow" pitchFamily="34" charset="-120"/>
              </a:rPr>
              <a:t>15</a:t>
            </a:r>
            <a:endParaRPr lang="en-US" sz="810" dirty="0"/>
          </a:p>
        </p:txBody>
      </p:sp>
      <p:sp>
        <p:nvSpPr>
          <p:cNvPr id="77" name="Text 75"/>
          <p:cNvSpPr/>
          <p:nvPr/>
        </p:nvSpPr>
        <p:spPr>
          <a:xfrm>
            <a:off x="6294313" y="4089908"/>
            <a:ext cx="1632137" cy="142600"/>
          </a:xfrm>
          <a:prstGeom prst="rect">
            <a:avLst/>
          </a:prstGeom>
          <a:noFill/>
          <a:ln/>
        </p:spPr>
        <p:txBody>
          <a:bodyPr wrap="square" lIns="0" tIns="0" rIns="0" bIns="0" rtlCol="0" anchor="t"/>
          <a:lstStyle/>
          <a:p>
            <a:pPr algn="l" indent="0" marL="0">
              <a:lnSpc>
                <a:spcPts val="913"/>
              </a:lnSpc>
              <a:buNone/>
            </a:pPr>
            <a:r>
              <a:rPr lang="en-US" sz="702" dirty="0">
                <a:solidFill>
                  <a:srgbClr val="FFFFFF"/>
                </a:solidFill>
                <a:latin typeface="Carlito" pitchFamily="34" charset="0"/>
                <a:ea typeface="Carlito" pitchFamily="34" charset="-122"/>
                <a:cs typeface="Carlito" pitchFamily="34" charset="-120"/>
              </a:rPr>
              <a:t>Component Architecture System</a:t>
            </a:r>
            <a:endParaRPr lang="en-US" sz="702" dirty="0"/>
          </a:p>
        </p:txBody>
      </p:sp>
      <p:sp>
        <p:nvSpPr>
          <p:cNvPr id="78" name="Text 76"/>
          <p:cNvSpPr/>
          <p:nvPr/>
        </p:nvSpPr>
        <p:spPr>
          <a:xfrm>
            <a:off x="7876989" y="4071080"/>
            <a:ext cx="702655" cy="153519"/>
          </a:xfrm>
          <a:prstGeom prst="roundRect">
            <a:avLst>
              <a:gd name="adj" fmla="val 62038233"/>
            </a:avLst>
          </a:prstGeom>
          <a:solidFill>
            <a:srgbClr val="8B5CF6">
              <a:alpha val="15000"/>
            </a:srgbClr>
          </a:solidFill>
          <a:ln w="7144">
            <a:solidFill>
              <a:srgbClr val="8B5CF6"/>
            </a:solidFill>
            <a:prstDash val="solid"/>
          </a:ln>
        </p:spPr>
        <p:txBody>
          <a:bodyPr wrap="square" rtlCol="0" anchor="ctr"/>
          <a:lstStyle/>
          <a:p>
            <a:pPr indent="0" marL="0">
              <a:buNone/>
            </a:pPr>
            <a:endParaRPr lang="en-US" dirty="0"/>
          </a:p>
        </p:txBody>
      </p:sp>
      <p:sp>
        <p:nvSpPr>
          <p:cNvPr id="79" name="Text 77"/>
          <p:cNvSpPr/>
          <p:nvPr/>
        </p:nvSpPr>
        <p:spPr>
          <a:xfrm>
            <a:off x="7764553" y="4079304"/>
            <a:ext cx="927527" cy="137071"/>
          </a:xfrm>
          <a:prstGeom prst="rect">
            <a:avLst/>
          </a:prstGeom>
          <a:noFill/>
          <a:ln/>
        </p:spPr>
        <p:txBody>
          <a:bodyPr wrap="none" lIns="0" tIns="0" rIns="0" bIns="0" rtlCol="0" anchor="ctr"/>
          <a:lstStyle/>
          <a:p>
            <a:pPr algn="ctr" indent="0" marL="0">
              <a:lnSpc>
                <a:spcPts val="742"/>
              </a:lnSpc>
              <a:buNone/>
            </a:pPr>
            <a:r>
              <a:rPr lang="en-US" sz="800" spc="25" kern="0" dirty="0">
                <a:solidFill>
                  <a:srgbClr val="A78BFA"/>
                </a:solidFill>
                <a:latin typeface="Carlito" pitchFamily="34" charset="0"/>
                <a:ea typeface="Carlito" pitchFamily="34" charset="-122"/>
                <a:cs typeface="Carlito" pitchFamily="34" charset="-120"/>
              </a:rPr>
              <a:t>ARCHITECTURE</a:t>
            </a:r>
            <a:endParaRPr lang="en-US" sz="800" dirty="0"/>
          </a:p>
        </p:txBody>
      </p:sp>
      <p:sp>
        <p:nvSpPr>
          <p:cNvPr id="80" name="Text 78"/>
          <p:cNvSpPr/>
          <p:nvPr/>
        </p:nvSpPr>
        <p:spPr>
          <a:xfrm>
            <a:off x="2905385" y="4597673"/>
            <a:ext cx="57150" cy="57150"/>
          </a:xfrm>
          <a:prstGeom prst="roundRect">
            <a:avLst>
              <a:gd name="adj" fmla="val 66667"/>
            </a:avLst>
          </a:prstGeom>
          <a:solidFill>
            <a:srgbClr val="3B82F6"/>
          </a:solidFill>
          <a:ln/>
        </p:spPr>
        <p:txBody>
          <a:bodyPr wrap="square" rtlCol="0" anchor="ctr"/>
          <a:lstStyle/>
          <a:p>
            <a:pPr indent="0" marL="0">
              <a:buNone/>
            </a:pPr>
            <a:endParaRPr lang="en-US" dirty="0"/>
          </a:p>
        </p:txBody>
      </p:sp>
      <p:sp>
        <p:nvSpPr>
          <p:cNvPr id="81" name="Text 79"/>
          <p:cNvSpPr/>
          <p:nvPr/>
        </p:nvSpPr>
        <p:spPr>
          <a:xfrm>
            <a:off x="2895464" y="4566307"/>
            <a:ext cx="778866" cy="164561"/>
          </a:xfrm>
          <a:prstGeom prst="rect">
            <a:avLst/>
          </a:prstGeom>
          <a:noFill/>
          <a:ln/>
        </p:spPr>
        <p:txBody>
          <a:bodyPr wrap="none" lIns="0" tIns="0" rIns="0" bIns="0" rtlCol="0" anchor="t"/>
          <a:lstStyle/>
          <a:p>
            <a:pPr algn="l" indent="0" marL="0">
              <a:lnSpc>
                <a:spcPts val="945"/>
              </a:lnSpc>
              <a:buNone/>
            </a:pPr>
            <a:r>
              <a:rPr lang="en-US" sz="800" dirty="0">
                <a:solidFill>
                  <a:srgbClr val="8B95AD"/>
                </a:solidFill>
                <a:latin typeface="Carlito" pitchFamily="34" charset="0"/>
                <a:ea typeface="Carlito" pitchFamily="34" charset="-122"/>
                <a:cs typeface="Carlito" pitchFamily="34" charset="-120"/>
              </a:rPr>
              <a:t>PHILOSOPHY</a:t>
            </a:r>
            <a:endParaRPr lang="en-US" sz="800" dirty="0"/>
          </a:p>
        </p:txBody>
      </p:sp>
      <p:sp>
        <p:nvSpPr>
          <p:cNvPr id="82" name="Text 80"/>
          <p:cNvSpPr/>
          <p:nvPr/>
        </p:nvSpPr>
        <p:spPr>
          <a:xfrm>
            <a:off x="3684054" y="4597673"/>
            <a:ext cx="57150" cy="57150"/>
          </a:xfrm>
          <a:prstGeom prst="roundRect">
            <a:avLst>
              <a:gd name="adj" fmla="val 66667"/>
            </a:avLst>
          </a:prstGeom>
          <a:solidFill>
            <a:srgbClr val="A855F7"/>
          </a:solidFill>
          <a:ln/>
        </p:spPr>
        <p:txBody>
          <a:bodyPr wrap="square" rtlCol="0" anchor="ctr"/>
          <a:lstStyle/>
          <a:p>
            <a:pPr indent="0" marL="0">
              <a:buNone/>
            </a:pPr>
            <a:endParaRPr lang="en-US" dirty="0"/>
          </a:p>
        </p:txBody>
      </p:sp>
      <p:sp>
        <p:nvSpPr>
          <p:cNvPr id="83" name="Text 81"/>
          <p:cNvSpPr/>
          <p:nvPr/>
        </p:nvSpPr>
        <p:spPr>
          <a:xfrm>
            <a:off x="3666705" y="4566307"/>
            <a:ext cx="927527" cy="164561"/>
          </a:xfrm>
          <a:prstGeom prst="rect">
            <a:avLst/>
          </a:prstGeom>
          <a:noFill/>
          <a:ln/>
        </p:spPr>
        <p:txBody>
          <a:bodyPr wrap="none" lIns="0" tIns="0" rIns="0" bIns="0" rtlCol="0" anchor="t"/>
          <a:lstStyle/>
          <a:p>
            <a:pPr algn="l" indent="0" marL="0">
              <a:lnSpc>
                <a:spcPts val="945"/>
              </a:lnSpc>
              <a:buNone/>
            </a:pPr>
            <a:r>
              <a:rPr lang="en-US" sz="800" dirty="0">
                <a:solidFill>
                  <a:srgbClr val="8B95AD"/>
                </a:solidFill>
                <a:latin typeface="Carlito" pitchFamily="34" charset="0"/>
                <a:ea typeface="Carlito" pitchFamily="34" charset="-122"/>
                <a:cs typeface="Carlito" pitchFamily="34" charset="-120"/>
              </a:rPr>
              <a:t>ARCHITECTURE</a:t>
            </a:r>
            <a:endParaRPr lang="en-US" sz="800" dirty="0"/>
          </a:p>
        </p:txBody>
      </p:sp>
      <p:sp>
        <p:nvSpPr>
          <p:cNvPr id="84" name="Text 82"/>
          <p:cNvSpPr/>
          <p:nvPr/>
        </p:nvSpPr>
        <p:spPr>
          <a:xfrm>
            <a:off x="4569768" y="4597673"/>
            <a:ext cx="57150" cy="57150"/>
          </a:xfrm>
          <a:prstGeom prst="roundRect">
            <a:avLst>
              <a:gd name="adj" fmla="val 66667"/>
            </a:avLst>
          </a:prstGeom>
          <a:solidFill>
            <a:srgbClr val="22C55E"/>
          </a:solidFill>
          <a:ln/>
        </p:spPr>
        <p:txBody>
          <a:bodyPr wrap="square" rtlCol="0" anchor="ctr"/>
          <a:lstStyle/>
          <a:p>
            <a:pPr indent="0" marL="0">
              <a:buNone/>
            </a:pPr>
            <a:endParaRPr lang="en-US" dirty="0"/>
          </a:p>
        </p:txBody>
      </p:sp>
      <p:sp>
        <p:nvSpPr>
          <p:cNvPr id="85" name="Text 83"/>
          <p:cNvSpPr/>
          <p:nvPr/>
        </p:nvSpPr>
        <p:spPr>
          <a:xfrm>
            <a:off x="4569768" y="4566307"/>
            <a:ext cx="579894" cy="164561"/>
          </a:xfrm>
          <a:prstGeom prst="rect">
            <a:avLst/>
          </a:prstGeom>
          <a:noFill/>
          <a:ln/>
        </p:spPr>
        <p:txBody>
          <a:bodyPr wrap="none" lIns="0" tIns="0" rIns="0" bIns="0" rtlCol="0" anchor="t"/>
          <a:lstStyle/>
          <a:p>
            <a:pPr algn="l" indent="0" marL="0">
              <a:lnSpc>
                <a:spcPts val="945"/>
              </a:lnSpc>
              <a:buNone/>
            </a:pPr>
            <a:r>
              <a:rPr lang="en-US" sz="800" dirty="0">
                <a:solidFill>
                  <a:srgbClr val="8B95AD"/>
                </a:solidFill>
                <a:latin typeface="Carlito" pitchFamily="34" charset="0"/>
                <a:ea typeface="Carlito" pitchFamily="34" charset="-122"/>
                <a:cs typeface="Carlito" pitchFamily="34" charset="-120"/>
              </a:rPr>
              <a:t>TRUST</a:t>
            </a:r>
            <a:endParaRPr lang="en-US" sz="800" dirty="0"/>
          </a:p>
        </p:txBody>
      </p:sp>
      <p:sp>
        <p:nvSpPr>
          <p:cNvPr id="86" name="Text 84"/>
          <p:cNvSpPr/>
          <p:nvPr/>
        </p:nvSpPr>
        <p:spPr>
          <a:xfrm>
            <a:off x="5103651" y="4597673"/>
            <a:ext cx="57150" cy="57150"/>
          </a:xfrm>
          <a:prstGeom prst="roundRect">
            <a:avLst>
              <a:gd name="adj" fmla="val 66667"/>
            </a:avLst>
          </a:prstGeom>
          <a:solidFill>
            <a:srgbClr val="F59E0B"/>
          </a:solidFill>
          <a:ln/>
        </p:spPr>
        <p:txBody>
          <a:bodyPr wrap="square" rtlCol="0" anchor="ctr"/>
          <a:lstStyle/>
          <a:p>
            <a:pPr indent="0" marL="0">
              <a:buNone/>
            </a:pPr>
            <a:endParaRPr lang="en-US" dirty="0"/>
          </a:p>
        </p:txBody>
      </p:sp>
      <p:sp>
        <p:nvSpPr>
          <p:cNvPr id="87" name="Text 85"/>
          <p:cNvSpPr/>
          <p:nvPr/>
        </p:nvSpPr>
        <p:spPr>
          <a:xfrm>
            <a:off x="5103651" y="4566307"/>
            <a:ext cx="824747" cy="164561"/>
          </a:xfrm>
          <a:prstGeom prst="rect">
            <a:avLst/>
          </a:prstGeom>
          <a:noFill/>
          <a:ln/>
        </p:spPr>
        <p:txBody>
          <a:bodyPr wrap="none" lIns="0" tIns="0" rIns="0" bIns="0" rtlCol="0" anchor="t"/>
          <a:lstStyle/>
          <a:p>
            <a:pPr algn="l" indent="0" marL="0">
              <a:lnSpc>
                <a:spcPts val="945"/>
              </a:lnSpc>
              <a:buNone/>
            </a:pPr>
            <a:r>
              <a:rPr lang="en-US" sz="800" dirty="0">
                <a:solidFill>
                  <a:srgbClr val="8B95AD"/>
                </a:solidFill>
                <a:latin typeface="Carlito" pitchFamily="34" charset="0"/>
                <a:ea typeface="Carlito" pitchFamily="34" charset="-122"/>
                <a:cs typeface="Carlito" pitchFamily="34" charset="-120"/>
              </a:rPr>
              <a:t>EMOTIONAL</a:t>
            </a:r>
            <a:endParaRPr lang="en-US" sz="800" dirty="0"/>
          </a:p>
        </p:txBody>
      </p:sp>
      <p:sp>
        <p:nvSpPr>
          <p:cNvPr id="88" name="Text 86"/>
          <p:cNvSpPr/>
          <p:nvPr/>
        </p:nvSpPr>
        <p:spPr>
          <a:xfrm>
            <a:off x="5851847" y="4597673"/>
            <a:ext cx="57150" cy="57150"/>
          </a:xfrm>
          <a:prstGeom prst="roundRect">
            <a:avLst>
              <a:gd name="adj" fmla="val 66667"/>
            </a:avLst>
          </a:prstGeom>
          <a:solidFill>
            <a:srgbClr val="06B6D4"/>
          </a:solidFill>
          <a:ln/>
        </p:spPr>
        <p:txBody>
          <a:bodyPr wrap="square" rtlCol="0" anchor="ctr"/>
          <a:lstStyle/>
          <a:p>
            <a:pPr indent="0" marL="0">
              <a:buNone/>
            </a:pPr>
            <a:endParaRPr lang="en-US" dirty="0"/>
          </a:p>
        </p:txBody>
      </p:sp>
      <p:sp>
        <p:nvSpPr>
          <p:cNvPr id="89" name="Text 87"/>
          <p:cNvSpPr/>
          <p:nvPr/>
        </p:nvSpPr>
        <p:spPr>
          <a:xfrm>
            <a:off x="5851847" y="4566307"/>
            <a:ext cx="2834953" cy="164561"/>
          </a:xfrm>
          <a:prstGeom prst="rect">
            <a:avLst/>
          </a:prstGeom>
          <a:noFill/>
          <a:ln/>
        </p:spPr>
        <p:txBody>
          <a:bodyPr wrap="none" lIns="0" tIns="0" rIns="0" bIns="0" rtlCol="0" anchor="t"/>
          <a:lstStyle/>
          <a:p>
            <a:pPr algn="l" indent="0" marL="0">
              <a:lnSpc>
                <a:spcPts val="945"/>
              </a:lnSpc>
              <a:buNone/>
            </a:pPr>
            <a:r>
              <a:rPr lang="en-US" sz="800" dirty="0">
                <a:solidFill>
                  <a:srgbClr val="8B95AD"/>
                </a:solidFill>
                <a:latin typeface="Carlito" pitchFamily="34" charset="0"/>
                <a:ea typeface="Carlito" pitchFamily="34" charset="-122"/>
                <a:cs typeface="Carlito" pitchFamily="34" charset="-120"/>
              </a:rPr>
              <a:t>VISUAL</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457200" y="457200"/>
            <a:ext cx="8636000" cy="296193"/>
          </a:xfrm>
          <a:prstGeom prst="rect">
            <a:avLst/>
          </a:prstGeom>
          <a:noFill/>
          <a:ln/>
        </p:spPr>
        <p:txBody>
          <a:bodyPr wrap="none" lIns="0" tIns="0" rIns="0" bIns="0" rtlCol="0" anchor="t"/>
          <a:lstStyle/>
          <a:p>
            <a:pPr algn="l" indent="0" marL="0">
              <a:lnSpc>
                <a:spcPts val="2160"/>
              </a:lnSpc>
              <a:buNone/>
            </a:pPr>
            <a:r>
              <a:rPr lang="en-US" sz="1440" b="1" spc="-29" kern="0" dirty="0">
                <a:solidFill>
                  <a:srgbClr val="FFFFFF"/>
                </a:solidFill>
                <a:latin typeface="Liberation Sans Narrow" pitchFamily="34" charset="0"/>
                <a:ea typeface="Liberation Sans Narrow" pitchFamily="34" charset="-122"/>
                <a:cs typeface="Liberation Sans Narrow" pitchFamily="34" charset="-120"/>
              </a:rPr>
              <a:t>MS6 Locked Decisions</a:t>
            </a:r>
            <a:endParaRPr lang="en-US" sz="1440" dirty="0"/>
          </a:p>
        </p:txBody>
      </p:sp>
      <p:sp>
        <p:nvSpPr>
          <p:cNvPr id="3" name="Text 1"/>
          <p:cNvSpPr/>
          <p:nvPr/>
        </p:nvSpPr>
        <p:spPr>
          <a:xfrm>
            <a:off x="457200" y="774316"/>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4" name="Text 2"/>
          <p:cNvSpPr/>
          <p:nvPr/>
        </p:nvSpPr>
        <p:spPr>
          <a:xfrm>
            <a:off x="457200" y="995772"/>
            <a:ext cx="4000500" cy="1077702"/>
          </a:xfrm>
          <a:prstGeom prst="roundRect">
            <a:avLst>
              <a:gd name="adj" fmla="val 14141"/>
            </a:avLst>
          </a:prstGeom>
          <a:solidFill>
            <a:srgbClr val="161C2A">
              <a:alpha val="70000"/>
            </a:srgbClr>
          </a:solidFill>
          <a:ln/>
        </p:spPr>
        <p:txBody>
          <a:bodyPr wrap="square" rtlCol="0" anchor="ctr"/>
          <a:lstStyle/>
          <a:p>
            <a:pPr indent="0" marL="0">
              <a:buNone/>
            </a:pPr>
            <a:endParaRPr lang="en-US" dirty="0"/>
          </a:p>
        </p:txBody>
      </p:sp>
      <p:sp>
        <p:nvSpPr>
          <p:cNvPr id="5" name="Shape 3"/>
          <p:cNvSpPr/>
          <p:nvPr/>
        </p:nvSpPr>
        <p:spPr>
          <a:xfrm>
            <a:off x="457200" y="999344"/>
            <a:ext cx="4000500" cy="0"/>
          </a:xfrm>
          <a:prstGeom prst="line">
            <a:avLst/>
          </a:prstGeom>
          <a:noFill/>
          <a:ln w="7144">
            <a:solidFill>
              <a:srgbClr val="252E42"/>
            </a:solidFill>
            <a:prstDash val="solid"/>
          </a:ln>
        </p:spPr>
      </p:sp>
      <p:sp>
        <p:nvSpPr>
          <p:cNvPr id="6" name="Shape 4"/>
          <p:cNvSpPr/>
          <p:nvPr/>
        </p:nvSpPr>
        <p:spPr>
          <a:xfrm>
            <a:off x="4454128" y="995772"/>
            <a:ext cx="0" cy="1077702"/>
          </a:xfrm>
          <a:prstGeom prst="line">
            <a:avLst/>
          </a:prstGeom>
          <a:noFill/>
          <a:ln w="7144">
            <a:solidFill>
              <a:srgbClr val="252E42"/>
            </a:solidFill>
            <a:prstDash val="solid"/>
          </a:ln>
        </p:spPr>
      </p:sp>
      <p:sp>
        <p:nvSpPr>
          <p:cNvPr id="7" name="Shape 5"/>
          <p:cNvSpPr/>
          <p:nvPr/>
        </p:nvSpPr>
        <p:spPr>
          <a:xfrm>
            <a:off x="457200" y="2069902"/>
            <a:ext cx="4000500" cy="0"/>
          </a:xfrm>
          <a:prstGeom prst="line">
            <a:avLst/>
          </a:prstGeom>
          <a:noFill/>
          <a:ln w="7144">
            <a:solidFill>
              <a:srgbClr val="252E42"/>
            </a:solidFill>
            <a:prstDash val="solid"/>
          </a:ln>
        </p:spPr>
      </p:sp>
      <p:sp>
        <p:nvSpPr>
          <p:cNvPr id="8" name="Shape 6"/>
          <p:cNvSpPr/>
          <p:nvPr/>
        </p:nvSpPr>
        <p:spPr>
          <a:xfrm>
            <a:off x="467916" y="995772"/>
            <a:ext cx="0" cy="1077702"/>
          </a:xfrm>
          <a:prstGeom prst="line">
            <a:avLst/>
          </a:prstGeom>
          <a:noFill/>
          <a:ln w="21431">
            <a:solidFill>
              <a:srgbClr val="3B82F6"/>
            </a:solidFill>
            <a:prstDash val="solid"/>
          </a:ln>
        </p:spPr>
      </p:sp>
      <p:sp>
        <p:nvSpPr>
          <p:cNvPr id="9" name="Text 7"/>
          <p:cNvSpPr/>
          <p:nvPr/>
        </p:nvSpPr>
        <p:spPr>
          <a:xfrm>
            <a:off x="650081" y="1174366"/>
            <a:ext cx="314325" cy="314325"/>
          </a:xfrm>
          <a:prstGeom prst="roundRect">
            <a:avLst>
              <a:gd name="adj" fmla="val 30300000"/>
            </a:avLst>
          </a:prstGeom>
          <a:solidFill>
            <a:srgbClr val="3B82F6">
              <a:alpha val="12000"/>
            </a:srgbClr>
          </a:solidFill>
          <a:ln/>
        </p:spPr>
        <p:txBody>
          <a:bodyPr wrap="square" rtlCol="0" anchor="ctr"/>
          <a:lstStyle/>
          <a:p>
            <a:pPr indent="0" marL="0">
              <a:buNone/>
            </a:pPr>
            <a:endParaRPr lang="en-US" dirty="0"/>
          </a:p>
        </p:txBody>
      </p:sp>
      <p:sp>
        <p:nvSpPr>
          <p:cNvPr id="10" name="Text 8"/>
          <p:cNvSpPr/>
          <p:nvPr/>
        </p:nvSpPr>
        <p:spPr>
          <a:xfrm>
            <a:off x="703659" y="1227944"/>
            <a:ext cx="207169" cy="207169"/>
          </a:xfrm>
          <a:prstGeom prst="rect">
            <a:avLst/>
          </a:prstGeom>
          <a:noFill/>
          <a:ln/>
        </p:spPr>
        <p:txBody>
          <a:bodyPr wrap="none" lIns="0" tIns="0" rIns="0" bIns="0" rtlCol="0" anchor="ctr"/>
          <a:lstStyle/>
          <a:p>
            <a:pPr algn="ctr" indent="0" marL="0">
              <a:buNone/>
            </a:pPr>
            <a:r>
              <a:rPr lang="en-US" sz="1406" dirty="0">
                <a:solidFill>
                  <a:srgbClr val="60A5FA"/>
                </a:solidFill>
                <a:latin typeface="Segoe UI Symbol" pitchFamily="34" charset="0"/>
                <a:ea typeface="Segoe UI Symbol" pitchFamily="34" charset="-122"/>
                <a:cs typeface="Segoe UI Symbol" pitchFamily="34" charset="-120"/>
              </a:rPr>
              <a:t>⚿</a:t>
            </a:r>
            <a:endParaRPr lang="en-US" sz="1406" dirty="0"/>
          </a:p>
        </p:txBody>
      </p:sp>
      <p:sp>
        <p:nvSpPr>
          <p:cNvPr id="11" name="Text 9"/>
          <p:cNvSpPr/>
          <p:nvPr/>
        </p:nvSpPr>
        <p:spPr>
          <a:xfrm>
            <a:off x="1064419" y="1174366"/>
            <a:ext cx="3214688" cy="166722"/>
          </a:xfrm>
          <a:prstGeom prst="rect">
            <a:avLst/>
          </a:prstGeom>
          <a:noFill/>
          <a:ln/>
        </p:spPr>
        <p:txBody>
          <a:bodyPr wrap="none" lIns="0" tIns="0" rIns="0" bIns="0" rtlCol="0" anchor="t"/>
          <a:lstStyle/>
          <a:p>
            <a:pPr algn="l" indent="0" marL="0">
              <a:lnSpc>
                <a:spcPts val="1215"/>
              </a:lnSpc>
              <a:buNone/>
            </a:pPr>
            <a:r>
              <a:rPr lang="en-US" sz="810" dirty="0">
                <a:solidFill>
                  <a:srgbClr val="FFFFFF"/>
                </a:solidFill>
                <a:latin typeface="Carlito" pitchFamily="34" charset="0"/>
                <a:ea typeface="Carlito" pitchFamily="34" charset="-122"/>
                <a:cs typeface="Carlito" pitchFamily="34" charset="-120"/>
              </a:rPr>
              <a:t>AI Interaction Principle</a:t>
            </a:r>
            <a:endParaRPr lang="en-US" sz="810" dirty="0"/>
          </a:p>
        </p:txBody>
      </p:sp>
      <p:sp>
        <p:nvSpPr>
          <p:cNvPr id="12" name="Text 10"/>
          <p:cNvSpPr/>
          <p:nvPr/>
        </p:nvSpPr>
        <p:spPr>
          <a:xfrm>
            <a:off x="1064419" y="1371600"/>
            <a:ext cx="3214688" cy="340152"/>
          </a:xfrm>
          <a:prstGeom prst="rect">
            <a:avLst/>
          </a:prstGeom>
          <a:noFill/>
          <a:ln/>
        </p:spPr>
        <p:txBody>
          <a:bodyPr wrap="square" lIns="0" tIns="0" rIns="0" bIns="0" rtlCol="0" anchor="t"/>
          <a:lstStyle/>
          <a:p>
            <a:pPr algn="l" indent="0" marL="0">
              <a:lnSpc>
                <a:spcPts val="1088"/>
              </a:lnSpc>
              <a:buNone/>
            </a:pPr>
            <a:r>
              <a:rPr lang="en-US" sz="800" dirty="0">
                <a:solidFill>
                  <a:srgbClr val="8B95AD"/>
                </a:solidFill>
                <a:latin typeface="Carlito" pitchFamily="34" charset="0"/>
                <a:ea typeface="Carlito" pitchFamily="34" charset="-122"/>
                <a:cs typeface="Carlito" pitchFamily="34" charset="-120"/>
              </a:rPr>
              <a:t>AI Intelligence as Executive Briefing — the primary interaction paradigm. AI briefs; humans decide. </a:t>
            </a:r>
            <a:pPr algn="l" indent="0" marL="0">
              <a:lnSpc>
                <a:spcPts val="1088"/>
              </a:lnSpc>
              <a:buNone/>
            </a:pPr>
            <a:r>
              <a:rPr lang="en-US" sz="800" dirty="0">
                <a:solidFill>
                  <a:srgbClr val="3B82F6"/>
                </a:solidFill>
                <a:latin typeface="Carlito" pitchFamily="34" charset="0"/>
                <a:ea typeface="Carlito" pitchFamily="34" charset="-122"/>
                <a:cs typeface="Carlito" pitchFamily="34" charset="-120"/>
              </a:rPr>
              <a:t>This is non-negotiable.</a:t>
            </a:r>
            <a:endParaRPr lang="en-US" sz="800" dirty="0"/>
          </a:p>
        </p:txBody>
      </p:sp>
      <p:sp>
        <p:nvSpPr>
          <p:cNvPr id="13" name="Text 11"/>
          <p:cNvSpPr/>
          <p:nvPr/>
        </p:nvSpPr>
        <p:spPr>
          <a:xfrm>
            <a:off x="4686300" y="995772"/>
            <a:ext cx="4000500" cy="1077702"/>
          </a:xfrm>
          <a:prstGeom prst="roundRect">
            <a:avLst>
              <a:gd name="adj" fmla="val 14141"/>
            </a:avLst>
          </a:prstGeom>
          <a:solidFill>
            <a:srgbClr val="161C2A">
              <a:alpha val="70000"/>
            </a:srgbClr>
          </a:solidFill>
          <a:ln/>
        </p:spPr>
        <p:txBody>
          <a:bodyPr wrap="square" rtlCol="0" anchor="ctr"/>
          <a:lstStyle/>
          <a:p>
            <a:pPr indent="0" marL="0">
              <a:buNone/>
            </a:pPr>
            <a:endParaRPr lang="en-US" dirty="0"/>
          </a:p>
        </p:txBody>
      </p:sp>
      <p:sp>
        <p:nvSpPr>
          <p:cNvPr id="14" name="Shape 12"/>
          <p:cNvSpPr/>
          <p:nvPr/>
        </p:nvSpPr>
        <p:spPr>
          <a:xfrm>
            <a:off x="4686300" y="999344"/>
            <a:ext cx="4000500" cy="0"/>
          </a:xfrm>
          <a:prstGeom prst="line">
            <a:avLst/>
          </a:prstGeom>
          <a:noFill/>
          <a:ln w="7144">
            <a:solidFill>
              <a:srgbClr val="252E42"/>
            </a:solidFill>
            <a:prstDash val="solid"/>
          </a:ln>
        </p:spPr>
      </p:sp>
      <p:sp>
        <p:nvSpPr>
          <p:cNvPr id="15" name="Shape 13"/>
          <p:cNvSpPr/>
          <p:nvPr/>
        </p:nvSpPr>
        <p:spPr>
          <a:xfrm>
            <a:off x="8683228" y="995772"/>
            <a:ext cx="0" cy="1077702"/>
          </a:xfrm>
          <a:prstGeom prst="line">
            <a:avLst/>
          </a:prstGeom>
          <a:noFill/>
          <a:ln w="7144">
            <a:solidFill>
              <a:srgbClr val="252E42"/>
            </a:solidFill>
            <a:prstDash val="solid"/>
          </a:ln>
        </p:spPr>
      </p:sp>
      <p:sp>
        <p:nvSpPr>
          <p:cNvPr id="16" name="Shape 14"/>
          <p:cNvSpPr/>
          <p:nvPr/>
        </p:nvSpPr>
        <p:spPr>
          <a:xfrm>
            <a:off x="4686300" y="2069902"/>
            <a:ext cx="4000500" cy="0"/>
          </a:xfrm>
          <a:prstGeom prst="line">
            <a:avLst/>
          </a:prstGeom>
          <a:noFill/>
          <a:ln w="7144">
            <a:solidFill>
              <a:srgbClr val="252E42"/>
            </a:solidFill>
            <a:prstDash val="solid"/>
          </a:ln>
        </p:spPr>
      </p:sp>
      <p:sp>
        <p:nvSpPr>
          <p:cNvPr id="17" name="Shape 15"/>
          <p:cNvSpPr/>
          <p:nvPr/>
        </p:nvSpPr>
        <p:spPr>
          <a:xfrm>
            <a:off x="4697016" y="995772"/>
            <a:ext cx="0" cy="1077702"/>
          </a:xfrm>
          <a:prstGeom prst="line">
            <a:avLst/>
          </a:prstGeom>
          <a:noFill/>
          <a:ln w="21431">
            <a:solidFill>
              <a:srgbClr val="A855F7"/>
            </a:solidFill>
            <a:prstDash val="solid"/>
          </a:ln>
        </p:spPr>
      </p:sp>
      <p:sp>
        <p:nvSpPr>
          <p:cNvPr id="18" name="Text 16"/>
          <p:cNvSpPr/>
          <p:nvPr/>
        </p:nvSpPr>
        <p:spPr>
          <a:xfrm>
            <a:off x="4879181" y="1174366"/>
            <a:ext cx="314325" cy="314325"/>
          </a:xfrm>
          <a:prstGeom prst="roundRect">
            <a:avLst>
              <a:gd name="adj" fmla="val 30300000"/>
            </a:avLst>
          </a:prstGeom>
          <a:solidFill>
            <a:srgbClr val="8B5CF6">
              <a:alpha val="12000"/>
            </a:srgbClr>
          </a:solidFill>
          <a:ln/>
        </p:spPr>
        <p:txBody>
          <a:bodyPr wrap="square" rtlCol="0" anchor="ctr"/>
          <a:lstStyle/>
          <a:p>
            <a:pPr indent="0" marL="0">
              <a:buNone/>
            </a:pPr>
            <a:endParaRPr lang="en-US" dirty="0"/>
          </a:p>
        </p:txBody>
      </p:sp>
      <p:sp>
        <p:nvSpPr>
          <p:cNvPr id="19" name="Text 17"/>
          <p:cNvSpPr/>
          <p:nvPr/>
        </p:nvSpPr>
        <p:spPr>
          <a:xfrm>
            <a:off x="4932759" y="1227944"/>
            <a:ext cx="207169" cy="207169"/>
          </a:xfrm>
          <a:prstGeom prst="rect">
            <a:avLst/>
          </a:prstGeom>
          <a:noFill/>
          <a:ln/>
        </p:spPr>
        <p:txBody>
          <a:bodyPr wrap="none" lIns="0" tIns="0" rIns="0" bIns="0" rtlCol="0" anchor="ctr"/>
          <a:lstStyle/>
          <a:p>
            <a:pPr algn="ctr" indent="0" marL="0">
              <a:buNone/>
            </a:pPr>
            <a:r>
              <a:rPr lang="en-US" sz="1406" dirty="0">
                <a:solidFill>
                  <a:srgbClr val="A78BFA"/>
                </a:solidFill>
                <a:latin typeface="Segoe UI Symbol" pitchFamily="34" charset="0"/>
                <a:ea typeface="Segoe UI Symbol" pitchFamily="34" charset="-122"/>
                <a:cs typeface="Segoe UI Symbol" pitchFamily="34" charset="-120"/>
              </a:rPr>
              <a:t>⚿</a:t>
            </a:r>
            <a:endParaRPr lang="en-US" sz="1406" dirty="0"/>
          </a:p>
        </p:txBody>
      </p:sp>
      <p:sp>
        <p:nvSpPr>
          <p:cNvPr id="20" name="Text 18"/>
          <p:cNvSpPr/>
          <p:nvPr/>
        </p:nvSpPr>
        <p:spPr>
          <a:xfrm>
            <a:off x="5293519" y="1174366"/>
            <a:ext cx="3214688" cy="166722"/>
          </a:xfrm>
          <a:prstGeom prst="rect">
            <a:avLst/>
          </a:prstGeom>
          <a:noFill/>
          <a:ln/>
        </p:spPr>
        <p:txBody>
          <a:bodyPr wrap="none" lIns="0" tIns="0" rIns="0" bIns="0" rtlCol="0" anchor="t"/>
          <a:lstStyle/>
          <a:p>
            <a:pPr algn="l" indent="0" marL="0">
              <a:lnSpc>
                <a:spcPts val="1215"/>
              </a:lnSpc>
              <a:buNone/>
            </a:pPr>
            <a:r>
              <a:rPr lang="en-US" sz="810" dirty="0">
                <a:solidFill>
                  <a:srgbClr val="FFFFFF"/>
                </a:solidFill>
                <a:latin typeface="Liberation Sans Narrow" pitchFamily="34" charset="0"/>
                <a:ea typeface="Liberation Sans Narrow" pitchFamily="34" charset="-122"/>
                <a:cs typeface="Liberation Sans Narrow" pitchFamily="34" charset="-120"/>
              </a:rPr>
              <a:t>MS6 Review Format</a:t>
            </a:r>
            <a:endParaRPr lang="en-US" sz="810" dirty="0"/>
          </a:p>
        </p:txBody>
      </p:sp>
      <p:sp>
        <p:nvSpPr>
          <p:cNvPr id="21" name="Text 19"/>
          <p:cNvSpPr/>
          <p:nvPr/>
        </p:nvSpPr>
        <p:spPr>
          <a:xfrm>
            <a:off x="5293519" y="1371600"/>
            <a:ext cx="3214688" cy="340152"/>
          </a:xfrm>
          <a:prstGeom prst="rect">
            <a:avLst/>
          </a:prstGeom>
          <a:noFill/>
          <a:ln/>
        </p:spPr>
        <p:txBody>
          <a:bodyPr wrap="square" lIns="0" tIns="0" rIns="0" bIns="0" rtlCol="0" anchor="t"/>
          <a:lstStyle/>
          <a:p>
            <a:pPr algn="l" indent="0" marL="0">
              <a:lnSpc>
                <a:spcPts val="1088"/>
              </a:lnSpc>
              <a:buNone/>
            </a:pPr>
            <a:r>
              <a:rPr lang="en-US" sz="800" dirty="0">
                <a:solidFill>
                  <a:srgbClr val="8B95AD"/>
                </a:solidFill>
                <a:latin typeface="Carlito" pitchFamily="34" charset="0"/>
                <a:ea typeface="Carlito" pitchFamily="34" charset="-122"/>
                <a:cs typeface="Carlito" pitchFamily="34" charset="-120"/>
              </a:rPr>
              <a:t>This Strategy Deck (15–20 slides) is the primary approval artifact. Supporting documents follow after approval.</a:t>
            </a:r>
            <a:endParaRPr lang="en-US" sz="800" dirty="0"/>
          </a:p>
        </p:txBody>
      </p:sp>
      <p:sp>
        <p:nvSpPr>
          <p:cNvPr id="22" name="Text 20"/>
          <p:cNvSpPr/>
          <p:nvPr/>
        </p:nvSpPr>
        <p:spPr>
          <a:xfrm>
            <a:off x="457200" y="2302073"/>
            <a:ext cx="4000500" cy="1077813"/>
          </a:xfrm>
          <a:prstGeom prst="roundRect">
            <a:avLst>
              <a:gd name="adj" fmla="val 14140"/>
            </a:avLst>
          </a:prstGeom>
          <a:solidFill>
            <a:srgbClr val="161C2A">
              <a:alpha val="70000"/>
            </a:srgbClr>
          </a:solidFill>
          <a:ln/>
        </p:spPr>
        <p:txBody>
          <a:bodyPr wrap="square" rtlCol="0" anchor="ctr"/>
          <a:lstStyle/>
          <a:p>
            <a:pPr indent="0" marL="0">
              <a:buNone/>
            </a:pPr>
            <a:endParaRPr lang="en-US" dirty="0"/>
          </a:p>
        </p:txBody>
      </p:sp>
      <p:sp>
        <p:nvSpPr>
          <p:cNvPr id="23" name="Shape 21"/>
          <p:cNvSpPr/>
          <p:nvPr/>
        </p:nvSpPr>
        <p:spPr>
          <a:xfrm>
            <a:off x="457200" y="2305645"/>
            <a:ext cx="4000500" cy="0"/>
          </a:xfrm>
          <a:prstGeom prst="line">
            <a:avLst/>
          </a:prstGeom>
          <a:noFill/>
          <a:ln w="7144">
            <a:solidFill>
              <a:srgbClr val="252E42"/>
            </a:solidFill>
            <a:prstDash val="solid"/>
          </a:ln>
        </p:spPr>
      </p:sp>
      <p:sp>
        <p:nvSpPr>
          <p:cNvPr id="24" name="Shape 22"/>
          <p:cNvSpPr/>
          <p:nvPr/>
        </p:nvSpPr>
        <p:spPr>
          <a:xfrm>
            <a:off x="4454128" y="2302073"/>
            <a:ext cx="0" cy="1077813"/>
          </a:xfrm>
          <a:prstGeom prst="line">
            <a:avLst/>
          </a:prstGeom>
          <a:noFill/>
          <a:ln w="7144">
            <a:solidFill>
              <a:srgbClr val="252E42"/>
            </a:solidFill>
            <a:prstDash val="solid"/>
          </a:ln>
        </p:spPr>
      </p:sp>
      <p:sp>
        <p:nvSpPr>
          <p:cNvPr id="25" name="Shape 23"/>
          <p:cNvSpPr/>
          <p:nvPr/>
        </p:nvSpPr>
        <p:spPr>
          <a:xfrm>
            <a:off x="457200" y="3376315"/>
            <a:ext cx="4000500" cy="0"/>
          </a:xfrm>
          <a:prstGeom prst="line">
            <a:avLst/>
          </a:prstGeom>
          <a:noFill/>
          <a:ln w="7144">
            <a:solidFill>
              <a:srgbClr val="252E42"/>
            </a:solidFill>
            <a:prstDash val="solid"/>
          </a:ln>
        </p:spPr>
      </p:sp>
      <p:sp>
        <p:nvSpPr>
          <p:cNvPr id="26" name="Shape 24"/>
          <p:cNvSpPr/>
          <p:nvPr/>
        </p:nvSpPr>
        <p:spPr>
          <a:xfrm>
            <a:off x="467916" y="2302073"/>
            <a:ext cx="0" cy="1077813"/>
          </a:xfrm>
          <a:prstGeom prst="line">
            <a:avLst/>
          </a:prstGeom>
          <a:noFill/>
          <a:ln w="21431">
            <a:solidFill>
              <a:srgbClr val="22C55E"/>
            </a:solidFill>
            <a:prstDash val="solid"/>
          </a:ln>
        </p:spPr>
      </p:sp>
      <p:sp>
        <p:nvSpPr>
          <p:cNvPr id="27" name="Text 25"/>
          <p:cNvSpPr/>
          <p:nvPr/>
        </p:nvSpPr>
        <p:spPr>
          <a:xfrm>
            <a:off x="650081" y="2480667"/>
            <a:ext cx="314325" cy="314325"/>
          </a:xfrm>
          <a:prstGeom prst="roundRect">
            <a:avLst>
              <a:gd name="adj" fmla="val 30300000"/>
            </a:avLst>
          </a:prstGeom>
          <a:solidFill>
            <a:srgbClr val="22C55E">
              <a:alpha val="12000"/>
            </a:srgbClr>
          </a:solidFill>
          <a:ln/>
        </p:spPr>
        <p:txBody>
          <a:bodyPr wrap="square" rtlCol="0" anchor="ctr"/>
          <a:lstStyle/>
          <a:p>
            <a:pPr indent="0" marL="0">
              <a:buNone/>
            </a:pPr>
            <a:endParaRPr lang="en-US" dirty="0"/>
          </a:p>
        </p:txBody>
      </p:sp>
      <p:sp>
        <p:nvSpPr>
          <p:cNvPr id="28" name="Text 26"/>
          <p:cNvSpPr/>
          <p:nvPr/>
        </p:nvSpPr>
        <p:spPr>
          <a:xfrm>
            <a:off x="703659" y="2534245"/>
            <a:ext cx="207169" cy="207169"/>
          </a:xfrm>
          <a:prstGeom prst="rect">
            <a:avLst/>
          </a:prstGeom>
          <a:noFill/>
          <a:ln/>
        </p:spPr>
        <p:txBody>
          <a:bodyPr wrap="none" lIns="0" tIns="0" rIns="0" bIns="0" rtlCol="0" anchor="ctr"/>
          <a:lstStyle/>
          <a:p>
            <a:pPr algn="ctr" indent="0" marL="0">
              <a:buNone/>
            </a:pPr>
            <a:r>
              <a:rPr lang="en-US" sz="1406" dirty="0">
                <a:solidFill>
                  <a:srgbClr val="4ADE80"/>
                </a:solidFill>
                <a:latin typeface="Segoe UI Symbol" pitchFamily="34" charset="0"/>
                <a:ea typeface="Segoe UI Symbol" pitchFamily="34" charset="-122"/>
                <a:cs typeface="Segoe UI Symbol" pitchFamily="34" charset="-120"/>
              </a:rPr>
              <a:t>⚿</a:t>
            </a:r>
            <a:endParaRPr lang="en-US" sz="1406" dirty="0"/>
          </a:p>
        </p:txBody>
      </p:sp>
      <p:sp>
        <p:nvSpPr>
          <p:cNvPr id="29" name="Text 27"/>
          <p:cNvSpPr/>
          <p:nvPr/>
        </p:nvSpPr>
        <p:spPr>
          <a:xfrm>
            <a:off x="1064419" y="2480667"/>
            <a:ext cx="3214688" cy="166722"/>
          </a:xfrm>
          <a:prstGeom prst="rect">
            <a:avLst/>
          </a:prstGeom>
          <a:noFill/>
          <a:ln/>
        </p:spPr>
        <p:txBody>
          <a:bodyPr wrap="none" lIns="0" tIns="0" rIns="0" bIns="0" rtlCol="0" anchor="t"/>
          <a:lstStyle/>
          <a:p>
            <a:pPr algn="l" indent="0" marL="0">
              <a:lnSpc>
                <a:spcPts val="1215"/>
              </a:lnSpc>
              <a:buNone/>
            </a:pPr>
            <a:r>
              <a:rPr lang="en-US" sz="810" dirty="0">
                <a:solidFill>
                  <a:srgbClr val="FFFFFF"/>
                </a:solidFill>
                <a:latin typeface="Carlito" pitchFamily="34" charset="0"/>
                <a:ea typeface="Carlito" pitchFamily="34" charset="-122"/>
                <a:cs typeface="Carlito" pitchFamily="34" charset="-120"/>
              </a:rPr>
              <a:t>Prototype Tool</a:t>
            </a:r>
            <a:endParaRPr lang="en-US" sz="810" dirty="0"/>
          </a:p>
        </p:txBody>
      </p:sp>
      <p:sp>
        <p:nvSpPr>
          <p:cNvPr id="30" name="Text 28"/>
          <p:cNvSpPr/>
          <p:nvPr/>
        </p:nvSpPr>
        <p:spPr>
          <a:xfrm>
            <a:off x="1064419" y="2677902"/>
            <a:ext cx="3214688" cy="340152"/>
          </a:xfrm>
          <a:prstGeom prst="rect">
            <a:avLst/>
          </a:prstGeom>
          <a:noFill/>
          <a:ln/>
        </p:spPr>
        <p:txBody>
          <a:bodyPr wrap="square" lIns="0" tIns="0" rIns="0" bIns="0" rtlCol="0" anchor="t"/>
          <a:lstStyle/>
          <a:p>
            <a:pPr algn="l" indent="0" marL="0">
              <a:lnSpc>
                <a:spcPts val="1088"/>
              </a:lnSpc>
              <a:buNone/>
            </a:pPr>
            <a:r>
              <a:rPr lang="en-US" sz="800" dirty="0">
                <a:solidFill>
                  <a:srgbClr val="8B95AD"/>
                </a:solidFill>
                <a:latin typeface="Carlito" pitchFamily="34" charset="0"/>
                <a:ea typeface="Carlito" pitchFamily="34" charset="-122"/>
                <a:cs typeface="Carlito" pitchFamily="34" charset="-120"/>
              </a:rPr>
              <a:t>Next.js + shadcn/ui prototype with mock data. </a:t>
            </a:r>
            <a:pPr algn="l" indent="0" marL="0">
              <a:lnSpc>
                <a:spcPts val="1088"/>
              </a:lnSpc>
              <a:buNone/>
            </a:pPr>
            <a:r>
              <a:rPr lang="en-US" sz="800" dirty="0">
                <a:solidFill>
                  <a:srgbClr val="22C55E"/>
                </a:solidFill>
                <a:latin typeface="Carlito" pitchFamily="34" charset="0"/>
                <a:ea typeface="Carlito" pitchFamily="34" charset="-122"/>
                <a:cs typeface="Carlito" pitchFamily="34" charset="-120"/>
              </a:rPr>
              <a:t>No Figma.</a:t>
            </a:r>
            <a:pPr algn="l" indent="0" marL="0">
              <a:lnSpc>
                <a:spcPts val="1088"/>
              </a:lnSpc>
              <a:buNone/>
            </a:pPr>
            <a:r>
              <a:rPr lang="en-US" sz="800" dirty="0">
                <a:solidFill>
                  <a:srgbClr val="8B95AD"/>
                </a:solidFill>
                <a:latin typeface="Carlito" pitchFamily="34" charset="0"/>
                <a:ea typeface="Carlito" pitchFamily="34" charset="-122"/>
                <a:cs typeface="Carlito" pitchFamily="34" charset="-120"/>
              </a:rPr>
              <a:t> No backend integration. Code-based design exploration.</a:t>
            </a:r>
            <a:endParaRPr lang="en-US" sz="800" dirty="0"/>
          </a:p>
        </p:txBody>
      </p:sp>
      <p:sp>
        <p:nvSpPr>
          <p:cNvPr id="31" name="Text 29"/>
          <p:cNvSpPr/>
          <p:nvPr/>
        </p:nvSpPr>
        <p:spPr>
          <a:xfrm>
            <a:off x="4686300" y="2302073"/>
            <a:ext cx="4000500" cy="1077813"/>
          </a:xfrm>
          <a:prstGeom prst="roundRect">
            <a:avLst>
              <a:gd name="adj" fmla="val 14140"/>
            </a:avLst>
          </a:prstGeom>
          <a:solidFill>
            <a:srgbClr val="161C2A">
              <a:alpha val="70000"/>
            </a:srgbClr>
          </a:solidFill>
          <a:ln/>
        </p:spPr>
        <p:txBody>
          <a:bodyPr wrap="square" rtlCol="0" anchor="ctr"/>
          <a:lstStyle/>
          <a:p>
            <a:pPr indent="0" marL="0">
              <a:buNone/>
            </a:pPr>
            <a:endParaRPr lang="en-US" dirty="0"/>
          </a:p>
        </p:txBody>
      </p:sp>
      <p:sp>
        <p:nvSpPr>
          <p:cNvPr id="32" name="Shape 30"/>
          <p:cNvSpPr/>
          <p:nvPr/>
        </p:nvSpPr>
        <p:spPr>
          <a:xfrm>
            <a:off x="4686300" y="2305645"/>
            <a:ext cx="4000500" cy="0"/>
          </a:xfrm>
          <a:prstGeom prst="line">
            <a:avLst/>
          </a:prstGeom>
          <a:noFill/>
          <a:ln w="7144">
            <a:solidFill>
              <a:srgbClr val="252E42"/>
            </a:solidFill>
            <a:prstDash val="solid"/>
          </a:ln>
        </p:spPr>
      </p:sp>
      <p:sp>
        <p:nvSpPr>
          <p:cNvPr id="33" name="Shape 31"/>
          <p:cNvSpPr/>
          <p:nvPr/>
        </p:nvSpPr>
        <p:spPr>
          <a:xfrm>
            <a:off x="8683228" y="2302073"/>
            <a:ext cx="0" cy="1077813"/>
          </a:xfrm>
          <a:prstGeom prst="line">
            <a:avLst/>
          </a:prstGeom>
          <a:noFill/>
          <a:ln w="7144">
            <a:solidFill>
              <a:srgbClr val="252E42"/>
            </a:solidFill>
            <a:prstDash val="solid"/>
          </a:ln>
        </p:spPr>
      </p:sp>
      <p:sp>
        <p:nvSpPr>
          <p:cNvPr id="34" name="Shape 32"/>
          <p:cNvSpPr/>
          <p:nvPr/>
        </p:nvSpPr>
        <p:spPr>
          <a:xfrm>
            <a:off x="4686300" y="3376315"/>
            <a:ext cx="4000500" cy="0"/>
          </a:xfrm>
          <a:prstGeom prst="line">
            <a:avLst/>
          </a:prstGeom>
          <a:noFill/>
          <a:ln w="7144">
            <a:solidFill>
              <a:srgbClr val="252E42"/>
            </a:solidFill>
            <a:prstDash val="solid"/>
          </a:ln>
        </p:spPr>
      </p:sp>
      <p:sp>
        <p:nvSpPr>
          <p:cNvPr id="35" name="Shape 33"/>
          <p:cNvSpPr/>
          <p:nvPr/>
        </p:nvSpPr>
        <p:spPr>
          <a:xfrm>
            <a:off x="4697016" y="2302073"/>
            <a:ext cx="0" cy="1077813"/>
          </a:xfrm>
          <a:prstGeom prst="line">
            <a:avLst/>
          </a:prstGeom>
          <a:noFill/>
          <a:ln w="21431">
            <a:solidFill>
              <a:srgbClr val="F59E0B"/>
            </a:solidFill>
            <a:prstDash val="solid"/>
          </a:ln>
        </p:spPr>
      </p:sp>
      <p:sp>
        <p:nvSpPr>
          <p:cNvPr id="36" name="Text 34"/>
          <p:cNvSpPr/>
          <p:nvPr/>
        </p:nvSpPr>
        <p:spPr>
          <a:xfrm>
            <a:off x="4879181" y="2480667"/>
            <a:ext cx="314325" cy="314325"/>
          </a:xfrm>
          <a:prstGeom prst="roundRect">
            <a:avLst>
              <a:gd name="adj" fmla="val 30300000"/>
            </a:avLst>
          </a:prstGeom>
          <a:solidFill>
            <a:srgbClr val="F59E0B">
              <a:alpha val="12000"/>
            </a:srgbClr>
          </a:solidFill>
          <a:ln/>
        </p:spPr>
        <p:txBody>
          <a:bodyPr wrap="square" rtlCol="0" anchor="ctr"/>
          <a:lstStyle/>
          <a:p>
            <a:pPr indent="0" marL="0">
              <a:buNone/>
            </a:pPr>
            <a:endParaRPr lang="en-US" dirty="0"/>
          </a:p>
        </p:txBody>
      </p:sp>
      <p:sp>
        <p:nvSpPr>
          <p:cNvPr id="37" name="Text 35"/>
          <p:cNvSpPr/>
          <p:nvPr/>
        </p:nvSpPr>
        <p:spPr>
          <a:xfrm>
            <a:off x="4932759" y="2534245"/>
            <a:ext cx="207169" cy="207169"/>
          </a:xfrm>
          <a:prstGeom prst="rect">
            <a:avLst/>
          </a:prstGeom>
          <a:noFill/>
          <a:ln/>
        </p:spPr>
        <p:txBody>
          <a:bodyPr wrap="none" lIns="0" tIns="0" rIns="0" bIns="0" rtlCol="0" anchor="ctr"/>
          <a:lstStyle/>
          <a:p>
            <a:pPr algn="ctr" indent="0" marL="0">
              <a:buNone/>
            </a:pPr>
            <a:r>
              <a:rPr lang="en-US" sz="1406" dirty="0">
                <a:solidFill>
                  <a:srgbClr val="FBBF24"/>
                </a:solidFill>
                <a:latin typeface="Segoe UI Symbol" pitchFamily="34" charset="0"/>
                <a:ea typeface="Segoe UI Symbol" pitchFamily="34" charset="-122"/>
                <a:cs typeface="Segoe UI Symbol" pitchFamily="34" charset="-120"/>
              </a:rPr>
              <a:t>⚿</a:t>
            </a:r>
            <a:endParaRPr lang="en-US" sz="1406" dirty="0"/>
          </a:p>
        </p:txBody>
      </p:sp>
      <p:sp>
        <p:nvSpPr>
          <p:cNvPr id="38" name="Text 36"/>
          <p:cNvSpPr/>
          <p:nvPr/>
        </p:nvSpPr>
        <p:spPr>
          <a:xfrm>
            <a:off x="5293519" y="2480667"/>
            <a:ext cx="3214688" cy="166722"/>
          </a:xfrm>
          <a:prstGeom prst="rect">
            <a:avLst/>
          </a:prstGeom>
          <a:noFill/>
          <a:ln/>
        </p:spPr>
        <p:txBody>
          <a:bodyPr wrap="none" lIns="0" tIns="0" rIns="0" bIns="0" rtlCol="0" anchor="t"/>
          <a:lstStyle/>
          <a:p>
            <a:pPr algn="l" indent="0" marL="0">
              <a:lnSpc>
                <a:spcPts val="1215"/>
              </a:lnSpc>
              <a:buNone/>
            </a:pPr>
            <a:r>
              <a:rPr lang="en-US" sz="810" dirty="0">
                <a:solidFill>
                  <a:srgbClr val="FFFFFF"/>
                </a:solidFill>
                <a:latin typeface="Carlito" pitchFamily="34" charset="0"/>
                <a:ea typeface="Carlito" pitchFamily="34" charset="-122"/>
                <a:cs typeface="Carlito" pitchFamily="34" charset="-120"/>
              </a:rPr>
              <a:t>Navigation Intelligence</a:t>
            </a:r>
            <a:endParaRPr lang="en-US" sz="810" dirty="0"/>
          </a:p>
        </p:txBody>
      </p:sp>
      <p:sp>
        <p:nvSpPr>
          <p:cNvPr id="39" name="Text 37"/>
          <p:cNvSpPr/>
          <p:nvPr/>
        </p:nvSpPr>
        <p:spPr>
          <a:xfrm>
            <a:off x="5293519" y="2677902"/>
            <a:ext cx="3214688" cy="340152"/>
          </a:xfrm>
          <a:prstGeom prst="rect">
            <a:avLst/>
          </a:prstGeom>
          <a:noFill/>
          <a:ln/>
        </p:spPr>
        <p:txBody>
          <a:bodyPr wrap="square" lIns="0" tIns="0" rIns="0" bIns="0" rtlCol="0" anchor="t"/>
          <a:lstStyle/>
          <a:p>
            <a:pPr algn="l" indent="0" marL="0">
              <a:lnSpc>
                <a:spcPts val="1088"/>
              </a:lnSpc>
              <a:buNone/>
            </a:pPr>
            <a:r>
              <a:rPr lang="en-US" sz="800" dirty="0">
                <a:solidFill>
                  <a:srgbClr val="8B95AD"/>
                </a:solidFill>
                <a:latin typeface="Carlito" pitchFamily="34" charset="0"/>
                <a:ea typeface="Carlito" pitchFamily="34" charset="-122"/>
                <a:cs typeface="Carlito" pitchFamily="34" charset="-120"/>
              </a:rPr>
              <a:t>Navigation answers what to focus on next — elevated to Core Design Pattern #4. Not just routing, but contextual guidance.</a:t>
            </a:r>
            <a:endParaRPr lang="en-US" sz="800" dirty="0"/>
          </a:p>
        </p:txBody>
      </p:sp>
      <p:sp>
        <p:nvSpPr>
          <p:cNvPr id="40" name="Text 38"/>
          <p:cNvSpPr/>
          <p:nvPr/>
        </p:nvSpPr>
        <p:spPr>
          <a:xfrm>
            <a:off x="457200" y="3608487"/>
            <a:ext cx="4000500" cy="1077813"/>
          </a:xfrm>
          <a:prstGeom prst="roundRect">
            <a:avLst>
              <a:gd name="adj" fmla="val 14140"/>
            </a:avLst>
          </a:prstGeom>
          <a:solidFill>
            <a:srgbClr val="161C2A">
              <a:alpha val="70000"/>
            </a:srgbClr>
          </a:solidFill>
          <a:ln/>
        </p:spPr>
        <p:txBody>
          <a:bodyPr wrap="square" rtlCol="0" anchor="ctr"/>
          <a:lstStyle/>
          <a:p>
            <a:pPr indent="0" marL="0">
              <a:buNone/>
            </a:pPr>
            <a:endParaRPr lang="en-US" dirty="0"/>
          </a:p>
        </p:txBody>
      </p:sp>
      <p:sp>
        <p:nvSpPr>
          <p:cNvPr id="41" name="Shape 39"/>
          <p:cNvSpPr/>
          <p:nvPr/>
        </p:nvSpPr>
        <p:spPr>
          <a:xfrm>
            <a:off x="457200" y="3612059"/>
            <a:ext cx="4000500" cy="0"/>
          </a:xfrm>
          <a:prstGeom prst="line">
            <a:avLst/>
          </a:prstGeom>
          <a:noFill/>
          <a:ln w="7144">
            <a:solidFill>
              <a:srgbClr val="252E42"/>
            </a:solidFill>
            <a:prstDash val="solid"/>
          </a:ln>
        </p:spPr>
      </p:sp>
      <p:sp>
        <p:nvSpPr>
          <p:cNvPr id="42" name="Shape 40"/>
          <p:cNvSpPr/>
          <p:nvPr/>
        </p:nvSpPr>
        <p:spPr>
          <a:xfrm>
            <a:off x="4454128" y="3608487"/>
            <a:ext cx="0" cy="1077813"/>
          </a:xfrm>
          <a:prstGeom prst="line">
            <a:avLst/>
          </a:prstGeom>
          <a:noFill/>
          <a:ln w="7144">
            <a:solidFill>
              <a:srgbClr val="252E42"/>
            </a:solidFill>
            <a:prstDash val="solid"/>
          </a:ln>
        </p:spPr>
      </p:sp>
      <p:sp>
        <p:nvSpPr>
          <p:cNvPr id="43" name="Shape 41"/>
          <p:cNvSpPr/>
          <p:nvPr/>
        </p:nvSpPr>
        <p:spPr>
          <a:xfrm>
            <a:off x="457200" y="4682728"/>
            <a:ext cx="4000500" cy="0"/>
          </a:xfrm>
          <a:prstGeom prst="line">
            <a:avLst/>
          </a:prstGeom>
          <a:noFill/>
          <a:ln w="7144">
            <a:solidFill>
              <a:srgbClr val="252E42"/>
            </a:solidFill>
            <a:prstDash val="solid"/>
          </a:ln>
        </p:spPr>
      </p:sp>
      <p:sp>
        <p:nvSpPr>
          <p:cNvPr id="44" name="Shape 42"/>
          <p:cNvSpPr/>
          <p:nvPr/>
        </p:nvSpPr>
        <p:spPr>
          <a:xfrm>
            <a:off x="467916" y="3608487"/>
            <a:ext cx="0" cy="1077813"/>
          </a:xfrm>
          <a:prstGeom prst="line">
            <a:avLst/>
          </a:prstGeom>
          <a:noFill/>
          <a:ln w="21431">
            <a:solidFill>
              <a:srgbClr val="06B6D4"/>
            </a:solidFill>
            <a:prstDash val="solid"/>
          </a:ln>
        </p:spPr>
      </p:sp>
      <p:sp>
        <p:nvSpPr>
          <p:cNvPr id="45" name="Text 43"/>
          <p:cNvSpPr/>
          <p:nvPr/>
        </p:nvSpPr>
        <p:spPr>
          <a:xfrm>
            <a:off x="650081" y="3787080"/>
            <a:ext cx="314325" cy="314325"/>
          </a:xfrm>
          <a:prstGeom prst="roundRect">
            <a:avLst>
              <a:gd name="adj" fmla="val 30300000"/>
            </a:avLst>
          </a:prstGeom>
          <a:solidFill>
            <a:srgbClr val="06B6D4">
              <a:alpha val="12000"/>
            </a:srgbClr>
          </a:solidFill>
          <a:ln/>
        </p:spPr>
        <p:txBody>
          <a:bodyPr wrap="square" rtlCol="0" anchor="ctr"/>
          <a:lstStyle/>
          <a:p>
            <a:pPr indent="0" marL="0">
              <a:buNone/>
            </a:pPr>
            <a:endParaRPr lang="en-US" dirty="0"/>
          </a:p>
        </p:txBody>
      </p:sp>
      <p:sp>
        <p:nvSpPr>
          <p:cNvPr id="46" name="Text 44"/>
          <p:cNvSpPr/>
          <p:nvPr/>
        </p:nvSpPr>
        <p:spPr>
          <a:xfrm>
            <a:off x="703659" y="3840659"/>
            <a:ext cx="207169" cy="207169"/>
          </a:xfrm>
          <a:prstGeom prst="rect">
            <a:avLst/>
          </a:prstGeom>
          <a:noFill/>
          <a:ln/>
        </p:spPr>
        <p:txBody>
          <a:bodyPr wrap="none" lIns="0" tIns="0" rIns="0" bIns="0" rtlCol="0" anchor="ctr"/>
          <a:lstStyle/>
          <a:p>
            <a:pPr algn="ctr" indent="0" marL="0">
              <a:buNone/>
            </a:pPr>
            <a:r>
              <a:rPr lang="en-US" sz="1406" dirty="0">
                <a:solidFill>
                  <a:srgbClr val="22D3EE"/>
                </a:solidFill>
                <a:latin typeface="Segoe UI Symbol" pitchFamily="34" charset="0"/>
                <a:ea typeface="Segoe UI Symbol" pitchFamily="34" charset="-122"/>
                <a:cs typeface="Segoe UI Symbol" pitchFamily="34" charset="-120"/>
              </a:rPr>
              <a:t>⚿</a:t>
            </a:r>
            <a:endParaRPr lang="en-US" sz="1406" dirty="0"/>
          </a:p>
        </p:txBody>
      </p:sp>
      <p:sp>
        <p:nvSpPr>
          <p:cNvPr id="47" name="Text 45"/>
          <p:cNvSpPr/>
          <p:nvPr/>
        </p:nvSpPr>
        <p:spPr>
          <a:xfrm>
            <a:off x="1064419" y="3787080"/>
            <a:ext cx="3324416" cy="166722"/>
          </a:xfrm>
          <a:prstGeom prst="rect">
            <a:avLst/>
          </a:prstGeom>
          <a:noFill/>
          <a:ln/>
        </p:spPr>
        <p:txBody>
          <a:bodyPr wrap="square" lIns="0" tIns="0" rIns="0" bIns="0" rtlCol="0" anchor="t"/>
          <a:lstStyle/>
          <a:p>
            <a:pPr algn="l" indent="0" marL="0">
              <a:lnSpc>
                <a:spcPts val="1215"/>
              </a:lnSpc>
              <a:buNone/>
            </a:pPr>
            <a:r>
              <a:rPr lang="en-US" sz="810" dirty="0">
                <a:solidFill>
                  <a:srgbClr val="FFFFFF"/>
                </a:solidFill>
                <a:latin typeface="Carlito" pitchFamily="34" charset="0"/>
                <a:ea typeface="Carlito" pitchFamily="34" charset="-122"/>
                <a:cs typeface="Carlito" pitchFamily="34" charset="-120"/>
              </a:rPr>
              <a:t>Enterprise Celebration Style</a:t>
            </a:r>
            <a:endParaRPr lang="en-US" sz="810" dirty="0"/>
          </a:p>
        </p:txBody>
      </p:sp>
      <p:sp>
        <p:nvSpPr>
          <p:cNvPr id="48" name="Text 46"/>
          <p:cNvSpPr/>
          <p:nvPr/>
        </p:nvSpPr>
        <p:spPr>
          <a:xfrm>
            <a:off x="1064419" y="3984315"/>
            <a:ext cx="3214688" cy="340152"/>
          </a:xfrm>
          <a:prstGeom prst="rect">
            <a:avLst/>
          </a:prstGeom>
          <a:noFill/>
          <a:ln/>
        </p:spPr>
        <p:txBody>
          <a:bodyPr wrap="square" lIns="0" tIns="0" rIns="0" bIns="0" rtlCol="0" anchor="t"/>
          <a:lstStyle/>
          <a:p>
            <a:pPr algn="l" indent="0" marL="0">
              <a:lnSpc>
                <a:spcPts val="1088"/>
              </a:lnSpc>
              <a:buNone/>
            </a:pPr>
            <a:r>
              <a:rPr lang="en-US" sz="800" dirty="0">
                <a:solidFill>
                  <a:srgbClr val="8B95AD"/>
                </a:solidFill>
                <a:latin typeface="Carlito" pitchFamily="34" charset="0"/>
                <a:ea typeface="Carlito" pitchFamily="34" charset="-122"/>
                <a:cs typeface="Carlito" pitchFamily="34" charset="-120"/>
              </a:rPr>
              <a:t>Milestone recognition, not confetti. Dignified acknowledgment. </a:t>
            </a:r>
            <a:pPr algn="l" indent="0" marL="0">
              <a:lnSpc>
                <a:spcPts val="1088"/>
              </a:lnSpc>
              <a:buNone/>
            </a:pPr>
            <a:r>
              <a:rPr lang="en-US" sz="800" dirty="0">
                <a:solidFill>
                  <a:srgbClr val="06B6D4"/>
                </a:solidFill>
                <a:latin typeface="Carlito" pitchFamily="34" charset="0"/>
                <a:ea typeface="Carlito" pitchFamily="34" charset="-122"/>
                <a:cs typeface="Carlito" pitchFamily="34" charset="-120"/>
              </a:rPr>
              <a:t>Premium and measured, never flashy.</a:t>
            </a:r>
            <a:endParaRPr lang="en-US" sz="800" dirty="0"/>
          </a:p>
        </p:txBody>
      </p:sp>
      <p:sp>
        <p:nvSpPr>
          <p:cNvPr id="49" name="Text 47"/>
          <p:cNvSpPr/>
          <p:nvPr/>
        </p:nvSpPr>
        <p:spPr>
          <a:xfrm>
            <a:off x="4686300" y="3608487"/>
            <a:ext cx="4000500" cy="1077813"/>
          </a:xfrm>
          <a:prstGeom prst="roundRect">
            <a:avLst>
              <a:gd name="adj" fmla="val 14140"/>
            </a:avLst>
          </a:prstGeom>
          <a:solidFill>
            <a:srgbClr val="161C2A">
              <a:alpha val="70000"/>
            </a:srgbClr>
          </a:solidFill>
          <a:ln/>
        </p:spPr>
        <p:txBody>
          <a:bodyPr wrap="square" rtlCol="0" anchor="ctr"/>
          <a:lstStyle/>
          <a:p>
            <a:pPr indent="0" marL="0">
              <a:buNone/>
            </a:pPr>
            <a:endParaRPr lang="en-US" dirty="0"/>
          </a:p>
        </p:txBody>
      </p:sp>
      <p:sp>
        <p:nvSpPr>
          <p:cNvPr id="50" name="Shape 48"/>
          <p:cNvSpPr/>
          <p:nvPr/>
        </p:nvSpPr>
        <p:spPr>
          <a:xfrm>
            <a:off x="4686300" y="3612059"/>
            <a:ext cx="4000500" cy="0"/>
          </a:xfrm>
          <a:prstGeom prst="line">
            <a:avLst/>
          </a:prstGeom>
          <a:noFill/>
          <a:ln w="7144">
            <a:solidFill>
              <a:srgbClr val="252E42"/>
            </a:solidFill>
            <a:prstDash val="solid"/>
          </a:ln>
        </p:spPr>
      </p:sp>
      <p:sp>
        <p:nvSpPr>
          <p:cNvPr id="51" name="Shape 49"/>
          <p:cNvSpPr/>
          <p:nvPr/>
        </p:nvSpPr>
        <p:spPr>
          <a:xfrm>
            <a:off x="8683228" y="3608487"/>
            <a:ext cx="0" cy="1077813"/>
          </a:xfrm>
          <a:prstGeom prst="line">
            <a:avLst/>
          </a:prstGeom>
          <a:noFill/>
          <a:ln w="7144">
            <a:solidFill>
              <a:srgbClr val="252E42"/>
            </a:solidFill>
            <a:prstDash val="solid"/>
          </a:ln>
        </p:spPr>
      </p:sp>
      <p:sp>
        <p:nvSpPr>
          <p:cNvPr id="52" name="Shape 50"/>
          <p:cNvSpPr/>
          <p:nvPr/>
        </p:nvSpPr>
        <p:spPr>
          <a:xfrm>
            <a:off x="4686300" y="4682728"/>
            <a:ext cx="4000500" cy="0"/>
          </a:xfrm>
          <a:prstGeom prst="line">
            <a:avLst/>
          </a:prstGeom>
          <a:noFill/>
          <a:ln w="7144">
            <a:solidFill>
              <a:srgbClr val="252E42"/>
            </a:solidFill>
            <a:prstDash val="solid"/>
          </a:ln>
        </p:spPr>
      </p:sp>
      <p:sp>
        <p:nvSpPr>
          <p:cNvPr id="53" name="Shape 51"/>
          <p:cNvSpPr/>
          <p:nvPr/>
        </p:nvSpPr>
        <p:spPr>
          <a:xfrm>
            <a:off x="4697016" y="3608487"/>
            <a:ext cx="0" cy="1077813"/>
          </a:xfrm>
          <a:prstGeom prst="line">
            <a:avLst/>
          </a:prstGeom>
          <a:noFill/>
          <a:ln w="21431">
            <a:solidFill>
              <a:srgbClr val="EF4444"/>
            </a:solidFill>
            <a:prstDash val="solid"/>
          </a:ln>
        </p:spPr>
      </p:sp>
      <p:sp>
        <p:nvSpPr>
          <p:cNvPr id="54" name="Text 52"/>
          <p:cNvSpPr/>
          <p:nvPr/>
        </p:nvSpPr>
        <p:spPr>
          <a:xfrm>
            <a:off x="4879181" y="3787080"/>
            <a:ext cx="314325" cy="314325"/>
          </a:xfrm>
          <a:prstGeom prst="roundRect">
            <a:avLst>
              <a:gd name="adj" fmla="val 30300000"/>
            </a:avLst>
          </a:prstGeom>
          <a:solidFill>
            <a:srgbClr val="EF4444">
              <a:alpha val="12000"/>
            </a:srgbClr>
          </a:solidFill>
          <a:ln/>
        </p:spPr>
        <p:txBody>
          <a:bodyPr wrap="square" rtlCol="0" anchor="ctr"/>
          <a:lstStyle/>
          <a:p>
            <a:pPr indent="0" marL="0">
              <a:buNone/>
            </a:pPr>
            <a:endParaRPr lang="en-US" dirty="0"/>
          </a:p>
        </p:txBody>
      </p:sp>
      <p:sp>
        <p:nvSpPr>
          <p:cNvPr id="55" name="Text 53"/>
          <p:cNvSpPr/>
          <p:nvPr/>
        </p:nvSpPr>
        <p:spPr>
          <a:xfrm>
            <a:off x="4932759" y="3840659"/>
            <a:ext cx="207169" cy="207169"/>
          </a:xfrm>
          <a:prstGeom prst="rect">
            <a:avLst/>
          </a:prstGeom>
          <a:noFill/>
          <a:ln/>
        </p:spPr>
        <p:txBody>
          <a:bodyPr wrap="none" lIns="0" tIns="0" rIns="0" bIns="0" rtlCol="0" anchor="ctr"/>
          <a:lstStyle/>
          <a:p>
            <a:pPr algn="ctr" indent="0" marL="0">
              <a:buNone/>
            </a:pPr>
            <a:r>
              <a:rPr lang="en-US" sz="1406" dirty="0">
                <a:solidFill>
                  <a:srgbClr val="F87171"/>
                </a:solidFill>
                <a:latin typeface="Segoe UI Symbol" pitchFamily="34" charset="0"/>
                <a:ea typeface="Segoe UI Symbol" pitchFamily="34" charset="-122"/>
                <a:cs typeface="Segoe UI Symbol" pitchFamily="34" charset="-120"/>
              </a:rPr>
              <a:t>⚿</a:t>
            </a:r>
            <a:endParaRPr lang="en-US" sz="1406" dirty="0"/>
          </a:p>
        </p:txBody>
      </p:sp>
      <p:sp>
        <p:nvSpPr>
          <p:cNvPr id="56" name="Text 54"/>
          <p:cNvSpPr/>
          <p:nvPr/>
        </p:nvSpPr>
        <p:spPr>
          <a:xfrm>
            <a:off x="5293519" y="3787080"/>
            <a:ext cx="3214688" cy="166722"/>
          </a:xfrm>
          <a:prstGeom prst="rect">
            <a:avLst/>
          </a:prstGeom>
          <a:noFill/>
          <a:ln/>
        </p:spPr>
        <p:txBody>
          <a:bodyPr wrap="none" lIns="0" tIns="0" rIns="0" bIns="0" rtlCol="0" anchor="t"/>
          <a:lstStyle/>
          <a:p>
            <a:pPr algn="l" indent="0" marL="0">
              <a:lnSpc>
                <a:spcPts val="1215"/>
              </a:lnSpc>
              <a:buNone/>
            </a:pPr>
            <a:r>
              <a:rPr lang="en-US" sz="810" dirty="0">
                <a:solidFill>
                  <a:srgbClr val="FFFFFF"/>
                </a:solidFill>
                <a:latin typeface="Carlito" pitchFamily="34" charset="0"/>
                <a:ea typeface="Carlito" pitchFamily="34" charset="-122"/>
                <a:cs typeface="Carlito" pitchFamily="34" charset="-120"/>
              </a:rPr>
              <a:t>UI Freeze Exception</a:t>
            </a:r>
            <a:endParaRPr lang="en-US" sz="810" dirty="0"/>
          </a:p>
        </p:txBody>
      </p:sp>
      <p:sp>
        <p:nvSpPr>
          <p:cNvPr id="57" name="Text 55"/>
          <p:cNvSpPr/>
          <p:nvPr/>
        </p:nvSpPr>
        <p:spPr>
          <a:xfrm>
            <a:off x="5293519" y="3984315"/>
            <a:ext cx="3214688" cy="340152"/>
          </a:xfrm>
          <a:prstGeom prst="rect">
            <a:avLst/>
          </a:prstGeom>
          <a:noFill/>
          <a:ln/>
        </p:spPr>
        <p:txBody>
          <a:bodyPr wrap="square" lIns="0" tIns="0" rIns="0" bIns="0" rtlCol="0" anchor="t"/>
          <a:lstStyle/>
          <a:p>
            <a:pPr algn="l" indent="0" marL="0">
              <a:lnSpc>
                <a:spcPts val="1088"/>
              </a:lnSpc>
              <a:buNone/>
            </a:pPr>
            <a:r>
              <a:rPr lang="en-US" sz="800" dirty="0">
                <a:solidFill>
                  <a:srgbClr val="8B95AD"/>
                </a:solidFill>
                <a:latin typeface="Carlito" pitchFamily="34" charset="0"/>
                <a:ea typeface="Carlito" pitchFamily="34" charset="-122"/>
                <a:cs typeface="Carlito" pitchFamily="34" charset="-120"/>
              </a:rPr>
              <a:t>After MS6 approval, UI is frozen. Only safety, accessibility, and critical production bug fixes allowed. </a:t>
            </a:r>
            <a:pPr algn="l" indent="0" marL="0">
              <a:lnSpc>
                <a:spcPts val="1088"/>
              </a:lnSpc>
              <a:buNone/>
            </a:pPr>
            <a:r>
              <a:rPr lang="en-US" sz="800" dirty="0">
                <a:solidFill>
                  <a:srgbClr val="EF4444"/>
                </a:solidFill>
                <a:latin typeface="Carlito" pitchFamily="34" charset="0"/>
                <a:ea typeface="Carlito" pitchFamily="34" charset="-122"/>
                <a:cs typeface="Carlito" pitchFamily="34" charset="-120"/>
              </a:rPr>
              <a:t>No feature-driven UI changes.</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D14"/>
        </a:solidFill>
      </p:bgPr>
    </p:bg>
    <p:spTree>
      <p:nvGrpSpPr>
        <p:cNvPr id="1" name=""/>
        <p:cNvGrpSpPr/>
        <p:nvPr/>
      </p:nvGrpSpPr>
      <p:grpSpPr>
        <a:xfrm>
          <a:off x="0" y="0"/>
          <a:ext cx="0" cy="0"/>
          <a:chOff x="0" y="0"/>
          <a:chExt cx="0" cy="0"/>
        </a:xfrm>
      </p:grpSpPr>
      <p:sp>
        <p:nvSpPr>
          <p:cNvPr id="2" name="Text 0"/>
          <p:cNvSpPr/>
          <p:nvPr/>
        </p:nvSpPr>
        <p:spPr>
          <a:xfrm>
            <a:off x="457200" y="457200"/>
            <a:ext cx="8636000" cy="296193"/>
          </a:xfrm>
          <a:prstGeom prst="rect">
            <a:avLst/>
          </a:prstGeom>
          <a:noFill/>
          <a:ln/>
        </p:spPr>
        <p:txBody>
          <a:bodyPr wrap="square" lIns="0" tIns="0" rIns="0" bIns="0" rtlCol="0" anchor="t"/>
          <a:lstStyle/>
          <a:p>
            <a:pPr algn="l" indent="0" marL="0">
              <a:lnSpc>
                <a:spcPts val="2160"/>
              </a:lnSpc>
              <a:buNone/>
            </a:pPr>
            <a:r>
              <a:rPr lang="en-US" sz="1440" b="1" spc="-29" kern="0" dirty="0">
                <a:solidFill>
                  <a:srgbClr val="FFFFFF"/>
                </a:solidFill>
                <a:latin typeface="Liberation Sans Narrow" pitchFamily="34" charset="0"/>
                <a:ea typeface="Liberation Sans Narrow" pitchFamily="34" charset="-122"/>
                <a:cs typeface="Liberation Sans Narrow" pitchFamily="34" charset="-120"/>
              </a:rPr>
              <a:t>After MS6 Strategy Deck Approval</a:t>
            </a:r>
            <a:endParaRPr lang="en-US" sz="1440" dirty="0"/>
          </a:p>
        </p:txBody>
      </p:sp>
      <p:sp>
        <p:nvSpPr>
          <p:cNvPr id="3" name="Text 1"/>
          <p:cNvSpPr/>
          <p:nvPr/>
        </p:nvSpPr>
        <p:spPr>
          <a:xfrm>
            <a:off x="457200" y="774316"/>
            <a:ext cx="342900" cy="21431"/>
          </a:xfrm>
          <a:prstGeom prst="roundRect">
            <a:avLst>
              <a:gd name="adj" fmla="val 444405184"/>
            </a:avLst>
          </a:prstGeom>
          <a:solidFill>
            <a:srgbClr val="3B82F6"/>
          </a:solidFill>
          <a:ln/>
        </p:spPr>
        <p:txBody>
          <a:bodyPr wrap="square" rtlCol="0" anchor="ctr"/>
          <a:lstStyle/>
          <a:p>
            <a:pPr indent="0" marL="0">
              <a:buNone/>
            </a:pPr>
            <a:endParaRPr lang="en-US" dirty="0"/>
          </a:p>
        </p:txBody>
      </p:sp>
      <p:sp>
        <p:nvSpPr>
          <p:cNvPr id="4" name="Text 2"/>
          <p:cNvSpPr/>
          <p:nvPr/>
        </p:nvSpPr>
        <p:spPr>
          <a:xfrm>
            <a:off x="460772" y="1027919"/>
            <a:ext cx="8222456" cy="1156395"/>
          </a:xfrm>
          <a:prstGeom prst="roundRect">
            <a:avLst>
              <a:gd name="adj" fmla="val 13179"/>
            </a:avLst>
          </a:prstGeom>
          <a:solidFill>
            <a:srgbClr val="3B82F6">
              <a:alpha val="4000"/>
            </a:srgbClr>
          </a:solidFill>
          <a:ln w="7144">
            <a:solidFill>
              <a:srgbClr val="3B82F6"/>
            </a:solidFill>
            <a:prstDash val="solid"/>
          </a:ln>
        </p:spPr>
        <p:txBody>
          <a:bodyPr wrap="square" rtlCol="0" anchor="ctr"/>
          <a:lstStyle/>
          <a:p>
            <a:pPr indent="0" marL="0">
              <a:buNone/>
            </a:pPr>
            <a:endParaRPr lang="en-US" dirty="0"/>
          </a:p>
        </p:txBody>
      </p:sp>
      <p:sp>
        <p:nvSpPr>
          <p:cNvPr id="5" name="Text 3"/>
          <p:cNvSpPr/>
          <p:nvPr/>
        </p:nvSpPr>
        <p:spPr>
          <a:xfrm>
            <a:off x="639366" y="1206512"/>
            <a:ext cx="278606" cy="278606"/>
          </a:xfrm>
          <a:prstGeom prst="roundRect">
            <a:avLst>
              <a:gd name="adj" fmla="val 34184646"/>
            </a:avLst>
          </a:prstGeom>
          <a:solidFill>
            <a:srgbClr val="3B82F6">
              <a:alpha val="15000"/>
            </a:srgbClr>
          </a:solidFill>
          <a:ln w="7144">
            <a:solidFill>
              <a:srgbClr val="3B82F6"/>
            </a:solidFill>
            <a:prstDash val="solid"/>
          </a:ln>
        </p:spPr>
        <p:txBody>
          <a:bodyPr wrap="square" rtlCol="0" anchor="ctr"/>
          <a:lstStyle/>
          <a:p>
            <a:pPr indent="0" marL="0">
              <a:buNone/>
            </a:pPr>
            <a:endParaRPr lang="en-US" dirty="0"/>
          </a:p>
        </p:txBody>
      </p:sp>
      <p:sp>
        <p:nvSpPr>
          <p:cNvPr id="6" name="Text 4"/>
          <p:cNvSpPr/>
          <p:nvPr/>
        </p:nvSpPr>
        <p:spPr>
          <a:xfrm>
            <a:off x="723528" y="1277280"/>
            <a:ext cx="190872" cy="164485"/>
          </a:xfrm>
          <a:prstGeom prst="rect">
            <a:avLst/>
          </a:prstGeom>
          <a:noFill/>
          <a:ln/>
        </p:spPr>
        <p:txBody>
          <a:bodyPr wrap="none" lIns="0" tIns="0" rIns="0" bIns="0" rtlCol="0" anchor="t"/>
          <a:lstStyle/>
          <a:p>
            <a:pPr algn="l" indent="0" marL="0">
              <a:lnSpc>
                <a:spcPts val="1080"/>
              </a:lnSpc>
              <a:buNone/>
            </a:pPr>
            <a:r>
              <a:rPr lang="en-US" sz="800" b="1" dirty="0">
                <a:solidFill>
                  <a:srgbClr val="3B82F6"/>
                </a:solidFill>
                <a:latin typeface="Liberation Sans Narrow" pitchFamily="34" charset="0"/>
                <a:ea typeface="Liberation Sans Narrow" pitchFamily="34" charset="-122"/>
                <a:cs typeface="Liberation Sans Narrow" pitchFamily="34" charset="-120"/>
              </a:rPr>
              <a:t>01</a:t>
            </a:r>
            <a:endParaRPr lang="en-US" sz="800" dirty="0"/>
          </a:p>
        </p:txBody>
      </p:sp>
      <p:sp>
        <p:nvSpPr>
          <p:cNvPr id="7" name="Text 5"/>
          <p:cNvSpPr/>
          <p:nvPr/>
        </p:nvSpPr>
        <p:spPr>
          <a:xfrm>
            <a:off x="1221581" y="1217228"/>
            <a:ext cx="1852771" cy="146590"/>
          </a:xfrm>
          <a:prstGeom prst="rect">
            <a:avLst/>
          </a:prstGeom>
          <a:noFill/>
          <a:ln/>
        </p:spPr>
        <p:txBody>
          <a:bodyPr wrap="none" lIns="0" tIns="0" rIns="0" bIns="0" rtlCol="0" anchor="t"/>
          <a:lstStyle/>
          <a:p>
            <a:pPr algn="l" indent="0" marL="0">
              <a:lnSpc>
                <a:spcPts val="1350"/>
              </a:lnSpc>
              <a:buNone/>
            </a:pPr>
            <a:r>
              <a:rPr lang="en-US" sz="900" dirty="0">
                <a:solidFill>
                  <a:srgbClr val="3B82F6"/>
                </a:solidFill>
                <a:latin typeface="Carlito" pitchFamily="34" charset="0"/>
                <a:ea typeface="Carlito" pitchFamily="34" charset="-122"/>
                <a:cs typeface="Carlito" pitchFamily="34" charset="-120"/>
              </a:rPr>
              <a:t>Supporting Documents</a:t>
            </a:r>
            <a:endParaRPr lang="en-US" sz="900" dirty="0"/>
          </a:p>
        </p:txBody>
      </p:sp>
      <p:sp>
        <p:nvSpPr>
          <p:cNvPr id="8" name="Text 6"/>
          <p:cNvSpPr/>
          <p:nvPr/>
        </p:nvSpPr>
        <p:spPr>
          <a:xfrm>
            <a:off x="1164431" y="1438684"/>
            <a:ext cx="2993231" cy="131885"/>
          </a:xfrm>
          <a:prstGeom prst="rect">
            <a:avLst/>
          </a:prstGeom>
          <a:noFill/>
          <a:ln/>
        </p:spPr>
        <p:txBody>
          <a:bodyPr wrap="square" lIns="0" tIns="0" rIns="0" bIns="0" rtlCol="0" anchor="t"/>
          <a:lstStyle/>
          <a:p>
            <a:pPr algn="l" indent="0" marL="0">
              <a:lnSpc>
                <a:spcPts val="1053"/>
              </a:lnSpc>
              <a:buNone/>
            </a:pPr>
            <a:r>
              <a:rPr lang="en-US" sz="702" dirty="0">
                <a:solidFill>
                  <a:srgbClr val="E8ECF4"/>
                </a:solidFill>
                <a:latin typeface="Carlito" pitchFamily="34" charset="0"/>
                <a:ea typeface="Carlito" pitchFamily="34" charset="-122"/>
                <a:cs typeface="Carlito" pitchFamily="34" charset="-120"/>
              </a:rPr>
              <a:t>UX Philosophy Document — comprehensive design philosophy text</a:t>
            </a:r>
            <a:endParaRPr lang="en-US" sz="702" dirty="0"/>
          </a:p>
        </p:txBody>
      </p:sp>
      <p:sp>
        <p:nvSpPr>
          <p:cNvPr id="9" name="Text 7"/>
          <p:cNvSpPr/>
          <p:nvPr/>
        </p:nvSpPr>
        <p:spPr>
          <a:xfrm>
            <a:off x="4972050" y="1438684"/>
            <a:ext cx="3006068" cy="296466"/>
          </a:xfrm>
          <a:prstGeom prst="rect">
            <a:avLst/>
          </a:prstGeom>
          <a:noFill/>
          <a:ln/>
        </p:spPr>
        <p:txBody>
          <a:bodyPr wrap="square" lIns="0" tIns="0" rIns="0" bIns="0" rtlCol="0" anchor="t"/>
          <a:lstStyle/>
          <a:p>
            <a:pPr algn="l" indent="0" marL="0">
              <a:lnSpc>
                <a:spcPts val="1053"/>
              </a:lnSpc>
              <a:buNone/>
            </a:pPr>
            <a:r>
              <a:rPr lang="en-US" sz="800" dirty="0">
                <a:solidFill>
                  <a:srgbClr val="E8ECF4"/>
                </a:solidFill>
                <a:latin typeface="Carlito" pitchFamily="34" charset="0"/>
                <a:ea typeface="Carlito" pitchFamily="34" charset="-122"/>
                <a:cs typeface="Carlito" pitchFamily="34" charset="-120"/>
              </a:rPr>
              <a:t>Information Architecture Documentation — detailed navigation and progressive disclosure specs</a:t>
            </a:r>
            <a:endParaRPr lang="en-US" sz="800" dirty="0"/>
          </a:p>
        </p:txBody>
      </p:sp>
      <p:sp>
        <p:nvSpPr>
          <p:cNvPr id="10" name="Text 8"/>
          <p:cNvSpPr/>
          <p:nvPr/>
        </p:nvSpPr>
        <p:spPr>
          <a:xfrm>
            <a:off x="1164431" y="1748991"/>
            <a:ext cx="3458468" cy="260300"/>
          </a:xfrm>
          <a:prstGeom prst="rect">
            <a:avLst/>
          </a:prstGeom>
          <a:noFill/>
          <a:ln/>
        </p:spPr>
        <p:txBody>
          <a:bodyPr wrap="square" lIns="0" tIns="0" rIns="0" bIns="0" rtlCol="0" anchor="t"/>
          <a:lstStyle/>
          <a:p>
            <a:pPr algn="l" indent="0" marL="0">
              <a:lnSpc>
                <a:spcPts val="1053"/>
              </a:lnSpc>
              <a:buNone/>
            </a:pPr>
            <a:r>
              <a:rPr lang="en-US" sz="800" dirty="0">
                <a:solidFill>
                  <a:srgbClr val="E8ECF4"/>
                </a:solidFill>
                <a:latin typeface="Carlito" pitchFamily="34" charset="0"/>
                <a:ea typeface="Carlito" pitchFamily="34" charset="-122"/>
                <a:cs typeface="Carlito" pitchFamily="34" charset="-120"/>
              </a:rPr>
              <a:t>Component Specifications — evaluation and redesign details for all 6 existing components</a:t>
            </a:r>
            <a:endParaRPr lang="en-US" sz="800" dirty="0"/>
          </a:p>
        </p:txBody>
      </p:sp>
      <p:sp>
        <p:nvSpPr>
          <p:cNvPr id="11" name="Text 9"/>
          <p:cNvSpPr/>
          <p:nvPr/>
        </p:nvSpPr>
        <p:spPr>
          <a:xfrm>
            <a:off x="4972050" y="1748991"/>
            <a:ext cx="2718867" cy="131885"/>
          </a:xfrm>
          <a:prstGeom prst="rect">
            <a:avLst/>
          </a:prstGeom>
          <a:noFill/>
          <a:ln/>
        </p:spPr>
        <p:txBody>
          <a:bodyPr wrap="square" lIns="0" tIns="0" rIns="0" bIns="0" rtlCol="0" anchor="t"/>
          <a:lstStyle/>
          <a:p>
            <a:pPr algn="l" indent="0" marL="0">
              <a:lnSpc>
                <a:spcPts val="1053"/>
              </a:lnSpc>
              <a:buNone/>
            </a:pPr>
            <a:r>
              <a:rPr lang="en-US" sz="702" dirty="0">
                <a:solidFill>
                  <a:srgbClr val="E8ECF4"/>
                </a:solidFill>
                <a:latin typeface="Carlito" pitchFamily="34" charset="0"/>
                <a:ea typeface="Carlito" pitchFamily="34" charset="-122"/>
                <a:cs typeface="Carlito" pitchFamily="34" charset="-120"/>
              </a:rPr>
              <a:t>Interaction Rules — behavioral patterns and state transitions</a:t>
            </a:r>
            <a:endParaRPr lang="en-US" sz="702" dirty="0"/>
          </a:p>
        </p:txBody>
      </p:sp>
      <p:sp>
        <p:nvSpPr>
          <p:cNvPr id="12" name="Text 10"/>
          <p:cNvSpPr/>
          <p:nvPr/>
        </p:nvSpPr>
        <p:spPr>
          <a:xfrm>
            <a:off x="460772" y="2305757"/>
            <a:ext cx="8222456" cy="888950"/>
          </a:xfrm>
          <a:prstGeom prst="roundRect">
            <a:avLst>
              <a:gd name="adj" fmla="val 17144"/>
            </a:avLst>
          </a:prstGeom>
          <a:solidFill>
            <a:srgbClr val="8B5CF6">
              <a:alpha val="4000"/>
            </a:srgbClr>
          </a:solidFill>
          <a:ln w="7144">
            <a:solidFill>
              <a:srgbClr val="8B5CF6"/>
            </a:solidFill>
            <a:prstDash val="solid"/>
          </a:ln>
        </p:spPr>
        <p:txBody>
          <a:bodyPr wrap="square" rtlCol="0" anchor="ctr"/>
          <a:lstStyle/>
          <a:p>
            <a:pPr indent="0" marL="0">
              <a:buNone/>
            </a:pPr>
            <a:endParaRPr lang="en-US" dirty="0"/>
          </a:p>
        </p:txBody>
      </p:sp>
      <p:sp>
        <p:nvSpPr>
          <p:cNvPr id="13" name="Text 11"/>
          <p:cNvSpPr/>
          <p:nvPr/>
        </p:nvSpPr>
        <p:spPr>
          <a:xfrm>
            <a:off x="639366" y="2484351"/>
            <a:ext cx="278606" cy="278606"/>
          </a:xfrm>
          <a:prstGeom prst="roundRect">
            <a:avLst>
              <a:gd name="adj" fmla="val 34184646"/>
            </a:avLst>
          </a:prstGeom>
          <a:solidFill>
            <a:srgbClr val="8B5CF6">
              <a:alpha val="15000"/>
            </a:srgbClr>
          </a:solidFill>
          <a:ln w="7144">
            <a:solidFill>
              <a:srgbClr val="8B5CF6"/>
            </a:solidFill>
            <a:prstDash val="solid"/>
          </a:ln>
        </p:spPr>
        <p:txBody>
          <a:bodyPr wrap="square" rtlCol="0" anchor="ctr"/>
          <a:lstStyle/>
          <a:p>
            <a:pPr indent="0" marL="0">
              <a:buNone/>
            </a:pPr>
            <a:endParaRPr lang="en-US" dirty="0"/>
          </a:p>
        </p:txBody>
      </p:sp>
      <p:sp>
        <p:nvSpPr>
          <p:cNvPr id="14" name="Text 12"/>
          <p:cNvSpPr/>
          <p:nvPr/>
        </p:nvSpPr>
        <p:spPr>
          <a:xfrm>
            <a:off x="723528" y="2555118"/>
            <a:ext cx="190872" cy="164485"/>
          </a:xfrm>
          <a:prstGeom prst="rect">
            <a:avLst/>
          </a:prstGeom>
          <a:noFill/>
          <a:ln/>
        </p:spPr>
        <p:txBody>
          <a:bodyPr wrap="none" lIns="0" tIns="0" rIns="0" bIns="0" rtlCol="0" anchor="t"/>
          <a:lstStyle/>
          <a:p>
            <a:pPr algn="l" indent="0" marL="0">
              <a:lnSpc>
                <a:spcPts val="1080"/>
              </a:lnSpc>
              <a:buNone/>
            </a:pPr>
            <a:r>
              <a:rPr lang="en-US" sz="800" b="1" dirty="0">
                <a:solidFill>
                  <a:srgbClr val="A855F7"/>
                </a:solidFill>
                <a:latin typeface="Liberation Sans Narrow" pitchFamily="34" charset="0"/>
                <a:ea typeface="Liberation Sans Narrow" pitchFamily="34" charset="-122"/>
                <a:cs typeface="Liberation Sans Narrow" pitchFamily="34" charset="-120"/>
              </a:rPr>
              <a:t>02</a:t>
            </a:r>
            <a:endParaRPr lang="en-US" sz="800" dirty="0"/>
          </a:p>
        </p:txBody>
      </p:sp>
      <p:sp>
        <p:nvSpPr>
          <p:cNvPr id="15" name="Text 13"/>
          <p:cNvSpPr/>
          <p:nvPr/>
        </p:nvSpPr>
        <p:spPr>
          <a:xfrm>
            <a:off x="1221581" y="2495066"/>
            <a:ext cx="2157357" cy="146590"/>
          </a:xfrm>
          <a:prstGeom prst="rect">
            <a:avLst/>
          </a:prstGeom>
          <a:noFill/>
          <a:ln/>
        </p:spPr>
        <p:txBody>
          <a:bodyPr wrap="none" lIns="0" tIns="0" rIns="0" bIns="0" rtlCol="0" anchor="t"/>
          <a:lstStyle/>
          <a:p>
            <a:pPr algn="l" indent="0" marL="0">
              <a:lnSpc>
                <a:spcPts val="1350"/>
              </a:lnSpc>
              <a:buNone/>
            </a:pPr>
            <a:r>
              <a:rPr lang="en-US" sz="900" dirty="0">
                <a:solidFill>
                  <a:srgbClr val="A855F7"/>
                </a:solidFill>
                <a:latin typeface="Carlito" pitchFamily="34" charset="0"/>
                <a:ea typeface="Carlito" pitchFamily="34" charset="-122"/>
                <a:cs typeface="Carlito" pitchFamily="34" charset="-120"/>
              </a:rPr>
              <a:t>Design System Foundation</a:t>
            </a:r>
            <a:endParaRPr lang="en-US" sz="900" dirty="0"/>
          </a:p>
        </p:txBody>
      </p:sp>
      <p:sp>
        <p:nvSpPr>
          <p:cNvPr id="16" name="Text 14"/>
          <p:cNvSpPr/>
          <p:nvPr/>
        </p:nvSpPr>
        <p:spPr>
          <a:xfrm>
            <a:off x="1164431" y="2716523"/>
            <a:ext cx="2954387" cy="131885"/>
          </a:xfrm>
          <a:prstGeom prst="rect">
            <a:avLst/>
          </a:prstGeom>
          <a:noFill/>
          <a:ln/>
        </p:spPr>
        <p:txBody>
          <a:bodyPr wrap="square" lIns="0" tIns="0" rIns="0" bIns="0" rtlCol="0" anchor="t"/>
          <a:lstStyle/>
          <a:p>
            <a:pPr algn="l" indent="0" marL="0">
              <a:lnSpc>
                <a:spcPts val="1053"/>
              </a:lnSpc>
              <a:buNone/>
            </a:pPr>
            <a:r>
              <a:rPr lang="en-US" sz="702" dirty="0">
                <a:solidFill>
                  <a:srgbClr val="E8ECF4"/>
                </a:solidFill>
                <a:latin typeface="Carlito" pitchFamily="34" charset="0"/>
                <a:ea typeface="Carlito" pitchFamily="34" charset="-122"/>
                <a:cs typeface="Carlito" pitchFamily="34" charset="-120"/>
              </a:rPr>
              <a:t>Unified design tokens (merge Intelligence OS + Enterprise theme)</a:t>
            </a:r>
            <a:endParaRPr lang="en-US" sz="702" dirty="0"/>
          </a:p>
        </p:txBody>
      </p:sp>
      <p:sp>
        <p:nvSpPr>
          <p:cNvPr id="17" name="Text 15"/>
          <p:cNvSpPr/>
          <p:nvPr/>
        </p:nvSpPr>
        <p:spPr>
          <a:xfrm>
            <a:off x="4390281" y="2716523"/>
            <a:ext cx="2301180" cy="131885"/>
          </a:xfrm>
          <a:prstGeom prst="rect">
            <a:avLst/>
          </a:prstGeom>
          <a:noFill/>
          <a:ln/>
        </p:spPr>
        <p:txBody>
          <a:bodyPr wrap="square" lIns="0" tIns="0" rIns="0" bIns="0" rtlCol="0" anchor="t"/>
          <a:lstStyle/>
          <a:p>
            <a:pPr algn="l" indent="0" marL="0">
              <a:lnSpc>
                <a:spcPts val="1053"/>
              </a:lnSpc>
              <a:buNone/>
            </a:pPr>
            <a:r>
              <a:rPr lang="en-US" sz="702" dirty="0">
                <a:solidFill>
                  <a:srgbClr val="E8ECF4"/>
                </a:solidFill>
                <a:latin typeface="Carlito" pitchFamily="34" charset="0"/>
                <a:ea typeface="Carlito" pitchFamily="34" charset="-122"/>
                <a:cs typeface="Carlito" pitchFamily="34" charset="-120"/>
              </a:rPr>
              <a:t>Component library prototype in Next.js + shadcn/ui</a:t>
            </a:r>
            <a:endParaRPr lang="en-US" sz="702" dirty="0"/>
          </a:p>
        </p:txBody>
      </p:sp>
      <p:sp>
        <p:nvSpPr>
          <p:cNvPr id="18" name="Text 16"/>
          <p:cNvSpPr/>
          <p:nvPr/>
        </p:nvSpPr>
        <p:spPr>
          <a:xfrm>
            <a:off x="1164431" y="2893107"/>
            <a:ext cx="2272864" cy="126578"/>
          </a:xfrm>
          <a:prstGeom prst="rect">
            <a:avLst/>
          </a:prstGeom>
          <a:noFill/>
          <a:ln/>
        </p:spPr>
        <p:txBody>
          <a:bodyPr wrap="square" lIns="0" tIns="0" rIns="0" bIns="0" rtlCol="0" anchor="t"/>
          <a:lstStyle/>
          <a:p>
            <a:pPr algn="l" indent="0" marL="0">
              <a:lnSpc>
                <a:spcPts val="1053"/>
              </a:lnSpc>
              <a:buNone/>
            </a:pPr>
            <a:r>
              <a:rPr lang="en-US" sz="702" dirty="0">
                <a:solidFill>
                  <a:srgbClr val="E8ECF4"/>
                </a:solidFill>
                <a:latin typeface="Carlito" pitchFamily="34" charset="0"/>
                <a:ea typeface="Carlito" pitchFamily="34" charset="-122"/>
                <a:cs typeface="Carlito" pitchFamily="34" charset="-120"/>
              </a:rPr>
              <a:t>Interaction patterns documented and reviewed</a:t>
            </a:r>
            <a:endParaRPr lang="en-US" sz="702" dirty="0"/>
          </a:p>
        </p:txBody>
      </p:sp>
      <p:sp>
        <p:nvSpPr>
          <p:cNvPr id="19" name="Text 17"/>
          <p:cNvSpPr/>
          <p:nvPr/>
        </p:nvSpPr>
        <p:spPr>
          <a:xfrm>
            <a:off x="4390281" y="2893107"/>
            <a:ext cx="1638888" cy="126578"/>
          </a:xfrm>
          <a:prstGeom prst="rect">
            <a:avLst/>
          </a:prstGeom>
          <a:noFill/>
          <a:ln/>
        </p:spPr>
        <p:txBody>
          <a:bodyPr wrap="square" lIns="0" tIns="0" rIns="0" bIns="0" rtlCol="0" anchor="t"/>
          <a:lstStyle/>
          <a:p>
            <a:pPr algn="l" indent="0" marL="0">
              <a:lnSpc>
                <a:spcPts val="1053"/>
              </a:lnSpc>
              <a:buNone/>
            </a:pPr>
            <a:r>
              <a:rPr lang="en-US" sz="702" dirty="0">
                <a:solidFill>
                  <a:srgbClr val="E8ECF4"/>
                </a:solidFill>
                <a:latin typeface="Carlito" pitchFamily="34" charset="0"/>
                <a:ea typeface="Carlito" pitchFamily="34" charset="-122"/>
                <a:cs typeface="Carlito" pitchFamily="34" charset="-120"/>
              </a:rPr>
              <a:t>Emotional copy library initial draft</a:t>
            </a:r>
            <a:endParaRPr lang="en-US" sz="702" dirty="0"/>
          </a:p>
        </p:txBody>
      </p:sp>
      <p:sp>
        <p:nvSpPr>
          <p:cNvPr id="20" name="Text 18"/>
          <p:cNvSpPr/>
          <p:nvPr/>
        </p:nvSpPr>
        <p:spPr>
          <a:xfrm>
            <a:off x="460772" y="3316151"/>
            <a:ext cx="8222456" cy="888950"/>
          </a:xfrm>
          <a:prstGeom prst="roundRect">
            <a:avLst>
              <a:gd name="adj" fmla="val 17144"/>
            </a:avLst>
          </a:prstGeom>
          <a:solidFill>
            <a:srgbClr val="22C55E">
              <a:alpha val="4000"/>
            </a:srgbClr>
          </a:solidFill>
          <a:ln w="7144">
            <a:solidFill>
              <a:srgbClr val="22C55E"/>
            </a:solidFill>
            <a:prstDash val="solid"/>
          </a:ln>
        </p:spPr>
        <p:txBody>
          <a:bodyPr wrap="square" rtlCol="0" anchor="ctr"/>
          <a:lstStyle/>
          <a:p>
            <a:pPr indent="0" marL="0">
              <a:buNone/>
            </a:pPr>
            <a:endParaRPr lang="en-US" dirty="0"/>
          </a:p>
        </p:txBody>
      </p:sp>
      <p:sp>
        <p:nvSpPr>
          <p:cNvPr id="21" name="Text 19"/>
          <p:cNvSpPr/>
          <p:nvPr/>
        </p:nvSpPr>
        <p:spPr>
          <a:xfrm>
            <a:off x="639366" y="3494745"/>
            <a:ext cx="278606" cy="278606"/>
          </a:xfrm>
          <a:prstGeom prst="roundRect">
            <a:avLst>
              <a:gd name="adj" fmla="val 34184646"/>
            </a:avLst>
          </a:prstGeom>
          <a:solidFill>
            <a:srgbClr val="22C55E">
              <a:alpha val="15000"/>
            </a:srgbClr>
          </a:solidFill>
          <a:ln w="7144">
            <a:solidFill>
              <a:srgbClr val="22C55E"/>
            </a:solidFill>
            <a:prstDash val="solid"/>
          </a:ln>
        </p:spPr>
        <p:txBody>
          <a:bodyPr wrap="square" rtlCol="0" anchor="ctr"/>
          <a:lstStyle/>
          <a:p>
            <a:pPr indent="0" marL="0">
              <a:buNone/>
            </a:pPr>
            <a:endParaRPr lang="en-US" dirty="0"/>
          </a:p>
        </p:txBody>
      </p:sp>
      <p:sp>
        <p:nvSpPr>
          <p:cNvPr id="22" name="Text 20"/>
          <p:cNvSpPr/>
          <p:nvPr/>
        </p:nvSpPr>
        <p:spPr>
          <a:xfrm>
            <a:off x="723528" y="3565513"/>
            <a:ext cx="190872" cy="164485"/>
          </a:xfrm>
          <a:prstGeom prst="rect">
            <a:avLst/>
          </a:prstGeom>
          <a:noFill/>
          <a:ln/>
        </p:spPr>
        <p:txBody>
          <a:bodyPr wrap="none" lIns="0" tIns="0" rIns="0" bIns="0" rtlCol="0" anchor="t"/>
          <a:lstStyle/>
          <a:p>
            <a:pPr algn="l" indent="0" marL="0">
              <a:lnSpc>
                <a:spcPts val="1080"/>
              </a:lnSpc>
              <a:buNone/>
            </a:pPr>
            <a:r>
              <a:rPr lang="en-US" sz="800" b="1" dirty="0">
                <a:solidFill>
                  <a:srgbClr val="22C55E"/>
                </a:solidFill>
                <a:latin typeface="Liberation Sans Narrow" pitchFamily="34" charset="0"/>
                <a:ea typeface="Liberation Sans Narrow" pitchFamily="34" charset="-122"/>
                <a:cs typeface="Liberation Sans Narrow" pitchFamily="34" charset="-120"/>
              </a:rPr>
              <a:t>03</a:t>
            </a:r>
            <a:endParaRPr lang="en-US" sz="800" dirty="0"/>
          </a:p>
        </p:txBody>
      </p:sp>
      <p:sp>
        <p:nvSpPr>
          <p:cNvPr id="23" name="Text 21"/>
          <p:cNvSpPr/>
          <p:nvPr/>
        </p:nvSpPr>
        <p:spPr>
          <a:xfrm>
            <a:off x="1221581" y="3505460"/>
            <a:ext cx="1217507" cy="146590"/>
          </a:xfrm>
          <a:prstGeom prst="rect">
            <a:avLst/>
          </a:prstGeom>
          <a:noFill/>
          <a:ln/>
        </p:spPr>
        <p:txBody>
          <a:bodyPr wrap="none" lIns="0" tIns="0" rIns="0" bIns="0" rtlCol="0" anchor="t"/>
          <a:lstStyle/>
          <a:p>
            <a:pPr algn="l" indent="0" marL="0">
              <a:lnSpc>
                <a:spcPts val="1350"/>
              </a:lnSpc>
              <a:buNone/>
            </a:pPr>
            <a:r>
              <a:rPr lang="en-US" sz="900" dirty="0">
                <a:solidFill>
                  <a:srgbClr val="22C55E"/>
                </a:solidFill>
                <a:latin typeface="Liberation Sans Narrow" pitchFamily="34" charset="0"/>
                <a:ea typeface="Liberation Sans Narrow" pitchFamily="34" charset="-122"/>
                <a:cs typeface="Liberation Sans Narrow" pitchFamily="34" charset="-120"/>
              </a:rPr>
              <a:t>MS7 Readiness</a:t>
            </a:r>
            <a:endParaRPr lang="en-US" sz="900" dirty="0"/>
          </a:p>
        </p:txBody>
      </p:sp>
      <p:sp>
        <p:nvSpPr>
          <p:cNvPr id="24" name="Text 22"/>
          <p:cNvSpPr/>
          <p:nvPr/>
        </p:nvSpPr>
        <p:spPr>
          <a:xfrm>
            <a:off x="1164431" y="3726917"/>
            <a:ext cx="1352700" cy="131885"/>
          </a:xfrm>
          <a:prstGeom prst="rect">
            <a:avLst/>
          </a:prstGeom>
          <a:noFill/>
          <a:ln/>
        </p:spPr>
        <p:txBody>
          <a:bodyPr wrap="none" lIns="0" tIns="0" rIns="0" bIns="0" rtlCol="0" anchor="t"/>
          <a:lstStyle/>
          <a:p>
            <a:pPr algn="l" indent="0" marL="0">
              <a:lnSpc>
                <a:spcPts val="1053"/>
              </a:lnSpc>
              <a:buNone/>
            </a:pPr>
            <a:r>
              <a:rPr lang="en-US" sz="702" dirty="0">
                <a:solidFill>
                  <a:srgbClr val="E8ECF4"/>
                </a:solidFill>
                <a:latin typeface="Carlito" pitchFamily="34" charset="0"/>
                <a:ea typeface="Carlito" pitchFamily="34" charset="-122"/>
                <a:cs typeface="Carlito" pitchFamily="34" charset="-120"/>
              </a:rPr>
              <a:t>Intelligence Hub wireframes</a:t>
            </a:r>
            <a:endParaRPr lang="en-US" sz="702" dirty="0"/>
          </a:p>
        </p:txBody>
      </p:sp>
      <p:sp>
        <p:nvSpPr>
          <p:cNvPr id="25" name="Text 23"/>
          <p:cNvSpPr/>
          <p:nvPr/>
        </p:nvSpPr>
        <p:spPr>
          <a:xfrm>
            <a:off x="4166146" y="3726917"/>
            <a:ext cx="1901447" cy="131885"/>
          </a:xfrm>
          <a:prstGeom prst="rect">
            <a:avLst/>
          </a:prstGeom>
          <a:noFill/>
          <a:ln/>
        </p:spPr>
        <p:txBody>
          <a:bodyPr wrap="square" lIns="0" tIns="0" rIns="0" bIns="0" rtlCol="0" anchor="t"/>
          <a:lstStyle/>
          <a:p>
            <a:pPr algn="l" indent="0" marL="0">
              <a:lnSpc>
                <a:spcPts val="1053"/>
              </a:lnSpc>
              <a:buNone/>
            </a:pPr>
            <a:r>
              <a:rPr lang="en-US" sz="702" dirty="0">
                <a:solidFill>
                  <a:srgbClr val="E8ECF4"/>
                </a:solidFill>
                <a:latin typeface="Carlito" pitchFamily="34" charset="0"/>
                <a:ea typeface="Carlito" pitchFamily="34" charset="-122"/>
                <a:cs typeface="Carlito" pitchFamily="34" charset="-120"/>
              </a:rPr>
              <a:t>5-Question Framework layout validated</a:t>
            </a:r>
            <a:endParaRPr lang="en-US" sz="702" dirty="0"/>
          </a:p>
        </p:txBody>
      </p:sp>
      <p:sp>
        <p:nvSpPr>
          <p:cNvPr id="26" name="Text 24"/>
          <p:cNvSpPr/>
          <p:nvPr/>
        </p:nvSpPr>
        <p:spPr>
          <a:xfrm>
            <a:off x="1164431" y="3903501"/>
            <a:ext cx="1501098" cy="126578"/>
          </a:xfrm>
          <a:prstGeom prst="rect">
            <a:avLst/>
          </a:prstGeom>
          <a:noFill/>
          <a:ln/>
        </p:spPr>
        <p:txBody>
          <a:bodyPr wrap="none" lIns="0" tIns="0" rIns="0" bIns="0" rtlCol="0" anchor="t"/>
          <a:lstStyle/>
          <a:p>
            <a:pPr algn="l" indent="0" marL="0">
              <a:lnSpc>
                <a:spcPts val="1053"/>
              </a:lnSpc>
              <a:buNone/>
            </a:pPr>
            <a:r>
              <a:rPr lang="en-US" sz="702" dirty="0">
                <a:solidFill>
                  <a:srgbClr val="E8ECF4"/>
                </a:solidFill>
                <a:latin typeface="Carlito" pitchFamily="34" charset="0"/>
                <a:ea typeface="Carlito" pitchFamily="34" charset="-122"/>
                <a:cs typeface="Carlito" pitchFamily="34" charset="-120"/>
              </a:rPr>
              <a:t>Component architecture freeze</a:t>
            </a:r>
            <a:endParaRPr lang="en-US" sz="702" dirty="0"/>
          </a:p>
        </p:txBody>
      </p:sp>
      <p:sp>
        <p:nvSpPr>
          <p:cNvPr id="27" name="Text 25"/>
          <p:cNvSpPr/>
          <p:nvPr/>
        </p:nvSpPr>
        <p:spPr>
          <a:xfrm>
            <a:off x="4166146" y="3903501"/>
            <a:ext cx="2730252" cy="126578"/>
          </a:xfrm>
          <a:prstGeom prst="rect">
            <a:avLst/>
          </a:prstGeom>
          <a:noFill/>
          <a:ln/>
        </p:spPr>
        <p:txBody>
          <a:bodyPr wrap="square" lIns="0" tIns="0" rIns="0" bIns="0" rtlCol="0" anchor="t"/>
          <a:lstStyle/>
          <a:p>
            <a:pPr algn="l" indent="0" marL="0">
              <a:lnSpc>
                <a:spcPts val="1053"/>
              </a:lnSpc>
              <a:buNone/>
            </a:pPr>
            <a:r>
              <a:rPr lang="en-US" sz="702" dirty="0">
                <a:solidFill>
                  <a:srgbClr val="E8ECF4"/>
                </a:solidFill>
                <a:latin typeface="Carlito" pitchFamily="34" charset="0"/>
                <a:ea typeface="Carlito" pitchFamily="34" charset="-122"/>
                <a:cs typeface="Carlito" pitchFamily="34" charset="-120"/>
              </a:rPr>
              <a:t>MS7 development plan with 5-question gate for every screen</a:t>
            </a:r>
            <a:endParaRPr lang="en-US" sz="702" dirty="0"/>
          </a:p>
        </p:txBody>
      </p:sp>
      <p:sp>
        <p:nvSpPr>
          <p:cNvPr id="28" name="Text 26"/>
          <p:cNvSpPr/>
          <p:nvPr/>
        </p:nvSpPr>
        <p:spPr>
          <a:xfrm>
            <a:off x="460772" y="4326545"/>
            <a:ext cx="8222456" cy="370024"/>
          </a:xfrm>
          <a:prstGeom prst="roundRect">
            <a:avLst>
              <a:gd name="adj" fmla="val 41187"/>
            </a:avLst>
          </a:prstGeom>
          <a:solidFill>
            <a:srgbClr val="161C2A">
              <a:alpha val="70000"/>
            </a:srgbClr>
          </a:solidFill>
          <a:ln w="7144">
            <a:solidFill>
              <a:srgbClr val="3B82F6"/>
            </a:solidFill>
            <a:prstDash val="solid"/>
          </a:ln>
          <a:effectLst>
            <a:outerShdw sx="100000" sy="100000" kx="0" ky="0" algn="bl" rotWithShape="0" blurRad="285750" dist="50800" dir="16200000">
              <a:srgbClr val="3B82F6">
                <a:alpha val="15000"/>
              </a:srgbClr>
            </a:outerShdw>
          </a:effectLst>
        </p:spPr>
        <p:txBody>
          <a:bodyPr wrap="square" rtlCol="0" anchor="ctr"/>
          <a:lstStyle/>
          <a:p>
            <a:pPr indent="0" marL="0">
              <a:buNone/>
            </a:pPr>
            <a:endParaRPr lang="en-US" dirty="0"/>
          </a:p>
        </p:txBody>
      </p:sp>
      <p:sp>
        <p:nvSpPr>
          <p:cNvPr id="29" name="Text 27"/>
          <p:cNvSpPr/>
          <p:nvPr/>
        </p:nvSpPr>
        <p:spPr>
          <a:xfrm>
            <a:off x="635794" y="4430130"/>
            <a:ext cx="7872413" cy="162855"/>
          </a:xfrm>
          <a:prstGeom prst="rect">
            <a:avLst/>
          </a:prstGeom>
          <a:noFill/>
          <a:ln/>
        </p:spPr>
        <p:txBody>
          <a:bodyPr wrap="square" lIns="0" tIns="0" rIns="0" bIns="0" rtlCol="0" anchor="t"/>
          <a:lstStyle/>
          <a:p>
            <a:pPr algn="ctr" indent="0" marL="0">
              <a:lnSpc>
                <a:spcPts val="1283"/>
              </a:lnSpc>
              <a:buNone/>
            </a:pPr>
            <a:r>
              <a:rPr lang="en-US" sz="855" spc="-9" kern="0" dirty="0">
                <a:solidFill>
                  <a:srgbClr val="FFFFFF"/>
                </a:solidFill>
                <a:latin typeface="Carlito" pitchFamily="34" charset="0"/>
                <a:ea typeface="Carlito" pitchFamily="34" charset="-122"/>
                <a:cs typeface="Carlito" pitchFamily="34" charset="-120"/>
              </a:rPr>
              <a:t>MS6 is the foundation. MS7–MS11 are the building. </a:t>
            </a:r>
            <a:pPr algn="ctr" indent="0" marL="0">
              <a:lnSpc>
                <a:spcPts val="1283"/>
              </a:lnSpc>
              <a:buNone/>
            </a:pPr>
            <a:r>
              <a:rPr lang="en-US" sz="855" spc="-9" kern="0" dirty="0">
                <a:solidFill>
                  <a:srgbClr val="3B82F6"/>
                </a:solidFill>
                <a:latin typeface="Carlito" pitchFamily="34" charset="0"/>
                <a:ea typeface="Carlito" pitchFamily="34" charset="-122"/>
                <a:cs typeface="Carlito" pitchFamily="34" charset="-120"/>
              </a:rPr>
              <a:t>A strong foundation determines the height of the building.</a:t>
            </a:r>
            <a:endParaRPr lang="en-US" sz="85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2026-08-06T04:33:52Z</dcterms:created>
  <dcterms:modified xsi:type="dcterms:W3CDTF">2026-08-06T04:33:52Z</dcterms:modified>
</cp:coreProperties>
</file>